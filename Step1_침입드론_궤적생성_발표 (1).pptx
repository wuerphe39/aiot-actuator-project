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71" r:id="rId4"/>
    <p:sldId id="268" r:id="rId5"/>
    <p:sldId id="260" r:id="rId6"/>
    <p:sldId id="259" r:id="rId7"/>
    <p:sldId id="264" r:id="rId8"/>
    <p:sldId id="261" r:id="rId9"/>
    <p:sldId id="269" r:id="rId10"/>
    <p:sldId id="263" r:id="rId11"/>
    <p:sldId id="258" r:id="rId12"/>
    <p:sldId id="266" r:id="rId13"/>
    <p:sldId id="262" r:id="rId14"/>
    <p:sldId id="270" r:id="rId15"/>
    <p:sldId id="267" r:id="rId16"/>
    <p:sldId id="265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slide" Target="slides/slide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jpeg"  /><Relationship Id="rId4" Type="http://schemas.openxmlformats.org/officeDocument/2006/relationships/image" Target="../media/image4.jpeg"  /><Relationship Id="rId5" Type="http://schemas.openxmlformats.org/officeDocument/2006/relationships/image" Target="../media/image5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6.png"  /><Relationship Id="rId4" Type="http://schemas.openxmlformats.org/officeDocument/2006/relationships/image" Target="../media/image7.svg"  /><Relationship Id="rId5" Type="http://schemas.openxmlformats.org/officeDocument/2006/relationships/image" Target="../media/image8.png"  /><Relationship Id="rId6" Type="http://schemas.openxmlformats.org/officeDocument/2006/relationships/image" Target="../media/image9.svg"  /><Relationship Id="rId7" Type="http://schemas.openxmlformats.org/officeDocument/2006/relationships/image" Target="../media/image10.png"  /><Relationship Id="rId8" Type="http://schemas.openxmlformats.org/officeDocument/2006/relationships/image" Target="../media/image11.sv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2.png"  /><Relationship Id="rId4" Type="http://schemas.openxmlformats.org/officeDocument/2006/relationships/image" Target="../media/image13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4.png"  /><Relationship Id="rId4" Type="http://schemas.openxmlformats.org/officeDocument/2006/relationships/image" Target="../media/image15.svg"  /><Relationship Id="rId5" Type="http://schemas.openxmlformats.org/officeDocument/2006/relationships/image" Target="../media/image16.png"  /><Relationship Id="rId6" Type="http://schemas.openxmlformats.org/officeDocument/2006/relationships/image" Target="../media/image17.sv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6.png"  /><Relationship Id="rId4" Type="http://schemas.openxmlformats.org/officeDocument/2006/relationships/image" Target="../media/image17.sv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6.png"  /><Relationship Id="rId4" Type="http://schemas.openxmlformats.org/officeDocument/2006/relationships/image" Target="../media/image17.sv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8.png"  /><Relationship Id="rId4" Type="http://schemas.openxmlformats.org/officeDocument/2006/relationships/image" Target="../media/image14.png"  /><Relationship Id="rId5" Type="http://schemas.openxmlformats.org/officeDocument/2006/relationships/image" Target="../media/image15.svg"  /><Relationship Id="rId6" Type="http://schemas.openxmlformats.org/officeDocument/2006/relationships/image" Target="../media/image1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jpeg"  /><Relationship Id="rId4" Type="http://schemas.openxmlformats.org/officeDocument/2006/relationships/image" Target="../media/image4.jpeg"  /><Relationship Id="rId5" Type="http://schemas.openxmlformats.org/officeDocument/2006/relationships/image" Target="../media/image5.jpe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Relationship Id="rId8" Type="http://schemas.openxmlformats.org/officeDocument/2006/relationships/image" Target="../media/image22.png"  /><Relationship Id="rId9" Type="http://schemas.openxmlformats.org/officeDocument/2006/relationships/image" Target="../media/image2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2.png"  /><Relationship Id="rId4" Type="http://schemas.openxmlformats.org/officeDocument/2006/relationships/image" Target="../media/image13.sv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24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2.png"  /><Relationship Id="rId4" Type="http://schemas.openxmlformats.org/officeDocument/2006/relationships/image" Target="../media/image13.sv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14.png"  /><Relationship Id="rId4" Type="http://schemas.openxmlformats.org/officeDocument/2006/relationships/image" Target="../media/image15.svg"  /><Relationship Id="rId5" Type="http://schemas.openxmlformats.org/officeDocument/2006/relationships/image" Target="../media/image16.png"  /><Relationship Id="rId6" Type="http://schemas.openxmlformats.org/officeDocument/2006/relationships/image" Target="../media/image17.sv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1645" y="8203294"/>
            <a:ext cx="15484709" cy="892357"/>
            <a:chOff x="0" y="0"/>
            <a:chExt cx="4078277" cy="235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8277" cy="235024"/>
            </a:xfrm>
            <a:custGeom>
              <a:avLst/>
              <a:gdLst/>
              <a:ahLst/>
              <a:cxnLst/>
              <a:rect r="r" b="b" t="t" l="l"/>
              <a:pathLst>
                <a:path h="235024" w="4078277">
                  <a:moveTo>
                    <a:pt x="13499" y="0"/>
                  </a:moveTo>
                  <a:lnTo>
                    <a:pt x="4064778" y="0"/>
                  </a:lnTo>
                  <a:cubicBezTo>
                    <a:pt x="4072234" y="0"/>
                    <a:pt x="4078277" y="6044"/>
                    <a:pt x="4078277" y="13499"/>
                  </a:cubicBezTo>
                  <a:lnTo>
                    <a:pt x="4078277" y="221525"/>
                  </a:lnTo>
                  <a:cubicBezTo>
                    <a:pt x="4078277" y="228980"/>
                    <a:pt x="4072234" y="235024"/>
                    <a:pt x="4064778" y="235024"/>
                  </a:cubicBezTo>
                  <a:lnTo>
                    <a:pt x="13499" y="235024"/>
                  </a:lnTo>
                  <a:cubicBezTo>
                    <a:pt x="9919" y="235024"/>
                    <a:pt x="6485" y="233602"/>
                    <a:pt x="3954" y="231070"/>
                  </a:cubicBezTo>
                  <a:cubicBezTo>
                    <a:pt x="1422" y="228539"/>
                    <a:pt x="0" y="225105"/>
                    <a:pt x="0" y="221525"/>
                  </a:cubicBezTo>
                  <a:lnTo>
                    <a:pt x="0" y="13499"/>
                  </a:lnTo>
                  <a:cubicBezTo>
                    <a:pt x="0" y="6044"/>
                    <a:pt x="6044" y="0"/>
                    <a:pt x="1349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78277" cy="27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51400" y="3223963"/>
            <a:ext cx="8785201" cy="149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16"/>
              </a:lnSpc>
              <a:spcBef>
                <a:spcPct val="0"/>
              </a:spcBef>
            </a:pPr>
            <a:r>
              <a:rPr lang="en-US" sz="8654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86000" y="4580639"/>
            <a:ext cx="13716000" cy="161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60"/>
              </a:lnSpc>
              <a:spcBef>
                <a:spcPct val="0"/>
              </a:spcBef>
            </a:pPr>
            <a:r>
              <a:rPr lang="en-US" b="true" sz="9328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침입 드론 궤적 생성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9117" y="2152860"/>
            <a:ext cx="9469765" cy="4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540" spc="177">
                <a:solidFill>
                  <a:srgbClr val="262626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AIoT 액추에이터 프로젝트 · 자율 추적형 드론 포획 시스템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04320" y="8463774"/>
            <a:ext cx="2011680" cy="3373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just">
              <a:lnSpc>
                <a:spcPts val="2717"/>
              </a:lnSpc>
              <a:defRPr/>
            </a:pPr>
            <a:r>
              <a:rPr lang="ko-KR" alt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유민형</a:t>
            </a:r>
            <a:endParaRPr lang="ko-KR" altLang="en-US" sz="1941" spc="141">
              <a:solidFill>
                <a:srgbClr val="26262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867400" y="8463774"/>
            <a:ext cx="1188720" cy="3373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just">
              <a:lnSpc>
                <a:spcPts val="2717"/>
              </a:lnSpc>
              <a:defRPr/>
            </a:pPr>
            <a:r>
              <a:rPr lang="ko-KR" alt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학번</a:t>
            </a:r>
            <a:endParaRPr lang="ko-KR" altLang="en-US" sz="1941" spc="141">
              <a:solidFill>
                <a:srgbClr val="26262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98380" y="8496300"/>
            <a:ext cx="822960" cy="3373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just">
              <a:lnSpc>
                <a:spcPts val="2717"/>
              </a:lnSpc>
              <a:defRPr/>
            </a:pPr>
            <a:r>
              <a:rPr lang="ko-KR" alt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발표자</a:t>
            </a:r>
            <a:endParaRPr lang="ko-KR" altLang="en-US" sz="1941" spc="141">
              <a:solidFill>
                <a:srgbClr val="26262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315200" y="8463774"/>
            <a:ext cx="1828800" cy="33732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just">
              <a:lnSpc>
                <a:spcPts val="2717"/>
              </a:lnSpc>
              <a:defRPr/>
            </a:pPr>
            <a:r>
              <a:rPr lang="en-US" altLang="ko-KR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2001205</a:t>
            </a:r>
            <a:endParaRPr lang="en-US" altLang="ko-KR" sz="1941" spc="141">
              <a:solidFill>
                <a:srgbClr val="262626"/>
              </a:solidFill>
              <a:latin typeface="프리텐다드"/>
              <a:ea typeface="프리텐다드"/>
              <a:cs typeface="프리텐다드"/>
              <a:sym typeface="프리텐다드"/>
            </a:endParaRPr>
          </a:p>
        </p:txBody>
      </p:sp>
      <p:sp>
        <p:nvSpPr>
          <p:cNvPr name="AutoShape 15" id="15"/>
          <p:cNvSpPr/>
          <p:nvPr/>
        </p:nvSpPr>
        <p:spPr>
          <a:xfrm>
            <a:off x="1401645" y="1038225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4823" y="1695019"/>
            <a:ext cx="7018353" cy="10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3"/>
              </a:lnSpc>
              <a:spcBef>
                <a:spcPct val="0"/>
              </a:spcBef>
            </a:pPr>
            <a:r>
              <a:rPr lang="en-US" b="true" sz="6288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CONTENTS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1645" y="3395474"/>
            <a:ext cx="15484709" cy="5689725"/>
            <a:chOff x="0" y="0"/>
            <a:chExt cx="4078277" cy="1498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78277" cy="1498528"/>
            </a:xfrm>
            <a:custGeom>
              <a:avLst/>
              <a:gdLst/>
              <a:ahLst/>
              <a:cxnLst/>
              <a:rect r="r" b="b" t="t" l="l"/>
              <a:pathLst>
                <a:path h="1498528" w="4078277">
                  <a:moveTo>
                    <a:pt x="21499" y="0"/>
                  </a:moveTo>
                  <a:lnTo>
                    <a:pt x="4056779" y="0"/>
                  </a:lnTo>
                  <a:cubicBezTo>
                    <a:pt x="4068652" y="0"/>
                    <a:pt x="4078277" y="9625"/>
                    <a:pt x="4078277" y="21499"/>
                  </a:cubicBezTo>
                  <a:lnTo>
                    <a:pt x="4078277" y="1477030"/>
                  </a:lnTo>
                  <a:cubicBezTo>
                    <a:pt x="4078277" y="1482731"/>
                    <a:pt x="4076012" y="1488200"/>
                    <a:pt x="4071981" y="1492232"/>
                  </a:cubicBezTo>
                  <a:cubicBezTo>
                    <a:pt x="4067949" y="1496263"/>
                    <a:pt x="4062480" y="1498528"/>
                    <a:pt x="4056779" y="1498528"/>
                  </a:cubicBezTo>
                  <a:lnTo>
                    <a:pt x="21499" y="1498528"/>
                  </a:lnTo>
                  <a:cubicBezTo>
                    <a:pt x="9625" y="1498528"/>
                    <a:pt x="0" y="1488903"/>
                    <a:pt x="0" y="1477030"/>
                  </a:cubicBezTo>
                  <a:lnTo>
                    <a:pt x="0" y="21499"/>
                  </a:lnTo>
                  <a:cubicBezTo>
                    <a:pt x="0" y="15797"/>
                    <a:pt x="2265" y="10329"/>
                    <a:pt x="6297" y="6297"/>
                  </a:cubicBezTo>
                  <a:cubicBezTo>
                    <a:pt x="10329" y="2265"/>
                    <a:pt x="15797" y="0"/>
                    <a:pt x="2149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078277" cy="15366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358384" y="4014215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프로젝트 개요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0832" y="3977639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58384" y="5989320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사용된 논문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70832" y="5952744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8384" y="5001768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  <a:spcBef>
                <a:spcPct val="0"/>
              </a:spcBef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사용된 툴과 수식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70832" y="4965192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3696" y="4507992"/>
            <a:ext cx="3638916" cy="50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  <a:spcBef>
                <a:spcPct val="0"/>
              </a:spcBef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장점과 단점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6144" y="4471416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83696" y="6483096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결론 및 향후 계획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6144" y="6446520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83696" y="5495544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  <a:spcBef>
                <a:spcPct val="0"/>
              </a:spcBef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한계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96144" y="5458968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401645" y="1038225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5358384" y="6976872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논문 선정 이유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0832" y="6940296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58384" y="7964424"/>
            <a:ext cx="3638916" cy="5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실행 결과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70832" y="7927848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83696" y="7470648"/>
            <a:ext cx="3638916" cy="50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1"/>
              </a:lnSpc>
              <a:spcBef>
                <a:spcPct val="0"/>
              </a:spcBef>
            </a:pPr>
            <a:r>
              <a:rPr lang="en-US" b="true" sz="2986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참고문헌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96144" y="7434072"/>
            <a:ext cx="694161" cy="54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</a:pPr>
            <a:r>
              <a:rPr lang="en-US" b="true" sz="3200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낙하산 네트 적용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2926080"/>
            <a:ext cx="1548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262626"/>
                </a:solidFill>
                <a:latin typeface="프리텐다드"/>
                <a:ea typeface="프리텐다드"/>
                <a:cs typeface="프리텐다드"/>
              </a:rPr>
              <a:t>네트로 포획해도 드론은 결국 추락합니다 — 30 m 상공에서 떨어지는 드론 자체가 2차 피해를 만들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99032" y="3749039"/>
            <a:ext cx="676656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22407" y="3749039"/>
            <a:ext cx="6766560" cy="3566160"/>
          </a:xfrm>
          <a:prstGeom prst="roundRect">
            <a:avLst>
              <a:gd name="adj" fmla="val 8000"/>
            </a:avLst>
          </a:prstGeom>
          <a:solidFill>
            <a:schemeClr val="dk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1947672" y="42062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기존 · 네트만 발사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47672" y="480060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약 490 J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47672" y="6080759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30 m 자유낙하 시 최대 충돌 에너지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595959"/>
                </a:solidFill>
                <a:latin typeface="프리텐다드"/>
                <a:ea typeface="프리텐다드"/>
                <a:cs typeface="프리텐다드"/>
              </a:rPr>
              <a:t>드론이 그대로 지면에 충돌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71047" y="420624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9DBAE6"/>
                </a:solidFill>
                <a:latin typeface="프리텐다드 Bold"/>
                <a:ea typeface="프리텐다드 Bold"/>
                <a:cs typeface="프리텐다드 Bold"/>
              </a:rPr>
              <a:t>개선 · 낙하산 달린 네트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71047" y="4800600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</a:rPr>
              <a:t>약 8 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71047" y="6080759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</a:rPr>
              <a:t>종단속도 약 3.2 m/s로 천천히 하강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D9D9D9"/>
                </a:solidFill>
                <a:latin typeface="프리텐다드"/>
                <a:ea typeface="프리텐다드"/>
                <a:cs typeface="프리텐다드"/>
              </a:rPr>
              <a:t>포획 직후 낙하산이 펴지며 감속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5074920"/>
            <a:ext cx="19568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99032" y="7635240"/>
            <a:ext cx="15489936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9032" y="7635240"/>
            <a:ext cx="1548993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0">
                <a:solidFill>
                  <a:srgbClr val="262626"/>
                </a:solidFill>
                <a:latin typeface="프리텐다드"/>
                <a:ea typeface="프리텐다드"/>
                <a:cs typeface="프리텐다드"/>
              </a:rPr>
              <a:t>충돌 에너지 약 98% 감소  →  파이프라인에 </a:t>
            </a:r>
            <a:r>
              <a:rPr sz="21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S7 낙하 평가</a:t>
            </a:r>
            <a:r>
              <a:rPr sz="2100" b="0">
                <a:solidFill>
                  <a:srgbClr val="262626"/>
                </a:solidFill>
                <a:latin typeface="프리텐다드"/>
                <a:ea typeface="프리텐다드"/>
                <a:cs typeface="프리텐다드"/>
              </a:rPr>
              <a:t> 단계 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9032" y="8686800"/>
            <a:ext cx="154899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F7F7F"/>
                </a:solidFill>
                <a:latin typeface="프리텐다드"/>
                <a:ea typeface="프리텐다드"/>
                <a:cs typeface="프리텐다드"/>
              </a:rPr>
              <a:t>가정: 드론 1.35 kg + 네트 0.3 kg, 낙하산 지름 1.5 m, C_d ≈ 1.5, 해면 공기밀도 · 자유낙하 에너지는 공기저항을 무시한 상한값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프로젝트 개요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99032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99032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9DBAE6"/>
                </a:solidFill>
                <a:latin typeface="프리텐다드 Bold"/>
                <a:ea typeface="프리텐다드 Bold"/>
                <a:cs typeface="프리텐다드 Bold"/>
              </a:rPr>
              <a:t>STEP 1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</a:rPr>
              <a:t>궤적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5234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0994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0994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2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표적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7196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2956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2956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3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칼만 추적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9158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4917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4917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4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팬/틸트 PID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5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리드 조준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43082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08842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08842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6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포획 판정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25044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290803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290803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7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낙하 평가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07005" y="3447288"/>
            <a:ext cx="365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5272766" y="3063240"/>
            <a:ext cx="161620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272766" y="3264408"/>
            <a:ext cx="161620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STEP 8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성공률 분석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9032" y="4709160"/>
            <a:ext cx="1548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262626"/>
                </a:solidFill>
                <a:latin typeface="프리텐다드"/>
                <a:ea typeface="프리텐다드"/>
                <a:cs typeface="프리텐다드"/>
              </a:rPr>
              <a:t>지상 고정 팬/틸트 터렛이 침입 드론을 탐지·추적해 낙하산 달린 네트로 포획하는 과정을 MATLAB으로 시뮬레이션합니다.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99032" y="5532120"/>
            <a:ext cx="48585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512" y="5943600"/>
            <a:ext cx="4035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01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10512" y="6446520"/>
            <a:ext cx="4035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정답 궤적 제공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10512" y="7132320"/>
            <a:ext cx="40355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프리텐다드"/>
                <a:ea typeface="프리텐다드"/>
                <a:cs typeface="프리텐다드"/>
              </a:rPr>
              <a:t>이후 분류·추적·조준 단계가 사용할 ground-truth 궤적 데이터를 생성합니다.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14744" y="5532120"/>
            <a:ext cx="48585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26224" y="5943600"/>
            <a:ext cx="4035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26224" y="6446520"/>
            <a:ext cx="4035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물리 기반 시나리오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26224" y="7132320"/>
            <a:ext cx="40355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프리텐다드"/>
                <a:ea typeface="프리텐다드"/>
                <a:cs typeface="프리텐다드"/>
              </a:rPr>
              <a:t>항력·바람·고도 제어를 반영해 현실적인 속도와 경로를 갖는 침입 궤적을 만듭니다.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030456" y="5532120"/>
            <a:ext cx="4858512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441935" y="5943600"/>
            <a:ext cx="4035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994D4"/>
                </a:solidFill>
                <a:latin typeface="프리텐다드 Bold"/>
                <a:ea typeface="프리텐다드 Bold"/>
                <a:cs typeface="프리텐다드 Bold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441935" y="6446520"/>
            <a:ext cx="4035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</a:rPr>
              <a:t>데이터 부재 해결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441935" y="7132320"/>
            <a:ext cx="40355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04040"/>
                </a:solidFill>
                <a:latin typeface="프리텐다드"/>
                <a:ea typeface="프리텐다드"/>
                <a:cs typeface="프리텐다드"/>
              </a:rPr>
              <a:t>실제 침입 드론 비행 데이터는 보안상 공개되지 않아, 논문 기반 시뮬레이션으로 대체합니다.</a:t>
            </a: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사용된 툴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853987" y="3508790"/>
            <a:ext cx="4466309" cy="5447900"/>
            <a:chOff x="0" y="0"/>
            <a:chExt cx="861616" cy="10509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61616" cy="1050979"/>
            </a:xfrm>
            <a:custGeom>
              <a:avLst/>
              <a:gdLst/>
              <a:ahLst/>
              <a:cxnLst/>
              <a:rect r="r" b="b" t="t" l="l"/>
              <a:pathLst>
                <a:path h="1050979" w="861616">
                  <a:moveTo>
                    <a:pt x="46802" y="0"/>
                  </a:moveTo>
                  <a:lnTo>
                    <a:pt x="814814" y="0"/>
                  </a:lnTo>
                  <a:cubicBezTo>
                    <a:pt x="827227" y="0"/>
                    <a:pt x="839131" y="4931"/>
                    <a:pt x="847908" y="13708"/>
                  </a:cubicBezTo>
                  <a:cubicBezTo>
                    <a:pt x="856685" y="22485"/>
                    <a:pt x="861616" y="34389"/>
                    <a:pt x="861616" y="46802"/>
                  </a:cubicBezTo>
                  <a:lnTo>
                    <a:pt x="861616" y="1004177"/>
                  </a:lnTo>
                  <a:cubicBezTo>
                    <a:pt x="861616" y="1030025"/>
                    <a:pt x="840662" y="1050979"/>
                    <a:pt x="814814" y="1050979"/>
                  </a:cubicBezTo>
                  <a:lnTo>
                    <a:pt x="46802" y="1050979"/>
                  </a:lnTo>
                  <a:cubicBezTo>
                    <a:pt x="20954" y="1050979"/>
                    <a:pt x="0" y="1030025"/>
                    <a:pt x="0" y="1004177"/>
                  </a:cubicBezTo>
                  <a:lnTo>
                    <a:pt x="0" y="46802"/>
                  </a:lnTo>
                  <a:cubicBezTo>
                    <a:pt x="0" y="20954"/>
                    <a:pt x="20954" y="0"/>
                    <a:pt x="468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61616" cy="108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10846" y="3508790"/>
            <a:ext cx="4466309" cy="5447900"/>
            <a:chOff x="0" y="0"/>
            <a:chExt cx="861616" cy="10509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1616" cy="1050979"/>
            </a:xfrm>
            <a:custGeom>
              <a:avLst/>
              <a:gdLst/>
              <a:ahLst/>
              <a:cxnLst/>
              <a:rect r="r" b="b" t="t" l="l"/>
              <a:pathLst>
                <a:path h="1050979" w="861616">
                  <a:moveTo>
                    <a:pt x="46802" y="0"/>
                  </a:moveTo>
                  <a:lnTo>
                    <a:pt x="814814" y="0"/>
                  </a:lnTo>
                  <a:cubicBezTo>
                    <a:pt x="827227" y="0"/>
                    <a:pt x="839131" y="4931"/>
                    <a:pt x="847908" y="13708"/>
                  </a:cubicBezTo>
                  <a:cubicBezTo>
                    <a:pt x="856685" y="22485"/>
                    <a:pt x="861616" y="34389"/>
                    <a:pt x="861616" y="46802"/>
                  </a:cubicBezTo>
                  <a:lnTo>
                    <a:pt x="861616" y="1004177"/>
                  </a:lnTo>
                  <a:cubicBezTo>
                    <a:pt x="861616" y="1030025"/>
                    <a:pt x="840662" y="1050979"/>
                    <a:pt x="814814" y="1050979"/>
                  </a:cubicBezTo>
                  <a:lnTo>
                    <a:pt x="46802" y="1050979"/>
                  </a:lnTo>
                  <a:cubicBezTo>
                    <a:pt x="20954" y="1050979"/>
                    <a:pt x="0" y="1030025"/>
                    <a:pt x="0" y="1004177"/>
                  </a:cubicBezTo>
                  <a:lnTo>
                    <a:pt x="0" y="46802"/>
                  </a:lnTo>
                  <a:cubicBezTo>
                    <a:pt x="0" y="20954"/>
                    <a:pt x="20954" y="0"/>
                    <a:pt x="468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1616" cy="108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968995" y="3508790"/>
            <a:ext cx="4466309" cy="5447900"/>
            <a:chOff x="0" y="0"/>
            <a:chExt cx="861616" cy="10509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1616" cy="1050979"/>
            </a:xfrm>
            <a:custGeom>
              <a:avLst/>
              <a:gdLst/>
              <a:ahLst/>
              <a:cxnLst/>
              <a:rect r="r" b="b" t="t" l="l"/>
              <a:pathLst>
                <a:path h="1050979" w="861616">
                  <a:moveTo>
                    <a:pt x="46802" y="0"/>
                  </a:moveTo>
                  <a:lnTo>
                    <a:pt x="814814" y="0"/>
                  </a:lnTo>
                  <a:cubicBezTo>
                    <a:pt x="827227" y="0"/>
                    <a:pt x="839131" y="4931"/>
                    <a:pt x="847908" y="13708"/>
                  </a:cubicBezTo>
                  <a:cubicBezTo>
                    <a:pt x="856685" y="22485"/>
                    <a:pt x="861616" y="34389"/>
                    <a:pt x="861616" y="46802"/>
                  </a:cubicBezTo>
                  <a:lnTo>
                    <a:pt x="861616" y="1004177"/>
                  </a:lnTo>
                  <a:cubicBezTo>
                    <a:pt x="861616" y="1030025"/>
                    <a:pt x="840662" y="1050979"/>
                    <a:pt x="814814" y="1050979"/>
                  </a:cubicBezTo>
                  <a:lnTo>
                    <a:pt x="46802" y="1050979"/>
                  </a:lnTo>
                  <a:cubicBezTo>
                    <a:pt x="20954" y="1050979"/>
                    <a:pt x="0" y="1030025"/>
                    <a:pt x="0" y="1004177"/>
                  </a:cubicBezTo>
                  <a:lnTo>
                    <a:pt x="0" y="46802"/>
                  </a:lnTo>
                  <a:cubicBezTo>
                    <a:pt x="0" y="20954"/>
                    <a:pt x="20954" y="0"/>
                    <a:pt x="4680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61616" cy="1089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166976" y="4044651"/>
            <a:ext cx="1840331" cy="1840331"/>
            <a:chOff x="0" y="0"/>
            <a:chExt cx="2453774" cy="245377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453774" cy="2453774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7306" lIns="57306" bIns="57306" rIns="5730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644747" y="644747"/>
              <a:ext cx="1164280" cy="1164280"/>
            </a:xfrm>
            <a:custGeom>
              <a:avLst/>
              <a:gdLst/>
              <a:ahLst/>
              <a:cxnLst/>
              <a:rect r="r" b="b" t="t" l="l"/>
              <a:pathLst>
                <a:path h="1164280" w="1164280">
                  <a:moveTo>
                    <a:pt x="0" y="0"/>
                  </a:moveTo>
                  <a:lnTo>
                    <a:pt x="1164280" y="0"/>
                  </a:lnTo>
                  <a:lnTo>
                    <a:pt x="1164280" y="1164280"/>
                  </a:lnTo>
                  <a:lnTo>
                    <a:pt x="0" y="1164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191556" y="4044651"/>
            <a:ext cx="1889788" cy="1889788"/>
            <a:chOff x="0" y="0"/>
            <a:chExt cx="2519717" cy="2519717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519717" cy="2519717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7306" lIns="57306" bIns="57306" rIns="5730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633608" y="662074"/>
              <a:ext cx="1252501" cy="1195569"/>
            </a:xfrm>
            <a:custGeom>
              <a:avLst/>
              <a:gdLst/>
              <a:ahLst/>
              <a:cxnLst/>
              <a:rect r="r" b="b" t="t" l="l"/>
              <a:pathLst>
                <a:path h="1195569" w="1252501">
                  <a:moveTo>
                    <a:pt x="0" y="0"/>
                  </a:moveTo>
                  <a:lnTo>
                    <a:pt x="1252501" y="0"/>
                  </a:lnTo>
                  <a:lnTo>
                    <a:pt x="1252501" y="1195569"/>
                  </a:lnTo>
                  <a:lnTo>
                    <a:pt x="0" y="1195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21802" y="4044651"/>
            <a:ext cx="1760695" cy="1760695"/>
            <a:chOff x="0" y="0"/>
            <a:chExt cx="2347593" cy="234759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347593" cy="234759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7306" lIns="57306" bIns="57306" rIns="5730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660391" y="616847"/>
              <a:ext cx="1026812" cy="1113899"/>
            </a:xfrm>
            <a:custGeom>
              <a:avLst/>
              <a:gdLst/>
              <a:ahLst/>
              <a:cxnLst/>
              <a:rect r="r" b="b" t="t" l="l"/>
              <a:pathLst>
                <a:path h="1113899" w="1026812">
                  <a:moveTo>
                    <a:pt x="0" y="0"/>
                  </a:moveTo>
                  <a:lnTo>
                    <a:pt x="1026812" y="0"/>
                  </a:lnTo>
                  <a:lnTo>
                    <a:pt x="1026812" y="1113899"/>
                  </a:lnTo>
                  <a:lnTo>
                    <a:pt x="0" y="11138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130551" y="6328143"/>
            <a:ext cx="3913632" cy="41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b="true" sz="2403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MATLAB ode45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87183" y="6328143"/>
            <a:ext cx="3913632" cy="41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</a:pPr>
            <a:r>
              <a:rPr lang="en-US" sz="2403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모듈 분리 구조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43816" y="6328143"/>
            <a:ext cx="3913632" cy="42508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364"/>
              </a:lnSpc>
              <a:defRPr/>
            </a:pPr>
            <a:r>
              <a:rPr lang="en-US" sz="2403" b="1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interp1 보간</a:t>
            </a:r>
            <a:endParaRPr lang="en-US" sz="2403" b="1">
              <a:solidFill>
                <a:srgbClr val="262626"/>
              </a:solidFill>
              <a:latin typeface="프리텐다드 Semi-Bold"/>
              <a:ea typeface="프리텐다드 Semi-Bold"/>
              <a:cs typeface="프리텐다드 Semi-Bold"/>
              <a:sym typeface="프리텐다드 Semi-Bold"/>
            </a:endParaRPr>
          </a:p>
        </p:txBody>
      </p:sp>
      <p:sp>
        <p:nvSpPr>
          <p:cNvPr name="TextBox 33" id="33"/>
          <p:cNvSpPr txBox="true"/>
          <p:nvPr/>
        </p:nvSpPr>
        <p:spPr>
          <a:xfrm rot="0">
            <a:off x="2267712" y="7366729"/>
            <a:ext cx="3639312" cy="72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Dormand–Prince 4/5차 가변 스텝 적분기로 상태 [p; v] 6차원 3D 운동방정식을 풉니다.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24344" y="7366729"/>
            <a:ext cx="3639312" cy="109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동역학·유도·바람을 별도 함수로 분리해 항력 모델이나 풍 조건을 독립적으로 교체합니다.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80976" y="7366729"/>
            <a:ext cx="3639312" cy="109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ode45의 비균일 시간축을 1 Hz·공통 시간축으로 보간해 α와 궤적 이탈량을 비교합니다.</a:t>
            </a:r>
          </a:p>
        </p:txBody>
      </p:sp>
      <p:sp>
        <p:nvSpPr>
          <p:cNvPr name="AutoShape 36" id="36"/>
          <p:cNvSpPr/>
          <p:nvPr/>
        </p:nvSpPr>
        <p:spPr>
          <a:xfrm>
            <a:off x="2267712" y="7088377"/>
            <a:ext cx="3639312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7324344" y="7088377"/>
            <a:ext cx="3639312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12380976" y="7088377"/>
            <a:ext cx="3639312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사용된 수식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02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99431" y="3312248"/>
            <a:ext cx="6962817" cy="4065124"/>
            <a:chOff x="0" y="0"/>
            <a:chExt cx="1343229" cy="784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5752" y="3312248"/>
            <a:ext cx="6962817" cy="4065124"/>
            <a:chOff x="0" y="0"/>
            <a:chExt cx="1343229" cy="784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99431" y="7655413"/>
            <a:ext cx="14289138" cy="1398636"/>
            <a:chOff x="0" y="0"/>
            <a:chExt cx="16525756" cy="1617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25756" cy="1617558"/>
            </a:xfrm>
            <a:custGeom>
              <a:avLst/>
              <a:gdLst/>
              <a:ahLst/>
              <a:cxnLst/>
              <a:rect r="r" b="b" t="t" l="l"/>
              <a:pathLst>
                <a:path h="1617558" w="16525756">
                  <a:moveTo>
                    <a:pt x="14629" y="0"/>
                  </a:moveTo>
                  <a:lnTo>
                    <a:pt x="16511127" y="0"/>
                  </a:lnTo>
                  <a:cubicBezTo>
                    <a:pt x="16519206" y="0"/>
                    <a:pt x="16525756" y="6550"/>
                    <a:pt x="16525756" y="14629"/>
                  </a:cubicBezTo>
                  <a:lnTo>
                    <a:pt x="16525756" y="1602930"/>
                  </a:lnTo>
                  <a:cubicBezTo>
                    <a:pt x="16525756" y="1611009"/>
                    <a:pt x="16519206" y="1617558"/>
                    <a:pt x="16511127" y="1617558"/>
                  </a:cubicBezTo>
                  <a:lnTo>
                    <a:pt x="14629" y="1617558"/>
                  </a:lnTo>
                  <a:cubicBezTo>
                    <a:pt x="6550" y="1617558"/>
                    <a:pt x="0" y="1611009"/>
                    <a:pt x="0" y="1602930"/>
                  </a:cubicBezTo>
                  <a:lnTo>
                    <a:pt x="0" y="14629"/>
                  </a:lnTo>
                  <a:cubicBezTo>
                    <a:pt x="0" y="6550"/>
                    <a:pt x="6550" y="0"/>
                    <a:pt x="146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525756" cy="1655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10214" y="8186229"/>
            <a:ext cx="303917" cy="337004"/>
          </a:xfrm>
          <a:custGeom>
            <a:avLst/>
            <a:gdLst/>
            <a:ahLst/>
            <a:cxnLst/>
            <a:rect r="r" b="b" t="t" l="l"/>
            <a:pathLst>
              <a:path h="337004" w="303917">
                <a:moveTo>
                  <a:pt x="0" y="0"/>
                </a:moveTo>
                <a:lnTo>
                  <a:pt x="303917" y="0"/>
                </a:lnTo>
                <a:lnTo>
                  <a:pt x="303917" y="337004"/>
                </a:lnTo>
                <a:lnTo>
                  <a:pt x="0" y="337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75013" y="8093787"/>
            <a:ext cx="932350" cy="464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703" spc="494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핵심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8630" y="7945791"/>
            <a:ext cx="10496202" cy="7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0"/>
              </a:lnSpc>
            </a:pPr>
            <a:r>
              <a:rPr lang="en-US" b="true" sz="1800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추력·항력·중력의 합력으로 가속도를 구하고, 바람은 상대속도로, 고도는 PD 피드백으로 반영합니다.</a:t>
            </a:r>
          </a:p>
          <a:p>
            <a:pPr algn="just">
              <a:lnSpc>
                <a:spcPts val="304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고도 PD는 ω_n ≈ 4.47 rad/s, ζ ≈ 0.89로 과도 진동 없이 순항고도 30 m에 수렴합니다.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448166" y="8068447"/>
            <a:ext cx="0" cy="572567"/>
          </a:xfrm>
          <a:prstGeom prst="line">
            <a:avLst/>
          </a:prstGeom>
          <a:ln cap="flat" w="190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426785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m·dv/dt = F_thrust + F_drag − m·g·ẑ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v_rel = v − v_wind(t, z)   (공기 기준 상대속도)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F_drag,h = −½ρ·C_d,h·A·|v_rel,h|·v_rel,h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F_drag,v = −½ρ·C_d,v·A·|v_rel,z|·v_rel,z·ẑ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814588" y="3954136"/>
            <a:ext cx="3332504" cy="607722"/>
            <a:chOff x="0" y="0"/>
            <a:chExt cx="4443338" cy="81029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운동방정식 · 항력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40909" y="3954136"/>
            <a:ext cx="3332504" cy="607722"/>
            <a:chOff x="0" y="0"/>
            <a:chExt cx="4443338" cy="81029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바람 · 고도 · 회피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53106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v_wind(z) = v_ref·(z/z_ref)^0.14, 30 m → ×1.17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F_z = m·(g + K_p·e_z − K_d·ż),  K_p = 20, K_d = 8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F_lat = m·A_e·sin(2π·f·t)·l̂  (회피 기동, 0.3 Hz)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α = arccos( v_i·v_i+1 / |v_i||v_i+1| )  (1 Hz)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사용된 논문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1645" y="3226470"/>
            <a:ext cx="15484709" cy="5992228"/>
            <a:chOff x="0" y="0"/>
            <a:chExt cx="2755267" cy="10662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5267" cy="1066226"/>
            </a:xfrm>
            <a:custGeom>
              <a:avLst/>
              <a:gdLst/>
              <a:ahLst/>
              <a:cxnLst/>
              <a:rect r="r" b="b" t="t" l="l"/>
              <a:pathLst>
                <a:path h="1066226" w="2755267">
                  <a:moveTo>
                    <a:pt x="13499" y="0"/>
                  </a:moveTo>
                  <a:lnTo>
                    <a:pt x="2741768" y="0"/>
                  </a:lnTo>
                  <a:cubicBezTo>
                    <a:pt x="2749224" y="0"/>
                    <a:pt x="2755267" y="6044"/>
                    <a:pt x="2755267" y="13499"/>
                  </a:cubicBezTo>
                  <a:lnTo>
                    <a:pt x="2755267" y="1052726"/>
                  </a:lnTo>
                  <a:cubicBezTo>
                    <a:pt x="2755267" y="1056306"/>
                    <a:pt x="2753845" y="1059740"/>
                    <a:pt x="2751314" y="1062272"/>
                  </a:cubicBezTo>
                  <a:cubicBezTo>
                    <a:pt x="2748782" y="1064803"/>
                    <a:pt x="2745349" y="1066226"/>
                    <a:pt x="2741768" y="1066226"/>
                  </a:cubicBezTo>
                  <a:lnTo>
                    <a:pt x="13499" y="1066226"/>
                  </a:lnTo>
                  <a:cubicBezTo>
                    <a:pt x="6044" y="1066226"/>
                    <a:pt x="0" y="1060182"/>
                    <a:pt x="0" y="1052726"/>
                  </a:cubicBezTo>
                  <a:lnTo>
                    <a:pt x="0" y="13499"/>
                  </a:lnTo>
                  <a:cubicBezTo>
                    <a:pt x="0" y="6044"/>
                    <a:pt x="6044" y="0"/>
                    <a:pt x="1349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55267" cy="1104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66560" y="4065039"/>
            <a:ext cx="877824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풍동·모션캡처 실험으로 쿼드로터 항력 측정 — 8~10 m/s 이하에서 항력은 대기속도에 선형 (IJMAV)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95386" y="4090115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95233" y="4046752"/>
            <a:ext cx="3931920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200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Hattenberger 2023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295386" y="4936245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6766560" y="5344898"/>
            <a:ext cx="877824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일정풍·Dryden 난류·돌풍·윈드시어를 모델링하고 UAV 궤적추종 성능에 미치는 영향 분석 (WVU 석사논문)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295386" y="5369974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95233" y="5326611"/>
            <a:ext cx="3931920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200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Siqueira 2017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295386" y="6216105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6766560" y="6624759"/>
            <a:ext cx="877824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드론과 새를 궤적 특징으로 구별 — 드론의 고도유지(±2 m), 속도 5~20 m/s, 궤적 각도 α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95386" y="6649834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95233" y="6606471"/>
            <a:ext cx="3931920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200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Springer NCA 2026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295386" y="7495964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6766560" y="7904618"/>
            <a:ext cx="877824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1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2차 항력 K_d = ½ρC_dA와 축별 단면적 적용, 강풍이 추력 한계를 넘는 조건 분석 (arXiv)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295386" y="7929693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895233" y="7886330"/>
            <a:ext cx="3931920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200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Cole 외 2019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15812799" y="4148779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7"/>
                </a:lnTo>
                <a:lnTo>
                  <a:pt x="179815" y="298447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5812799" y="5428638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8"/>
                </a:lnTo>
                <a:lnTo>
                  <a:pt x="179815" y="298448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5812799" y="6708497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8"/>
                </a:lnTo>
                <a:lnTo>
                  <a:pt x="179815" y="298448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812799" y="7988357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7"/>
                </a:lnTo>
                <a:lnTo>
                  <a:pt x="179815" y="298447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논문 선정 이유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04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1645" y="3385242"/>
            <a:ext cx="7572843" cy="2476500"/>
            <a:chOff x="0" y="0"/>
            <a:chExt cx="1331095" cy="435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42738" y="387326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항력 모델의 근거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42738" y="461394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임의 계수 대신 실험으로 측정된 쿼드로터 항력 특성을 기반으로 모델의 신뢰도를 확보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642738" y="450104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34964" y="3802334"/>
            <a:ext cx="647990" cy="631957"/>
            <a:chOff x="0" y="0"/>
            <a:chExt cx="863986" cy="84260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01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8292417" y="396631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01645" y="6185592"/>
            <a:ext cx="7572843" cy="2476500"/>
            <a:chOff x="0" y="0"/>
            <a:chExt cx="1331095" cy="435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42738" y="667361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Step 2 분류와 연계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42738" y="741429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드론 고유의 고도유지·궤적 각도 α를 미리 생성해 분류기 입력 특징을 사전 검증</a:t>
            </a:r>
          </a:p>
        </p:txBody>
      </p:sp>
      <p:sp>
        <p:nvSpPr>
          <p:cNvPr name="AutoShape 23" id="23"/>
          <p:cNvSpPr/>
          <p:nvPr/>
        </p:nvSpPr>
        <p:spPr>
          <a:xfrm>
            <a:off x="2642738" y="730139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734964" y="6602684"/>
            <a:ext cx="647990" cy="631957"/>
            <a:chOff x="0" y="0"/>
            <a:chExt cx="863986" cy="84260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03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true" flipV="false" rot="0">
            <a:off x="8292417" y="676666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313512" y="3385242"/>
            <a:ext cx="7572843" cy="2476500"/>
            <a:chOff x="0" y="0"/>
            <a:chExt cx="1331095" cy="435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54604" y="387326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풍 외란 시나리오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54604" y="461394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일정풍 + 돌풍을 분리하는 UAV 풍 모델 구조를 따라 무풍·약풍·강풍 3종 시나리오 설계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0554604" y="450104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646830" y="3802334"/>
            <a:ext cx="647990" cy="631957"/>
            <a:chOff x="0" y="0"/>
            <a:chExt cx="863986" cy="842609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02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true" flipV="false" rot="0">
            <a:off x="16204283" y="396631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313512" y="6185592"/>
            <a:ext cx="7572843" cy="2476500"/>
            <a:chOff x="0" y="0"/>
            <a:chExt cx="1331095" cy="435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554604" y="667361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강풍 거동 해석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54604" y="741429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항력이 추력 한계를 넘으면 드론이 바람에 밀린다는 분석으로 강풍 결과를 해석</a:t>
            </a:r>
          </a:p>
        </p:txBody>
      </p:sp>
      <p:sp>
        <p:nvSpPr>
          <p:cNvPr name="AutoShape 47" id="47"/>
          <p:cNvSpPr/>
          <p:nvPr/>
        </p:nvSpPr>
        <p:spPr>
          <a:xfrm>
            <a:off x="10554604" y="730139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646830" y="6602684"/>
            <a:ext cx="647990" cy="631957"/>
            <a:chOff x="0" y="0"/>
            <a:chExt cx="863986" cy="84260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04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true" flipV="false" rot="0">
            <a:off x="16204283" y="676666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시나리오 설정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1645" y="3385242"/>
            <a:ext cx="7572843" cy="2476500"/>
            <a:chOff x="0" y="0"/>
            <a:chExt cx="1331095" cy="435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42738" y="387326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직선 / 무풍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42738" y="461394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풍속 0 m/s — 수평 추력 5 N으로 X 방향 직선 접근 (대기속도 약 15 m/s)</a:t>
            </a:r>
          </a:p>
        </p:txBody>
      </p:sp>
      <p:sp>
        <p:nvSpPr>
          <p:cNvPr name="AutoShape 11" id="11"/>
          <p:cNvSpPr/>
          <p:nvPr/>
        </p:nvSpPr>
        <p:spPr>
          <a:xfrm>
            <a:off x="2642738" y="450104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734964" y="3802334"/>
            <a:ext cx="647990" cy="631957"/>
            <a:chOff x="0" y="0"/>
            <a:chExt cx="863986" cy="84260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S1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8292417" y="396631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01645" y="6185592"/>
            <a:ext cx="7572843" cy="2476500"/>
            <a:chOff x="0" y="0"/>
            <a:chExt cx="1331095" cy="435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642738" y="667361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회피 / 강풍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42738" y="741429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기저풍 15 m/s + 2 m/s 돌풍, 측풍 2 m/s, 좌우 3 m/s²·상하 1.5 m/s² 회피 (0.3 Hz)</a:t>
            </a:r>
          </a:p>
        </p:txBody>
      </p:sp>
      <p:sp>
        <p:nvSpPr>
          <p:cNvPr name="AutoShape 23" id="23"/>
          <p:cNvSpPr/>
          <p:nvPr/>
        </p:nvSpPr>
        <p:spPr>
          <a:xfrm>
            <a:off x="2642738" y="730139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734964" y="6602684"/>
            <a:ext cx="647990" cy="631957"/>
            <a:chOff x="0" y="0"/>
            <a:chExt cx="863986" cy="84260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S3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true" flipV="false" rot="0">
            <a:off x="8292417" y="676666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313512" y="3385242"/>
            <a:ext cx="7572843" cy="2476500"/>
            <a:chOff x="0" y="0"/>
            <a:chExt cx="1331095" cy="4353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554604" y="387326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직선 / 약풍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54604" y="461394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기저풍 5 m/s + 0.5 m/s 사인 돌풍(X), 고도 보정 ×1.17 적용</a:t>
            </a:r>
          </a:p>
        </p:txBody>
      </p:sp>
      <p:sp>
        <p:nvSpPr>
          <p:cNvPr name="AutoShape 35" id="35"/>
          <p:cNvSpPr/>
          <p:nvPr/>
        </p:nvSpPr>
        <p:spPr>
          <a:xfrm>
            <a:off x="10554604" y="450104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646830" y="3802334"/>
            <a:ext cx="647990" cy="631957"/>
            <a:chOff x="0" y="0"/>
            <a:chExt cx="863986" cy="842609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S2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true" flipV="false" rot="0">
            <a:off x="16204283" y="396631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313512" y="6185592"/>
            <a:ext cx="7572843" cy="2476500"/>
            <a:chOff x="0" y="0"/>
            <a:chExt cx="1331095" cy="435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31095" cy="435300"/>
            </a:xfrm>
            <a:custGeom>
              <a:avLst/>
              <a:gdLst/>
              <a:ahLst/>
              <a:cxnLst/>
              <a:rect r="r" b="b" t="t" l="l"/>
              <a:pathLst>
                <a:path h="435300" w="1331095">
                  <a:moveTo>
                    <a:pt x="27603" y="0"/>
                  </a:moveTo>
                  <a:lnTo>
                    <a:pt x="1303492" y="0"/>
                  </a:lnTo>
                  <a:cubicBezTo>
                    <a:pt x="1318737" y="0"/>
                    <a:pt x="1331095" y="12358"/>
                    <a:pt x="1331095" y="27603"/>
                  </a:cubicBezTo>
                  <a:lnTo>
                    <a:pt x="1331095" y="407697"/>
                  </a:lnTo>
                  <a:cubicBezTo>
                    <a:pt x="1331095" y="422942"/>
                    <a:pt x="1318737" y="435300"/>
                    <a:pt x="1303492" y="435300"/>
                  </a:cubicBezTo>
                  <a:lnTo>
                    <a:pt x="27603" y="435300"/>
                  </a:lnTo>
                  <a:cubicBezTo>
                    <a:pt x="12358" y="435300"/>
                    <a:pt x="0" y="422942"/>
                    <a:pt x="0" y="407697"/>
                  </a:cubicBezTo>
                  <a:lnTo>
                    <a:pt x="0" y="27603"/>
                  </a:lnTo>
                  <a:cubicBezTo>
                    <a:pt x="0" y="12358"/>
                    <a:pt x="12358" y="0"/>
                    <a:pt x="2760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31095" cy="47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554604" y="6673613"/>
            <a:ext cx="5394960" cy="44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공통 설정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554604" y="7414296"/>
            <a:ext cx="5831707" cy="785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질량 1.35 kg, 출발 (0, 0, 30) m, 초기 속도 8 m/s, 순항고도 30 m, 0~30초 ode45</a:t>
            </a:r>
          </a:p>
        </p:txBody>
      </p:sp>
      <p:sp>
        <p:nvSpPr>
          <p:cNvPr name="AutoShape 47" id="47"/>
          <p:cNvSpPr/>
          <p:nvPr/>
        </p:nvSpPr>
        <p:spPr>
          <a:xfrm>
            <a:off x="10554604" y="7301396"/>
            <a:ext cx="583170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646830" y="6602684"/>
            <a:ext cx="647990" cy="631957"/>
            <a:chOff x="0" y="0"/>
            <a:chExt cx="863986" cy="842609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863986" cy="842609"/>
              <a:chOff x="0" y="0"/>
              <a:chExt cx="682823" cy="665929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82823" cy="665929"/>
              </a:xfrm>
              <a:custGeom>
                <a:avLst/>
                <a:gdLst/>
                <a:ahLst/>
                <a:cxnLst/>
                <a:rect r="r" b="b" t="t" l="l"/>
                <a:pathLst>
                  <a:path h="665929" w="682823">
                    <a:moveTo>
                      <a:pt x="183579" y="0"/>
                    </a:moveTo>
                    <a:lnTo>
                      <a:pt x="499244" y="0"/>
                    </a:lnTo>
                    <a:cubicBezTo>
                      <a:pt x="547932" y="0"/>
                      <a:pt x="594626" y="19341"/>
                      <a:pt x="629054" y="53769"/>
                    </a:cubicBezTo>
                    <a:cubicBezTo>
                      <a:pt x="663482" y="88197"/>
                      <a:pt x="682823" y="134891"/>
                      <a:pt x="682823" y="183579"/>
                    </a:cubicBezTo>
                    <a:lnTo>
                      <a:pt x="682823" y="482350"/>
                    </a:lnTo>
                    <a:cubicBezTo>
                      <a:pt x="682823" y="583738"/>
                      <a:pt x="600632" y="665929"/>
                      <a:pt x="499244" y="665929"/>
                    </a:cubicBezTo>
                    <a:lnTo>
                      <a:pt x="183579" y="665929"/>
                    </a:lnTo>
                    <a:cubicBezTo>
                      <a:pt x="82191" y="665929"/>
                      <a:pt x="0" y="583738"/>
                      <a:pt x="0" y="482350"/>
                    </a:cubicBezTo>
                    <a:lnTo>
                      <a:pt x="0" y="183579"/>
                    </a:lnTo>
                    <a:cubicBezTo>
                      <a:pt x="0" y="82191"/>
                      <a:pt x="82191" y="0"/>
                      <a:pt x="18357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682823" cy="7135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102367" y="130133"/>
              <a:ext cx="659253" cy="5251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26"/>
                </a:lnSpc>
              </a:pPr>
              <a:r>
                <a:rPr lang="en-US" b="true" sz="2304" spc="168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+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true" flipV="false" rot="0">
            <a:off x="16204283" y="6766667"/>
            <a:ext cx="182027" cy="302119"/>
          </a:xfrm>
          <a:custGeom>
            <a:avLst/>
            <a:gdLst/>
            <a:ahLst/>
            <a:cxnLst/>
            <a:rect r="r" b="b" t="t" l="l"/>
            <a:pathLst>
              <a:path h="302119" w="182027">
                <a:moveTo>
                  <a:pt x="182027" y="0"/>
                </a:moveTo>
                <a:lnTo>
                  <a:pt x="0" y="0"/>
                </a:lnTo>
                <a:lnTo>
                  <a:pt x="0" y="302120"/>
                </a:lnTo>
                <a:lnTo>
                  <a:pt x="182027" y="302120"/>
                </a:lnTo>
                <a:lnTo>
                  <a:pt x="18202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실행 결과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972390" y="3135753"/>
            <a:ext cx="7913965" cy="2130425"/>
            <a:chOff x="0" y="0"/>
            <a:chExt cx="1410907" cy="3798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0907" cy="379814"/>
            </a:xfrm>
            <a:custGeom>
              <a:avLst/>
              <a:gdLst/>
              <a:ahLst/>
              <a:cxnLst/>
              <a:rect r="r" b="b" t="t" l="l"/>
              <a:pathLst>
                <a:path h="379814" w="1410907">
                  <a:moveTo>
                    <a:pt x="26413" y="0"/>
                  </a:moveTo>
                  <a:lnTo>
                    <a:pt x="1384494" y="0"/>
                  </a:lnTo>
                  <a:cubicBezTo>
                    <a:pt x="1391500" y="0"/>
                    <a:pt x="1398218" y="2783"/>
                    <a:pt x="1403171" y="7736"/>
                  </a:cubicBezTo>
                  <a:cubicBezTo>
                    <a:pt x="1408125" y="12690"/>
                    <a:pt x="1410907" y="19408"/>
                    <a:pt x="1410907" y="26413"/>
                  </a:cubicBezTo>
                  <a:lnTo>
                    <a:pt x="1410907" y="353401"/>
                  </a:lnTo>
                  <a:cubicBezTo>
                    <a:pt x="1410907" y="367988"/>
                    <a:pt x="1399082" y="379814"/>
                    <a:pt x="1384494" y="379814"/>
                  </a:cubicBezTo>
                  <a:lnTo>
                    <a:pt x="26413" y="379814"/>
                  </a:lnTo>
                  <a:cubicBezTo>
                    <a:pt x="11826" y="379814"/>
                    <a:pt x="0" y="367988"/>
                    <a:pt x="0" y="353401"/>
                  </a:cubicBezTo>
                  <a:lnTo>
                    <a:pt x="0" y="26413"/>
                  </a:lnTo>
                  <a:cubicBezTo>
                    <a:pt x="0" y="11826"/>
                    <a:pt x="11826" y="0"/>
                    <a:pt x="2641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10907" cy="41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1147" y="3135753"/>
            <a:ext cx="7312457" cy="4542194"/>
            <a:chOff x="0" y="0"/>
            <a:chExt cx="1303670" cy="8097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3670" cy="809786"/>
            </a:xfrm>
            <a:custGeom>
              <a:avLst/>
              <a:gdLst/>
              <a:ahLst/>
              <a:cxnLst/>
              <a:rect r="r" b="b" t="t" l="l"/>
              <a:pathLst>
                <a:path h="809786" w="1303670">
                  <a:moveTo>
                    <a:pt x="28586" y="0"/>
                  </a:moveTo>
                  <a:lnTo>
                    <a:pt x="1275084" y="0"/>
                  </a:lnTo>
                  <a:cubicBezTo>
                    <a:pt x="1282666" y="0"/>
                    <a:pt x="1289937" y="3012"/>
                    <a:pt x="1295298" y="8373"/>
                  </a:cubicBezTo>
                  <a:cubicBezTo>
                    <a:pt x="1300658" y="13733"/>
                    <a:pt x="1303670" y="21004"/>
                    <a:pt x="1303670" y="28586"/>
                  </a:cubicBezTo>
                  <a:lnTo>
                    <a:pt x="1303670" y="781200"/>
                  </a:lnTo>
                  <a:cubicBezTo>
                    <a:pt x="1303670" y="788781"/>
                    <a:pt x="1300658" y="796052"/>
                    <a:pt x="1295298" y="801413"/>
                  </a:cubicBezTo>
                  <a:cubicBezTo>
                    <a:pt x="1289937" y="806774"/>
                    <a:pt x="1282666" y="809786"/>
                    <a:pt x="1275084" y="809786"/>
                  </a:cubicBezTo>
                  <a:lnTo>
                    <a:pt x="28586" y="809786"/>
                  </a:lnTo>
                  <a:cubicBezTo>
                    <a:pt x="21004" y="809786"/>
                    <a:pt x="13733" y="806774"/>
                    <a:pt x="8373" y="801413"/>
                  </a:cubicBezTo>
                  <a:cubicBezTo>
                    <a:pt x="3012" y="796052"/>
                    <a:pt x="0" y="788781"/>
                    <a:pt x="0" y="781200"/>
                  </a:cubicBezTo>
                  <a:lnTo>
                    <a:pt x="0" y="28586"/>
                  </a:lnTo>
                  <a:cubicBezTo>
                    <a:pt x="0" y="21004"/>
                    <a:pt x="3012" y="13733"/>
                    <a:pt x="8373" y="8373"/>
                  </a:cubicBezTo>
                  <a:cubicBezTo>
                    <a:pt x="13733" y="3012"/>
                    <a:pt x="21004" y="0"/>
                    <a:pt x="2858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03670" cy="847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72390" y="5547522"/>
            <a:ext cx="7913965" cy="2130425"/>
            <a:chOff x="0" y="0"/>
            <a:chExt cx="1410907" cy="37981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0907" cy="379814"/>
            </a:xfrm>
            <a:custGeom>
              <a:avLst/>
              <a:gdLst/>
              <a:ahLst/>
              <a:cxnLst/>
              <a:rect r="r" b="b" t="t" l="l"/>
              <a:pathLst>
                <a:path h="379814" w="1410907">
                  <a:moveTo>
                    <a:pt x="26413" y="0"/>
                  </a:moveTo>
                  <a:lnTo>
                    <a:pt x="1384494" y="0"/>
                  </a:lnTo>
                  <a:cubicBezTo>
                    <a:pt x="1391500" y="0"/>
                    <a:pt x="1398218" y="2783"/>
                    <a:pt x="1403171" y="7736"/>
                  </a:cubicBezTo>
                  <a:cubicBezTo>
                    <a:pt x="1408125" y="12690"/>
                    <a:pt x="1410907" y="19408"/>
                    <a:pt x="1410907" y="26413"/>
                  </a:cubicBezTo>
                  <a:lnTo>
                    <a:pt x="1410907" y="353401"/>
                  </a:lnTo>
                  <a:cubicBezTo>
                    <a:pt x="1410907" y="367988"/>
                    <a:pt x="1399082" y="379814"/>
                    <a:pt x="1384494" y="379814"/>
                  </a:cubicBezTo>
                  <a:lnTo>
                    <a:pt x="26413" y="379814"/>
                  </a:lnTo>
                  <a:cubicBezTo>
                    <a:pt x="11826" y="379814"/>
                    <a:pt x="0" y="367988"/>
                    <a:pt x="0" y="353401"/>
                  </a:cubicBezTo>
                  <a:lnTo>
                    <a:pt x="0" y="26413"/>
                  </a:lnTo>
                  <a:cubicBezTo>
                    <a:pt x="0" y="11826"/>
                    <a:pt x="11826" y="0"/>
                    <a:pt x="2641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10907" cy="417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1147" y="7924471"/>
            <a:ext cx="15465208" cy="909462"/>
            <a:chOff x="0" y="0"/>
            <a:chExt cx="20620277" cy="121261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0620277" cy="1212616"/>
              <a:chOff x="0" y="0"/>
              <a:chExt cx="16529146" cy="9720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6529146" cy="972029"/>
              </a:xfrm>
              <a:custGeom>
                <a:avLst/>
                <a:gdLst/>
                <a:ahLst/>
                <a:cxnLst/>
                <a:rect r="r" b="b" t="t" l="l"/>
                <a:pathLst>
                  <a:path h="972029" w="16529146">
                    <a:moveTo>
                      <a:pt x="14626" y="0"/>
                    </a:moveTo>
                    <a:lnTo>
                      <a:pt x="16514521" y="0"/>
                    </a:lnTo>
                    <a:cubicBezTo>
                      <a:pt x="16518399" y="0"/>
                      <a:pt x="16522120" y="1541"/>
                      <a:pt x="16524863" y="4284"/>
                    </a:cubicBezTo>
                    <a:cubicBezTo>
                      <a:pt x="16527605" y="7027"/>
                      <a:pt x="16529146" y="10747"/>
                      <a:pt x="16529146" y="14626"/>
                    </a:cubicBezTo>
                    <a:lnTo>
                      <a:pt x="16529146" y="957403"/>
                    </a:lnTo>
                    <a:cubicBezTo>
                      <a:pt x="16529146" y="961282"/>
                      <a:pt x="16527605" y="965002"/>
                      <a:pt x="16524863" y="967745"/>
                    </a:cubicBezTo>
                    <a:cubicBezTo>
                      <a:pt x="16522120" y="970488"/>
                      <a:pt x="16518399" y="972029"/>
                      <a:pt x="16514521" y="972029"/>
                    </a:cubicBezTo>
                    <a:lnTo>
                      <a:pt x="14626" y="972029"/>
                    </a:lnTo>
                    <a:cubicBezTo>
                      <a:pt x="10747" y="972029"/>
                      <a:pt x="7027" y="970488"/>
                      <a:pt x="4284" y="967745"/>
                    </a:cubicBezTo>
                    <a:cubicBezTo>
                      <a:pt x="1541" y="965002"/>
                      <a:pt x="0" y="961282"/>
                      <a:pt x="0" y="957403"/>
                    </a:cubicBezTo>
                    <a:lnTo>
                      <a:pt x="0" y="14626"/>
                    </a:lnTo>
                    <a:cubicBezTo>
                      <a:pt x="0" y="10747"/>
                      <a:pt x="1541" y="7027"/>
                      <a:pt x="4284" y="4284"/>
                    </a:cubicBezTo>
                    <a:cubicBezTo>
                      <a:pt x="7027" y="1541"/>
                      <a:pt x="10747" y="0"/>
                      <a:pt x="14626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6529146" cy="10196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7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382441" y="313971"/>
              <a:ext cx="13827259" cy="5560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76"/>
                </a:lnSpc>
              </a:pPr>
              <a:r>
                <a:rPr lang="en-US" b="true" sz="2200" spc="189">
                  <a:solidFill>
                    <a:srgbClr val="FFFFFF"/>
                  </a:solidFill>
                  <a:latin typeface="프리텐다드 Semi-Bold"/>
                  <a:ea typeface="프리텐다드 Semi-Bold"/>
                  <a:cs typeface="프리텐다드 Semi-Bold"/>
                  <a:sym typeface="프리텐다드 Semi-Bold"/>
                </a:rPr>
                <a:t>모든 시나리오에서 고도 30 m ± 0.06 m 유지 — 기준 ±2 m 충족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494284" y="6508574"/>
            <a:ext cx="6870176" cy="76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6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직선 궤적은 Y·Z 변화가 없고, 회피/강풍은 측풍과 회피 기동으로 좌우로 흔들리며 전진 (종료 Y = −1.6 m)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4284" y="4100097"/>
            <a:ext cx="6870176" cy="76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6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직선/무풍 445.1 m · 직선/약풍 602.3 m · 회피/강풍 902.1 m — 바람이 강할수록 멀리 이동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494284" y="3585331"/>
            <a:ext cx="414968" cy="414968"/>
          </a:xfrm>
          <a:custGeom>
            <a:avLst/>
            <a:gdLst/>
            <a:ahLst/>
            <a:cxnLst/>
            <a:rect r="r" b="b" t="t" l="l"/>
            <a:pathLst>
              <a:path h="414968" w="414968">
                <a:moveTo>
                  <a:pt x="0" y="0"/>
                </a:moveTo>
                <a:lnTo>
                  <a:pt x="414968" y="0"/>
                </a:lnTo>
                <a:lnTo>
                  <a:pt x="414968" y="414968"/>
                </a:lnTo>
                <a:lnTo>
                  <a:pt x="0" y="414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92967" y="3541941"/>
            <a:ext cx="3641791" cy="4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30초 후 종료 위치 (X)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494284" y="5993808"/>
            <a:ext cx="414968" cy="414968"/>
          </a:xfrm>
          <a:custGeom>
            <a:avLst/>
            <a:gdLst/>
            <a:ahLst/>
            <a:cxnLst/>
            <a:rect r="r" b="b" t="t" l="l"/>
            <a:pathLst>
              <a:path h="414968" w="414968">
                <a:moveTo>
                  <a:pt x="0" y="0"/>
                </a:moveTo>
                <a:lnTo>
                  <a:pt x="414968" y="0"/>
                </a:lnTo>
                <a:lnTo>
                  <a:pt x="414968" y="414968"/>
                </a:lnTo>
                <a:lnTo>
                  <a:pt x="0" y="414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092967" y="5950418"/>
            <a:ext cx="3641791" cy="44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262626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궤적 형태</a:t>
            </a:r>
          </a:p>
        </p:txBody>
      </p:sp>
      <p:pic>
        <p:nvPicPr>
          <p:cNvPr id="27" name="Picture 26" descr="img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709" y="3351276"/>
            <a:ext cx="61664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실행 결과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05</a:t>
            </a:r>
          </a:p>
        </p:txBody>
      </p:sp>
      <p:pic>
        <p:nvPicPr>
          <p:cNvPr id="27" name="Picture 26" descr="img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2930728"/>
            <a:ext cx="7223760" cy="2459582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00200" y="5532120"/>
            <a:ext cx="72237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고도 — 최대 이탈 ±0.06 m, 기준 ±2 m 이내</a:t>
            </a:r>
          </a:p>
        </p:txBody>
      </p:sp>
      <p:pic>
        <p:nvPicPr>
          <p:cNvPr id="28" name="Picture 27" descr="imgsp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2975742"/>
            <a:ext cx="7223760" cy="2369555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372600" y="5532120"/>
            <a:ext cx="72237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수평 속도 — 최종 약 15 / 21 / 33 m/s</a:t>
            </a:r>
          </a:p>
        </p:txBody>
      </p:sp>
      <p:pic>
        <p:nvPicPr>
          <p:cNvPr id="29" name="Picture 28" descr="imgalph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6236404"/>
            <a:ext cx="7223760" cy="2340471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00200" y="8778240"/>
            <a:ext cx="72237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궤적 각도 α — 평균 직선 0.00° vs 회피 3.34°</a:t>
            </a:r>
          </a:p>
        </p:txBody>
      </p:sp>
      <p:pic>
        <p:nvPicPr>
          <p:cNvPr id="30" name="Picture 29" descr="imgdev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2600" y="6052184"/>
            <a:ext cx="7223760" cy="270891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9372600" y="8778240"/>
            <a:ext cx="722376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3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약풍 궤적 이탈량 — 30초 후 최대 157.3 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장점과 단점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06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99431" y="3312248"/>
            <a:ext cx="6962817" cy="4065124"/>
            <a:chOff x="0" y="0"/>
            <a:chExt cx="1343229" cy="784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5752" y="3312248"/>
            <a:ext cx="6962817" cy="4065124"/>
            <a:chOff x="0" y="0"/>
            <a:chExt cx="1343229" cy="784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99431" y="7655413"/>
            <a:ext cx="14289138" cy="1398636"/>
            <a:chOff x="0" y="0"/>
            <a:chExt cx="16525756" cy="1617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25756" cy="1617558"/>
            </a:xfrm>
            <a:custGeom>
              <a:avLst/>
              <a:gdLst/>
              <a:ahLst/>
              <a:cxnLst/>
              <a:rect r="r" b="b" t="t" l="l"/>
              <a:pathLst>
                <a:path h="1617558" w="16525756">
                  <a:moveTo>
                    <a:pt x="14629" y="0"/>
                  </a:moveTo>
                  <a:lnTo>
                    <a:pt x="16511127" y="0"/>
                  </a:lnTo>
                  <a:cubicBezTo>
                    <a:pt x="16519206" y="0"/>
                    <a:pt x="16525756" y="6550"/>
                    <a:pt x="16525756" y="14629"/>
                  </a:cubicBezTo>
                  <a:lnTo>
                    <a:pt x="16525756" y="1602930"/>
                  </a:lnTo>
                  <a:cubicBezTo>
                    <a:pt x="16525756" y="1611009"/>
                    <a:pt x="16519206" y="1617558"/>
                    <a:pt x="16511127" y="1617558"/>
                  </a:cubicBezTo>
                  <a:lnTo>
                    <a:pt x="14629" y="1617558"/>
                  </a:lnTo>
                  <a:cubicBezTo>
                    <a:pt x="6550" y="1617558"/>
                    <a:pt x="0" y="1611009"/>
                    <a:pt x="0" y="1602930"/>
                  </a:cubicBezTo>
                  <a:lnTo>
                    <a:pt x="0" y="14629"/>
                  </a:lnTo>
                  <a:cubicBezTo>
                    <a:pt x="0" y="6550"/>
                    <a:pt x="6550" y="0"/>
                    <a:pt x="146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525756" cy="1655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10214" y="8186229"/>
            <a:ext cx="303917" cy="337004"/>
          </a:xfrm>
          <a:custGeom>
            <a:avLst/>
            <a:gdLst/>
            <a:ahLst/>
            <a:cxnLst/>
            <a:rect r="r" b="b" t="t" l="l"/>
            <a:pathLst>
              <a:path h="337004" w="303917">
                <a:moveTo>
                  <a:pt x="0" y="0"/>
                </a:moveTo>
                <a:lnTo>
                  <a:pt x="303917" y="0"/>
                </a:lnTo>
                <a:lnTo>
                  <a:pt x="303917" y="337004"/>
                </a:lnTo>
                <a:lnTo>
                  <a:pt x="0" y="337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75013" y="8093787"/>
            <a:ext cx="932350" cy="464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703" spc="494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정리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8630" y="7945791"/>
            <a:ext cx="10496202" cy="7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0"/>
              </a:lnSpc>
            </a:pPr>
            <a:r>
              <a:rPr lang="en-US" b="true" sz="1800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빠르고 재현 가능한 궤적 생성기로는 충분하지만,</a:t>
            </a:r>
          </a:p>
          <a:p>
            <a:pPr algn="just">
              <a:lnSpc>
                <a:spcPts val="304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정량적인 결론을 내리기 전에 파라미터 범위 검증이 필요합니다.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448166" y="8068447"/>
            <a:ext cx="0" cy="572567"/>
          </a:xfrm>
          <a:prstGeom prst="line">
            <a:avLst/>
          </a:prstGeom>
          <a:ln cap="flat" w="190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426785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모듈 분리로 파라미터 교체·확장이 쉬움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결정론적 바람 → 같은 조건을 언제든 재현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수평/수직 항력 분리 + 고도 PD 제어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interp1로 비균일 시간축 비교 오류 해결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814588" y="3954136"/>
            <a:ext cx="3332504" cy="607722"/>
            <a:chOff x="0" y="0"/>
            <a:chExt cx="4443338" cy="81029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장점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40909" y="3954136"/>
            <a:ext cx="3332504" cy="607722"/>
            <a:chOff x="0" y="0"/>
            <a:chExt cx="4443338" cy="81029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단점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53106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자세(roll/pitch) 미반영, 추력 방향 이상화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난류·수직 돌풍 없음 → 외란이 매끄러움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풍향·진입 방향이 X축으로 고정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질량 1.35 kg은 논문 실험 범위(≤1.07 kg) 밖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한계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07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99032" y="3416947"/>
            <a:ext cx="15489936" cy="5646811"/>
            <a:chOff x="0" y="0"/>
            <a:chExt cx="1501979" cy="10067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1979" cy="1006718"/>
            </a:xfrm>
            <a:custGeom>
              <a:avLst/>
              <a:gdLst/>
              <a:ahLst/>
              <a:cxnLst/>
              <a:rect r="r" b="b" t="t" l="l"/>
              <a:pathLst>
                <a:path h="1006718" w="1501979">
                  <a:moveTo>
                    <a:pt x="24811" y="0"/>
                  </a:moveTo>
                  <a:lnTo>
                    <a:pt x="1477168" y="0"/>
                  </a:lnTo>
                  <a:cubicBezTo>
                    <a:pt x="1483748" y="0"/>
                    <a:pt x="1490059" y="2614"/>
                    <a:pt x="1494712" y="7267"/>
                  </a:cubicBezTo>
                  <a:cubicBezTo>
                    <a:pt x="1499365" y="11920"/>
                    <a:pt x="1501979" y="18231"/>
                    <a:pt x="1501979" y="24811"/>
                  </a:cubicBezTo>
                  <a:lnTo>
                    <a:pt x="1501979" y="981906"/>
                  </a:lnTo>
                  <a:cubicBezTo>
                    <a:pt x="1501979" y="988487"/>
                    <a:pt x="1499365" y="994797"/>
                    <a:pt x="1494712" y="999451"/>
                  </a:cubicBezTo>
                  <a:cubicBezTo>
                    <a:pt x="1490059" y="1004104"/>
                    <a:pt x="1483748" y="1006718"/>
                    <a:pt x="1477168" y="1006718"/>
                  </a:cubicBezTo>
                  <a:lnTo>
                    <a:pt x="24811" y="1006718"/>
                  </a:lnTo>
                  <a:cubicBezTo>
                    <a:pt x="18231" y="1006718"/>
                    <a:pt x="11920" y="1004104"/>
                    <a:pt x="7267" y="999451"/>
                  </a:cubicBezTo>
                  <a:cubicBezTo>
                    <a:pt x="2614" y="994797"/>
                    <a:pt x="0" y="988487"/>
                    <a:pt x="0" y="981906"/>
                  </a:cubicBezTo>
                  <a:lnTo>
                    <a:pt x="0" y="24811"/>
                  </a:lnTo>
                  <a:cubicBezTo>
                    <a:pt x="0" y="18231"/>
                    <a:pt x="2614" y="11920"/>
                    <a:pt x="7267" y="7267"/>
                  </a:cubicBezTo>
                  <a:cubicBezTo>
                    <a:pt x="11920" y="2614"/>
                    <a:pt x="18231" y="0"/>
                    <a:pt x="2481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01979" cy="10448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2194560" y="5415831"/>
            <a:ext cx="13898880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2194560" y="7098176"/>
            <a:ext cx="13898880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572000" y="4206240"/>
            <a:ext cx="11521440" cy="76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19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대기속도는 15.4 m/s로 기준 5~20 m/s 이내지만, 순풍 시 대지속도는 21~35 m/s → 분류 특징에 쓸 속도 기준(대기/대지) 정의 필요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000" y="6089904"/>
            <a:ext cx="11521440" cy="76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19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C_d,h·C_d,v·A와 멱함수 지수 0.14는 문헌 일반값 기반의 가정값 → 실측 또는 원문 근거로 보정 필요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72000" y="7772400"/>
            <a:ext cx="11521440" cy="767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19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고도 이탈 0 m는 수직 외란이 없어 생긴 결과이고, 이탈량 157 m는 전부 진행방향(순풍 가속) 차이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94560" y="4024554"/>
            <a:ext cx="1831429" cy="1039281"/>
            <a:chOff x="0" y="0"/>
            <a:chExt cx="2441905" cy="138570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441905" cy="1385708"/>
              <a:chOff x="0" y="0"/>
              <a:chExt cx="1957423" cy="111077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57423" cy="1110779"/>
              </a:xfrm>
              <a:custGeom>
                <a:avLst/>
                <a:gdLst/>
                <a:ahLst/>
                <a:cxnLst/>
                <a:rect r="r" b="b" t="t" l="l"/>
                <a:pathLst>
                  <a:path h="1110779" w="1957423">
                    <a:moveTo>
                      <a:pt x="64039" y="0"/>
                    </a:moveTo>
                    <a:lnTo>
                      <a:pt x="1893384" y="0"/>
                    </a:lnTo>
                    <a:cubicBezTo>
                      <a:pt x="1928752" y="0"/>
                      <a:pt x="1957423" y="28671"/>
                      <a:pt x="1957423" y="64039"/>
                    </a:cubicBezTo>
                    <a:lnTo>
                      <a:pt x="1957423" y="1046740"/>
                    </a:lnTo>
                    <a:cubicBezTo>
                      <a:pt x="1957423" y="1082108"/>
                      <a:pt x="1928752" y="1110779"/>
                      <a:pt x="1893384" y="1110779"/>
                    </a:cubicBezTo>
                    <a:lnTo>
                      <a:pt x="64039" y="1110779"/>
                    </a:lnTo>
                    <a:cubicBezTo>
                      <a:pt x="28671" y="1110779"/>
                      <a:pt x="0" y="1082108"/>
                      <a:pt x="0" y="1046740"/>
                    </a:cubicBezTo>
                    <a:lnTo>
                      <a:pt x="0" y="64039"/>
                    </a:lnTo>
                    <a:cubicBezTo>
                      <a:pt x="0" y="28671"/>
                      <a:pt x="28671" y="0"/>
                      <a:pt x="6403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957423" cy="11584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74100" y="188218"/>
              <a:ext cx="1893705" cy="980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54"/>
                </a:lnSpc>
                <a:spcBef>
                  <a:spcPct val="0"/>
                </a:spcBef>
              </a:pPr>
              <a:r>
                <a:rPr lang="en-US" b="true" sz="2272" spc="165" strike="noStrike" u="non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속도</a:t>
              </a:r>
            </a:p>
            <a:p>
              <a:pPr algn="ctr" marL="0" indent="0" lvl="0">
                <a:lnSpc>
                  <a:spcPts val="2954"/>
                </a:lnSpc>
                <a:spcBef>
                  <a:spcPct val="0"/>
                </a:spcBef>
              </a:pPr>
              <a:r>
                <a:rPr lang="en-US" b="true" sz="2272" spc="165" strike="noStrike" u="non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범위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94560" y="5739252"/>
            <a:ext cx="1831429" cy="1039281"/>
            <a:chOff x="0" y="0"/>
            <a:chExt cx="2441905" cy="138570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441905" cy="1385708"/>
              <a:chOff x="0" y="0"/>
              <a:chExt cx="1957423" cy="1110779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57423" cy="1110779"/>
              </a:xfrm>
              <a:custGeom>
                <a:avLst/>
                <a:gdLst/>
                <a:ahLst/>
                <a:cxnLst/>
                <a:rect r="r" b="b" t="t" l="l"/>
                <a:pathLst>
                  <a:path h="1110779" w="1957423">
                    <a:moveTo>
                      <a:pt x="64039" y="0"/>
                    </a:moveTo>
                    <a:lnTo>
                      <a:pt x="1893384" y="0"/>
                    </a:lnTo>
                    <a:cubicBezTo>
                      <a:pt x="1928752" y="0"/>
                      <a:pt x="1957423" y="28671"/>
                      <a:pt x="1957423" y="64039"/>
                    </a:cubicBezTo>
                    <a:lnTo>
                      <a:pt x="1957423" y="1046740"/>
                    </a:lnTo>
                    <a:cubicBezTo>
                      <a:pt x="1957423" y="1082108"/>
                      <a:pt x="1928752" y="1110779"/>
                      <a:pt x="1893384" y="1110779"/>
                    </a:cubicBezTo>
                    <a:lnTo>
                      <a:pt x="64039" y="1110779"/>
                    </a:lnTo>
                    <a:cubicBezTo>
                      <a:pt x="28671" y="1110779"/>
                      <a:pt x="0" y="1082108"/>
                      <a:pt x="0" y="1046740"/>
                    </a:cubicBezTo>
                    <a:lnTo>
                      <a:pt x="0" y="64039"/>
                    </a:lnTo>
                    <a:cubicBezTo>
                      <a:pt x="0" y="28671"/>
                      <a:pt x="28671" y="0"/>
                      <a:pt x="6403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957423" cy="11584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74100" y="151337"/>
              <a:ext cx="1893705" cy="980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54"/>
                </a:lnSpc>
                <a:spcBef>
                  <a:spcPct val="0"/>
                </a:spcBef>
              </a:pPr>
              <a:r>
                <a:rPr lang="en-US" b="true" sz="2272" spc="165" strike="noStrike" u="non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파라미터</a:t>
              </a:r>
            </a:p>
            <a:p>
              <a:pPr algn="ctr" marL="0" indent="0" lvl="0">
                <a:lnSpc>
                  <a:spcPts val="2954"/>
                </a:lnSpc>
                <a:spcBef>
                  <a:spcPct val="0"/>
                </a:spcBef>
              </a:pPr>
              <a:r>
                <a:rPr lang="en-US" b="true" sz="2272" spc="165" strike="noStrike" u="non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출처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94560" y="7417818"/>
            <a:ext cx="1831429" cy="1039281"/>
            <a:chOff x="0" y="0"/>
            <a:chExt cx="2441905" cy="1385708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441905" cy="1385708"/>
              <a:chOff x="0" y="0"/>
              <a:chExt cx="1957423" cy="111077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957423" cy="1110779"/>
              </a:xfrm>
              <a:custGeom>
                <a:avLst/>
                <a:gdLst/>
                <a:ahLst/>
                <a:cxnLst/>
                <a:rect r="r" b="b" t="t" l="l"/>
                <a:pathLst>
                  <a:path h="1110779" w="1957423">
                    <a:moveTo>
                      <a:pt x="64039" y="0"/>
                    </a:moveTo>
                    <a:lnTo>
                      <a:pt x="1893384" y="0"/>
                    </a:lnTo>
                    <a:cubicBezTo>
                      <a:pt x="1928752" y="0"/>
                      <a:pt x="1957423" y="28671"/>
                      <a:pt x="1957423" y="64039"/>
                    </a:cubicBezTo>
                    <a:lnTo>
                      <a:pt x="1957423" y="1046740"/>
                    </a:lnTo>
                    <a:cubicBezTo>
                      <a:pt x="1957423" y="1082108"/>
                      <a:pt x="1928752" y="1110779"/>
                      <a:pt x="1893384" y="1110779"/>
                    </a:cubicBezTo>
                    <a:lnTo>
                      <a:pt x="64039" y="1110779"/>
                    </a:lnTo>
                    <a:cubicBezTo>
                      <a:pt x="28671" y="1110779"/>
                      <a:pt x="0" y="1082108"/>
                      <a:pt x="0" y="1046740"/>
                    </a:cubicBezTo>
                    <a:lnTo>
                      <a:pt x="0" y="64039"/>
                    </a:lnTo>
                    <a:cubicBezTo>
                      <a:pt x="0" y="28671"/>
                      <a:pt x="28671" y="0"/>
                      <a:pt x="64039" y="0"/>
                    </a:cubicBezTo>
                    <a:close/>
                  </a:path>
                </a:pathLst>
              </a:custGeom>
              <a:solidFill>
                <a:srgbClr val="262626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957423" cy="11584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74100" y="188218"/>
              <a:ext cx="1893705" cy="980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54"/>
                </a:lnSpc>
              </a:pPr>
              <a:r>
                <a:rPr lang="en-US" b="true" sz="2272" spc="165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검증</a:t>
              </a:r>
            </a:p>
            <a:p>
              <a:pPr algn="ctr">
                <a:lnSpc>
                  <a:spcPts val="2954"/>
                </a:lnSpc>
              </a:pPr>
              <a:r>
                <a:rPr lang="en-US" b="true" sz="2272" spc="165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지표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결론 및 향후 계획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08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999431" y="3312248"/>
            <a:ext cx="6962817" cy="4065124"/>
            <a:chOff x="0" y="0"/>
            <a:chExt cx="1343229" cy="7842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25752" y="3312248"/>
            <a:ext cx="6962817" cy="4065124"/>
            <a:chOff x="0" y="0"/>
            <a:chExt cx="1343229" cy="784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3229" cy="784222"/>
            </a:xfrm>
            <a:custGeom>
              <a:avLst/>
              <a:gdLst/>
              <a:ahLst/>
              <a:cxnLst/>
              <a:rect r="r" b="b" t="t" l="l"/>
              <a:pathLst>
                <a:path h="784222" w="1343229">
                  <a:moveTo>
                    <a:pt x="30021" y="0"/>
                  </a:moveTo>
                  <a:lnTo>
                    <a:pt x="1313208" y="0"/>
                  </a:lnTo>
                  <a:cubicBezTo>
                    <a:pt x="1321170" y="0"/>
                    <a:pt x="1328806" y="3163"/>
                    <a:pt x="1334436" y="8793"/>
                  </a:cubicBezTo>
                  <a:cubicBezTo>
                    <a:pt x="1340066" y="14423"/>
                    <a:pt x="1343229" y="22059"/>
                    <a:pt x="1343229" y="30021"/>
                  </a:cubicBezTo>
                  <a:lnTo>
                    <a:pt x="1343229" y="754200"/>
                  </a:lnTo>
                  <a:cubicBezTo>
                    <a:pt x="1343229" y="762163"/>
                    <a:pt x="1340066" y="769799"/>
                    <a:pt x="1334436" y="775429"/>
                  </a:cubicBezTo>
                  <a:cubicBezTo>
                    <a:pt x="1328806" y="781059"/>
                    <a:pt x="1321170" y="784222"/>
                    <a:pt x="1313208" y="784222"/>
                  </a:cubicBezTo>
                  <a:lnTo>
                    <a:pt x="30021" y="784222"/>
                  </a:lnTo>
                  <a:cubicBezTo>
                    <a:pt x="22059" y="784222"/>
                    <a:pt x="14423" y="781059"/>
                    <a:pt x="8793" y="775429"/>
                  </a:cubicBezTo>
                  <a:cubicBezTo>
                    <a:pt x="3163" y="769799"/>
                    <a:pt x="0" y="762163"/>
                    <a:pt x="0" y="754200"/>
                  </a:cubicBezTo>
                  <a:lnTo>
                    <a:pt x="0" y="30021"/>
                  </a:lnTo>
                  <a:cubicBezTo>
                    <a:pt x="0" y="22059"/>
                    <a:pt x="3163" y="14423"/>
                    <a:pt x="8793" y="8793"/>
                  </a:cubicBezTo>
                  <a:cubicBezTo>
                    <a:pt x="14423" y="3163"/>
                    <a:pt x="22059" y="0"/>
                    <a:pt x="30021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43229" cy="822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999431" y="7655413"/>
            <a:ext cx="14289138" cy="1398636"/>
            <a:chOff x="0" y="0"/>
            <a:chExt cx="16525756" cy="1617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525756" cy="1617558"/>
            </a:xfrm>
            <a:custGeom>
              <a:avLst/>
              <a:gdLst/>
              <a:ahLst/>
              <a:cxnLst/>
              <a:rect r="r" b="b" t="t" l="l"/>
              <a:pathLst>
                <a:path h="1617558" w="16525756">
                  <a:moveTo>
                    <a:pt x="14629" y="0"/>
                  </a:moveTo>
                  <a:lnTo>
                    <a:pt x="16511127" y="0"/>
                  </a:lnTo>
                  <a:cubicBezTo>
                    <a:pt x="16519206" y="0"/>
                    <a:pt x="16525756" y="6550"/>
                    <a:pt x="16525756" y="14629"/>
                  </a:cubicBezTo>
                  <a:lnTo>
                    <a:pt x="16525756" y="1602930"/>
                  </a:lnTo>
                  <a:cubicBezTo>
                    <a:pt x="16525756" y="1611009"/>
                    <a:pt x="16519206" y="1617558"/>
                    <a:pt x="16511127" y="1617558"/>
                  </a:cubicBezTo>
                  <a:lnTo>
                    <a:pt x="14629" y="1617558"/>
                  </a:lnTo>
                  <a:cubicBezTo>
                    <a:pt x="6550" y="1617558"/>
                    <a:pt x="0" y="1611009"/>
                    <a:pt x="0" y="1602930"/>
                  </a:cubicBezTo>
                  <a:lnTo>
                    <a:pt x="0" y="14629"/>
                  </a:lnTo>
                  <a:cubicBezTo>
                    <a:pt x="0" y="6550"/>
                    <a:pt x="6550" y="0"/>
                    <a:pt x="1462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6525756" cy="1655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810214" y="8186229"/>
            <a:ext cx="303917" cy="337004"/>
          </a:xfrm>
          <a:custGeom>
            <a:avLst/>
            <a:gdLst/>
            <a:ahLst/>
            <a:cxnLst/>
            <a:rect r="r" b="b" t="t" l="l"/>
            <a:pathLst>
              <a:path h="337004" w="303917">
                <a:moveTo>
                  <a:pt x="0" y="0"/>
                </a:moveTo>
                <a:lnTo>
                  <a:pt x="303917" y="0"/>
                </a:lnTo>
                <a:lnTo>
                  <a:pt x="303917" y="337004"/>
                </a:lnTo>
                <a:lnTo>
                  <a:pt x="0" y="3370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75013" y="8093787"/>
            <a:ext cx="932350" cy="464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4"/>
              </a:lnSpc>
            </a:pPr>
            <a:r>
              <a:rPr lang="en-US" b="true" sz="2703" spc="494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요약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8630" y="7945791"/>
            <a:ext cx="10496202" cy="74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40"/>
              </a:lnSpc>
            </a:pPr>
            <a:r>
              <a:rPr lang="en-US" b="true" sz="1800">
                <a:solidFill>
                  <a:srgbClr val="262626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Step 1은 분류·추적·조준 단계가 사용할 입력 궤적을 만드는 기반 모듈입니다.</a:t>
            </a:r>
          </a:p>
          <a:p>
            <a:pPr algn="just">
              <a:lnSpc>
                <a:spcPts val="3040"/>
              </a:lnSpc>
            </a:pPr>
            <a:r>
              <a:rPr lang="en-US" sz="18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파라미터 근거를 보완한 뒤 Step 2 분류기의 학습 데이터로 활용할 예정입니다.</a:t>
            </a:r>
          </a:p>
        </p:txBody>
      </p:sp>
      <p:sp>
        <p:nvSpPr>
          <p:cNvPr name="AutoShape 18" id="18"/>
          <p:cNvSpPr/>
          <p:nvPr/>
        </p:nvSpPr>
        <p:spPr>
          <a:xfrm>
            <a:off x="4448166" y="8068447"/>
            <a:ext cx="0" cy="572567"/>
          </a:xfrm>
          <a:prstGeom prst="line">
            <a:avLst/>
          </a:prstGeom>
          <a:ln cap="flat" w="19050">
            <a:solidFill>
              <a:srgbClr val="2626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426785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항력·바람·고도 PD를 결합한 3D 궤적 생성기 구현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 시나리오에서 고도 ±0.06 m 유지 (기준 ±2 m)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회피 α 평균 3.34° vs 직선 0° → 궤적 구분 가능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풍속 조건에 따른 궤적 차이를 정량적으로 확인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814588" y="3954136"/>
            <a:ext cx="3332504" cy="607722"/>
            <a:chOff x="0" y="0"/>
            <a:chExt cx="4443338" cy="81029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결론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40909" y="3954136"/>
            <a:ext cx="3332504" cy="607722"/>
            <a:chOff x="0" y="0"/>
            <a:chExt cx="4443338" cy="81029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443338" cy="810296"/>
              <a:chOff x="0" y="0"/>
              <a:chExt cx="4294480" cy="78315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294480" cy="783150"/>
              </a:xfrm>
              <a:custGeom>
                <a:avLst/>
                <a:gdLst/>
                <a:ahLst/>
                <a:cxnLst/>
                <a:rect r="r" b="b" t="t" l="l"/>
                <a:pathLst>
                  <a:path h="783150" w="4294480">
                    <a:moveTo>
                      <a:pt x="89652" y="0"/>
                    </a:moveTo>
                    <a:lnTo>
                      <a:pt x="4204827" y="0"/>
                    </a:lnTo>
                    <a:cubicBezTo>
                      <a:pt x="4254341" y="0"/>
                      <a:pt x="4294480" y="40139"/>
                      <a:pt x="4294480" y="89652"/>
                    </a:cubicBezTo>
                    <a:lnTo>
                      <a:pt x="4294480" y="693497"/>
                    </a:lnTo>
                    <a:cubicBezTo>
                      <a:pt x="4294480" y="743011"/>
                      <a:pt x="4254341" y="783150"/>
                      <a:pt x="4204827" y="783150"/>
                    </a:cubicBezTo>
                    <a:lnTo>
                      <a:pt x="89652" y="783150"/>
                    </a:lnTo>
                    <a:cubicBezTo>
                      <a:pt x="40139" y="783150"/>
                      <a:pt x="0" y="743011"/>
                      <a:pt x="0" y="693497"/>
                    </a:cubicBezTo>
                    <a:lnTo>
                      <a:pt x="0" y="89652"/>
                    </a:lnTo>
                    <a:cubicBezTo>
                      <a:pt x="0" y="40139"/>
                      <a:pt x="40139" y="0"/>
                      <a:pt x="8965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294480" cy="8212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88193" y="149919"/>
              <a:ext cx="4066951" cy="46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056" b="true">
                  <a:solidFill>
                    <a:srgbClr val="FFFFFF"/>
                  </a:solidFill>
                  <a:latin typeface="프리텐다드 Medium"/>
                  <a:ea typeface="프리텐다드 Medium"/>
                  <a:cs typeface="프리텐다드 Medium"/>
                  <a:sym typeface="프리텐다드 Medium"/>
                </a:rPr>
                <a:t>향후 계획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753106" y="4892040"/>
            <a:ext cx="6108108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무작위 회피·다양한 진입 방향 시나리오 추가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파라미터 근거 보완, Dryden 난류 모델 추가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2: 궤적 특징 기반 드론/비드론 분류기</a:t>
            </a:r>
          </a:p>
          <a:p>
            <a:pPr algn="l" marL="410211" indent="-205106" lvl="1">
              <a:lnSpc>
                <a:spcPts val="3100"/>
              </a:lnSpc>
              <a:buFont typeface="Arial"/>
              <a:buChar char="•"/>
            </a:pPr>
            <a:r>
              <a:rPr lang="en-US" sz="17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Step 3: 칼만 필터 추적 단계와 연결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3439" y="1365003"/>
            <a:ext cx="6961121" cy="91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b="true" sz="5299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참고문헌</a:t>
            </a:r>
          </a:p>
        </p:txBody>
      </p:sp>
      <p:sp>
        <p:nvSpPr>
          <p:cNvPr name="AutoShape 4" id="4"/>
          <p:cNvSpPr/>
          <p:nvPr/>
        </p:nvSpPr>
        <p:spPr>
          <a:xfrm>
            <a:off x="1401645" y="2610044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037007" y="1057275"/>
            <a:ext cx="2213985" cy="3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7"/>
              </a:lnSpc>
            </a:pPr>
            <a:r>
              <a:rPr lang="en-US" sz="1998">
                <a:solidFill>
                  <a:srgbClr val="6994D4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CONTENT 09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01645" y="3226470"/>
            <a:ext cx="15484709" cy="5992228"/>
            <a:chOff x="0" y="0"/>
            <a:chExt cx="2755267" cy="10662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5267" cy="1066226"/>
            </a:xfrm>
            <a:custGeom>
              <a:avLst/>
              <a:gdLst/>
              <a:ahLst/>
              <a:cxnLst/>
              <a:rect r="r" b="b" t="t" l="l"/>
              <a:pathLst>
                <a:path h="1066226" w="2755267">
                  <a:moveTo>
                    <a:pt x="13499" y="0"/>
                  </a:moveTo>
                  <a:lnTo>
                    <a:pt x="2741768" y="0"/>
                  </a:lnTo>
                  <a:cubicBezTo>
                    <a:pt x="2749224" y="0"/>
                    <a:pt x="2755267" y="6044"/>
                    <a:pt x="2755267" y="13499"/>
                  </a:cubicBezTo>
                  <a:lnTo>
                    <a:pt x="2755267" y="1052726"/>
                  </a:lnTo>
                  <a:cubicBezTo>
                    <a:pt x="2755267" y="1056306"/>
                    <a:pt x="2753845" y="1059740"/>
                    <a:pt x="2751314" y="1062272"/>
                  </a:cubicBezTo>
                  <a:cubicBezTo>
                    <a:pt x="2748782" y="1064803"/>
                    <a:pt x="2745349" y="1066226"/>
                    <a:pt x="2741768" y="1066226"/>
                  </a:cubicBezTo>
                  <a:lnTo>
                    <a:pt x="13499" y="1066226"/>
                  </a:lnTo>
                  <a:cubicBezTo>
                    <a:pt x="6044" y="1066226"/>
                    <a:pt x="0" y="1060182"/>
                    <a:pt x="0" y="1052726"/>
                  </a:cubicBezTo>
                  <a:lnTo>
                    <a:pt x="0" y="13499"/>
                  </a:lnTo>
                  <a:cubicBezTo>
                    <a:pt x="0" y="6044"/>
                    <a:pt x="6044" y="0"/>
                    <a:pt x="1349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55267" cy="1104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657600" y="4065039"/>
            <a:ext cx="1188720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sz="16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G. Hattenberger, M. Bronz, J.-P. Condomines, “Evaluation of drag coefficient for a quadrotor model,” Int. J. Micro Air Vehicles, vol. 15, 2023.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95386" y="4090115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95233" y="4046752"/>
            <a:ext cx="2904894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605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[1]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295386" y="4936245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657600" y="5344898"/>
            <a:ext cx="1188720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sz="16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J. C. D. C. Siqueira, “Modeling of Wind Phenomena and Analysis of Their Effects on UAV Trajectory Tracking Performance,” M.S. thesis, West Virginia Univ., 2017.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295386" y="5369974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95233" y="5326611"/>
            <a:ext cx="2904894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605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[2]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295386" y="6216105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3657600" y="6624759"/>
            <a:ext cx="1188720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sz="16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“Improving visual differentiation of drones and birds using trajectory features,” Neural Computing and Applications, Springer, 2026.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295386" y="6649834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895233" y="6606471"/>
            <a:ext cx="2904894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605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[3]</a:t>
            </a:r>
          </a:p>
        </p:txBody>
      </p:sp>
      <p:sp>
        <p:nvSpPr>
          <p:cNvPr name="AutoShape 20" id="20"/>
          <p:cNvSpPr/>
          <p:nvPr/>
        </p:nvSpPr>
        <p:spPr>
          <a:xfrm>
            <a:off x="2295386" y="7495964"/>
            <a:ext cx="13697227" cy="0"/>
          </a:xfrm>
          <a:prstGeom prst="line">
            <a:avLst/>
          </a:prstGeom>
          <a:ln cap="flat" w="19050">
            <a:solidFill>
              <a:srgbClr val="DEDED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3657600" y="7904618"/>
            <a:ext cx="11887200" cy="373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20"/>
              </a:lnSpc>
            </a:pPr>
            <a:r>
              <a:rPr lang="en-US" sz="1600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K. Cole, A. M. Wickenheiser, “Trajectory Generation for UAVs in Unknown Environments with Extreme Wind Disturbances,” arXiv:1906.09508, 2019.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2295386" y="7929693"/>
            <a:ext cx="415775" cy="415775"/>
          </a:xfrm>
          <a:custGeom>
            <a:avLst/>
            <a:gdLst/>
            <a:ahLst/>
            <a:cxnLst/>
            <a:rect r="r" b="b" t="t" l="l"/>
            <a:pathLst>
              <a:path h="415775" w="415775">
                <a:moveTo>
                  <a:pt x="0" y="0"/>
                </a:moveTo>
                <a:lnTo>
                  <a:pt x="415775" y="0"/>
                </a:lnTo>
                <a:lnTo>
                  <a:pt x="415775" y="415775"/>
                </a:lnTo>
                <a:lnTo>
                  <a:pt x="0" y="41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895233" y="7886330"/>
            <a:ext cx="2904894" cy="44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7"/>
              </a:lnSpc>
            </a:pPr>
            <a:r>
              <a:rPr lang="en-US" sz="2605" b="true">
                <a:solidFill>
                  <a:srgbClr val="262626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[4]</a:t>
            </a:r>
          </a:p>
        </p:txBody>
      </p:sp>
      <p:sp>
        <p:nvSpPr>
          <p:cNvPr name="Freeform 24" id="24"/>
          <p:cNvSpPr/>
          <p:nvPr/>
        </p:nvSpPr>
        <p:spPr>
          <a:xfrm flipH="true" flipV="false" rot="0">
            <a:off x="15812799" y="4148779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7"/>
                </a:lnTo>
                <a:lnTo>
                  <a:pt x="179815" y="298447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5812799" y="5428638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8"/>
                </a:lnTo>
                <a:lnTo>
                  <a:pt x="179815" y="298448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15812799" y="6708497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8"/>
                </a:lnTo>
                <a:lnTo>
                  <a:pt x="179815" y="298448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812799" y="7988357"/>
            <a:ext cx="179815" cy="298447"/>
          </a:xfrm>
          <a:custGeom>
            <a:avLst/>
            <a:gdLst/>
            <a:ahLst/>
            <a:cxnLst/>
            <a:rect r="r" b="b" t="t" l="l"/>
            <a:pathLst>
              <a:path h="298447" w="179815">
                <a:moveTo>
                  <a:pt x="179815" y="0"/>
                </a:moveTo>
                <a:lnTo>
                  <a:pt x="0" y="0"/>
                </a:lnTo>
                <a:lnTo>
                  <a:pt x="0" y="298447"/>
                </a:lnTo>
                <a:lnTo>
                  <a:pt x="179815" y="298447"/>
                </a:lnTo>
                <a:lnTo>
                  <a:pt x="17981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1645" y="8203294"/>
            <a:ext cx="15484709" cy="892357"/>
            <a:chOff x="0" y="0"/>
            <a:chExt cx="4078277" cy="2350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8277" cy="235024"/>
            </a:xfrm>
            <a:custGeom>
              <a:avLst/>
              <a:gdLst/>
              <a:ahLst/>
              <a:cxnLst/>
              <a:rect r="r" b="b" t="t" l="l"/>
              <a:pathLst>
                <a:path h="235024" w="4078277">
                  <a:moveTo>
                    <a:pt x="13499" y="0"/>
                  </a:moveTo>
                  <a:lnTo>
                    <a:pt x="4064778" y="0"/>
                  </a:lnTo>
                  <a:cubicBezTo>
                    <a:pt x="4072234" y="0"/>
                    <a:pt x="4078277" y="6044"/>
                    <a:pt x="4078277" y="13499"/>
                  </a:cubicBezTo>
                  <a:lnTo>
                    <a:pt x="4078277" y="221525"/>
                  </a:lnTo>
                  <a:cubicBezTo>
                    <a:pt x="4078277" y="228980"/>
                    <a:pt x="4072234" y="235024"/>
                    <a:pt x="4064778" y="235024"/>
                  </a:cubicBezTo>
                  <a:lnTo>
                    <a:pt x="13499" y="235024"/>
                  </a:lnTo>
                  <a:cubicBezTo>
                    <a:pt x="9919" y="235024"/>
                    <a:pt x="6485" y="233602"/>
                    <a:pt x="3954" y="231070"/>
                  </a:cubicBezTo>
                  <a:cubicBezTo>
                    <a:pt x="1422" y="228539"/>
                    <a:pt x="0" y="225105"/>
                    <a:pt x="0" y="221525"/>
                  </a:cubicBezTo>
                  <a:lnTo>
                    <a:pt x="0" y="13499"/>
                  </a:lnTo>
                  <a:cubicBezTo>
                    <a:pt x="0" y="6044"/>
                    <a:pt x="6044" y="0"/>
                    <a:pt x="13499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78277" cy="273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51400" y="3223963"/>
            <a:ext cx="8785201" cy="149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16"/>
              </a:lnSpc>
              <a:spcBef>
                <a:spcPct val="0"/>
              </a:spcBef>
            </a:pPr>
            <a:r>
              <a:rPr lang="en-US" sz="8654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Thank</a:t>
            </a:r>
            <a:r>
              <a:rPr lang="en-US" sz="8654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09117" y="4580639"/>
            <a:ext cx="9469765" cy="161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60"/>
              </a:lnSpc>
              <a:spcBef>
                <a:spcPct val="0"/>
              </a:spcBef>
            </a:pPr>
            <a:r>
              <a:rPr lang="en-US" b="true" sz="9328">
                <a:solidFill>
                  <a:srgbClr val="262626"/>
                </a:solidFill>
                <a:latin typeface="프리텐다드 Ultra-Bold"/>
                <a:ea typeface="프리텐다드 Ultra-Bold"/>
                <a:cs typeface="프리텐다드 Ultra-Bold"/>
                <a:sym typeface="프리텐다드 Ultra-Bold"/>
              </a:rPr>
              <a:t>감사합니다!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09117" y="2152860"/>
            <a:ext cx="9469765" cy="43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6"/>
              </a:lnSpc>
              <a:spcBef>
                <a:spcPct val="0"/>
              </a:spcBef>
            </a:pPr>
            <a:r>
              <a:rPr lang="en-US" sz="2540" spc="177">
                <a:solidFill>
                  <a:srgbClr val="262626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발표를</a:t>
            </a:r>
            <a:r>
              <a:rPr lang="en-US" sz="2540" spc="177">
                <a:solidFill>
                  <a:srgbClr val="262626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 마치겠습니다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78840" y="8456997"/>
            <a:ext cx="2011680" cy="33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2001205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46120" y="8455053"/>
            <a:ext cx="5669280" cy="341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군산대학교 임베디드소프트웨어공학과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77440" y="8456997"/>
            <a:ext cx="822960" cy="33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소속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2640" y="8456997"/>
            <a:ext cx="822960" cy="33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10160" y="8456997"/>
            <a:ext cx="822960" cy="33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학번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61320" y="8456997"/>
            <a:ext cx="2011680" cy="337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17"/>
              </a:lnSpc>
            </a:pPr>
            <a:r>
              <a:rPr lang="en-US" sz="1941" spc="141">
                <a:solidFill>
                  <a:srgbClr val="26262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유민형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01645" y="1038225"/>
            <a:ext cx="1548470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993</ep:Words>
  <ep:PresentationFormat>On-screen Show (4:3)</ep:PresentationFormat>
  <ep:Paragraphs>202</ep:Paragraphs>
  <ep:Slides>16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akfrd</cp:lastModifiedBy>
  <dcterms:modified xsi:type="dcterms:W3CDTF">2026-09-25T03:02:48.441</dcterms:modified>
  <cp:revision>3</cp:revision>
  <dc:title>파란색 흰색 심플한 그라데이션 비즈니스 발표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
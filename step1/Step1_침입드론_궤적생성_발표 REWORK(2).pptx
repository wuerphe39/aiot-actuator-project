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648" r:id="rId1"/>
  </p:sldMasterIdLst>
  <p:notesMasterIdLst>
    <p:notesMasterId r:id="rId2"/>
  </p:notesMasterIdLst>
  <p:sldIdLst>
    <p:sldId id="256" r:id="rId3"/>
    <p:sldId id="257" r:id="rId4"/>
    <p:sldId id="268" r:id="rId5"/>
    <p:sldId id="271" r:id="rId6"/>
    <p:sldId id="260" r:id="rId7"/>
    <p:sldId id="259" r:id="rId8"/>
    <p:sldId id="264" r:id="rId9"/>
    <p:sldId id="261" r:id="rId10"/>
    <p:sldId id="269" r:id="rId11"/>
    <p:sldId id="263" r:id="rId12"/>
    <p:sldId id="258" r:id="rId13"/>
    <p:sldId id="266" r:id="rId14"/>
    <p:sldId id="262" r:id="rId15"/>
    <p:sldId id="270" r:id="rId16"/>
    <p:sldId id="267" r:id="rId17"/>
    <p:sldId id="265" r:id="rId18"/>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prnPr scaleToFitPaper="1"/>
  <p:showPr showNarration="1">
    <p:sldAll/>
    <p:penClr>
      <a:srgbClr val="ff0000"/>
    </p:penClr>
    <p:extLst>
      <p:ext uri="{2FDB2607-1784-4EEB-B798-7EB5836EED8A}">
        <p14:showMediaCtrls xmlns:p14="http://schemas.microsoft.com/office/powerpoint/2010/main" val="1"/>
      </p:ext>
    </p:extLst>
  </p:showPr>
  <p:extLst>
    <p:ext uri="ACF4677E-8BD2-47ae-8A1F-98590045965D">
      <hp:hncThemeShow xmlns:hp="http://schemas.haansoft.com/office/presentation/8.0" themeShowType="1" themeSkinType="1" themeTransitionType="1" useThemeTransition="1" byMouseClick="1" attrType="1" dur="2000"/>
    </p:ext>
  </p:extLst>
</p:presentationPr>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15620" autoAdjust="0"/>
    <p:restoredTop sz="67150" autoAdjust="0"/>
  </p:normalViewPr>
  <p:slideViewPr>
    <p:cSldViewPr>
      <p:cViewPr varScale="1">
        <p:scale>
          <a:sx n="100" d="100"/>
          <a:sy n="100" d="100"/>
        </p:scale>
        <p:origin x="-1092" y="-90"/>
      </p:cViewPr>
      <p:guideLst>
        <p:guide orient="horz" pos="2158"/>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presProps" Target="presProps.xml"  /><Relationship Id="rId2" Type="http://schemas.openxmlformats.org/officeDocument/2006/relationships/notesMaster" Target="notesMasters/notesMaster1.xml"  /><Relationship Id="rId20" Type="http://schemas.openxmlformats.org/officeDocument/2006/relationships/viewProps" Target="viewProps.xml"  /><Relationship Id="rId21" Type="http://schemas.openxmlformats.org/officeDocument/2006/relationships/theme" Target="theme/theme1.xml"  /><Relationship Id="rId22" Type="http://schemas.openxmlformats.org/officeDocument/2006/relationships/tableStyles" Target="tableStyles.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idx="0"/>
          </p:nvPr>
        </p:nvSpPr>
        <p:spPr>
          <a:xfrm>
            <a:off x="0" y="0"/>
            <a:ext cx="2971800" cy="457200"/>
          </a:xfrm>
          <a:prstGeom prst="rect">
            <a:avLst/>
          </a:prstGeom>
        </p:spPr>
        <p:txBody>
          <a:bodyPr vert="horz" lIns="91440" tIns="45720" rIns="91440" bIns="45720" rtlCol="0"/>
          <a:lstStyle>
            <a:lvl1pPr algn="l">
              <a:defRPr sz="1200"/>
            </a:lvl1pPr>
          </a:lstStyle>
          <a:p>
            <a:pPr lvl="0"/>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lvl="0"/>
            <a:fld id="{0F89C1C7-3DCD-1040-A9CF-14679D8B5DDD}" type="datetime1">
              <a:rPr lang="en-US" smtClean="0"/>
              <a:t>10/17/16</a:t>
            </a:fld>
            <a:endParaRPr lang="en-US"/>
          </a:p>
        </p:txBody>
      </p:sp>
      <p:sp>
        <p:nvSpPr>
          <p:cNvPr id="4" name="Slide Image Placeholder 3"/>
          <p:cNvSpPr>
            <a:spLocks noGrp="1" noRot="1" noChangeAspect="1" noTextEdi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lvl="0"/>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lvl="0"/>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시작하겠습니다. 이번 발표에서는 자율 추적형 드론 포획 시스템의 첫 단계인 침입 드론 궤적 생성 모듈에 대해 발표하겠습니다.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lvl="0">
              <a:defRPr/>
            </a:pPr>
            <a:r>
              <a:rPr lang="ko-KR" altLang="en-US"/>
              <a:t>목차로는 프로젝트 개요를 간단하게 설명하고 수정된 점, 사용된 툴과 수식, 참고한 논문과 선정 이유에 대해 설명하겠습니다. 이어서 실행 결과를 보여드린 뒤 모델 특징, 개선 할 점, 결론 및 향후 계획 순서로 진행하겠습니다.</a:t>
            </a:r>
            <a:endParaRPr lang="ko-KR" altLang="en-US"/>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전체 시스템은 이렇게 8단계 파이프라인으로 구성되어 있습니다. 궤적 생성, 표적 분류, 칼만 추적, 팬/틸트 PID 제어, 리드 조준, 포획 판정, 낙하 평가, 성공률 분석으로 구성되어 있습니다. 오늘 발표하는 step 1은 이 파이프라인 전체의 입력 데이터를 만드는 단계입니다. Step 1의 역할은 세 가지입니다. 이후 단계에서 쓸 정답 궤적을 제공하고, 항력·바람·고도 제어를 반영한 물리 기반 시나리오를 만들며, 실제 침입 드론 데이터가 공개되지 않는 문제를 시뮬레이션으로 해결합니다.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다음으로 이번에 설계를 바꾼 부분을 설명드리겠습니다. 이 시스템은 네트를 발사해서 포획하는 방식입니다. 그런데 네트로 포획하더라도 드론은 결국 추락합니다. 30m에서 추락하는 드론은 그 자체로 사람이나 시설에 2차 피해를 줄 수 있습니다. 그렇기 때문에 저희 팀은 네트에 낙하산을 달기로 결정했습니다. 네트만 쓰는 경우 30m 자유낙하 시 충돌 에너지는 E = mgh = 1.65 X 9.81 x 30(공기저항 무시) 최대 약 490J 입니다.</a:t>
            </a:r>
          </a:p>
          <a:p>
            <a:r>
              <a:t>반면 네트에 지름 1.5m 낙하산을 달면 종단 속도가 약 3.2 m/s로 줄기 때문에 E = 1/2mv²로 착지하므로 에너지는 약 8J입니다. 즉 충돌 에너지를 약 98% 줄일 수 있습니다. 그래서 전체 파이프라인에 낙하 궤적을 평가하는 낙하 평가 단계를 추가했습니다. 또한 네트에 낙하산을 단 사례는 영국에 지상 발사형 openworks skywall에서도 사용되는 사례이므로 현실성이 보장되었습니다.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사용한 툴은 세 가지입니다. 첫 번째는 MATLAB입니다. 시뮬레이션 전체를 구현하고 3D 궤적과 결과 그래프를 시각화하는 개발 환경으로 사용했습니다. 두 번째는 ode45입니다. 4/5차 룽게-쿠타 방식의 가변 스텝 적분기로, 위치와 속도로 이루어진 6차원 상태의 운동방정식을 풉니다. 세 번째는 interp1 보간입니다. ode45는 시간 간격이 일정하지 않기 때문에, 1 Hz 간격이나 공통 시간축으로 보간해서 시나리오끼리 정확히 비교했습니다.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다음으로는 사용된 수식입니다. 먼저 운동방정식입니다. 드론의 가속도는 추력, 항력, 중력의 합력으로 구합니다. 여기서 항력은 드론의 절대 속도가 아니라 바람에 대한 상대속도로 계산합니다. 그리고 항력을 수평 성분과 수직 성분으로 나눠서, 방향마다 다른 항력계수를 적용했습니다.</a:t>
            </a:r>
          </a:p>
          <a:p>
            <a:r>
              <a:t>다음은 바람, 고도, 회피 기동입니다. 바람은 고도가 높을수록 강해지는 멱함수 프로파일을 사용해서, 순항고도 30 m에서는 기준 고도보다 약 1.17배 강하게 적용됩니다. 고도는 PD 제어기로 유지합니다. 목표 고도와의 오차와 수직 속도를 피드백해서 추력을 조절합니다. 회피 기동은 진행 방향의 수직 방향으로 사인파 가속을 주는 방식이고, 마지막 α는 1초 간격 속도벡터 사이의 각도로, 다음 단계인 분류기에서 쓸 특징값입니다. 고도 PD 제어기는 고유진동수 약 4.47 rad/s, 감쇠비 약 0.89로 설계되어 큰 진동 없이 30 m로 수렴합니다.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다음은 사용된 논문에 대해 설명하도록 하겠습니다.</a:t>
            </a:r>
          </a:p>
          <a:p>
            <a:r>
              <a:t>첫번째로는 Hattenberger 등(2023)은 풍동과 모션캡처 실험으로 쿼드로터의 항력을 측정한 논문입니다. 8~10 m/s 이하에서는 항력이 대기속도에 거의 선형으로 비례한다는 결과를 제시합니다.</a:t>
            </a:r>
          </a:p>
          <a:p>
            <a:r>
              <a:t>Siqueira(2017)는 웨스트버지니아대 석사논문으로, 일정풍, 난류, 돌풍, 윈드시어를 모델링하고 UAV 궤적 추종 성능에 미치는 영향을 분석했습니다.</a:t>
            </a:r>
          </a:p>
          <a:p>
            <a:r>
              <a:t>Springer Neural Computing and Applications(2026)논문은 드론과 새를 궤적 특징으로 구별하는 연구로, 드론이 고도를 ±2 m 안에서 유지하고 5~20 m/s로 비행한다는 특징과 궤적 각도 α를 제시합니다.</a:t>
            </a:r>
          </a:p>
          <a:p>
            <a:r>
              <a:t>Cole과 Wickenheiser(2019)는 속도 제곱에 비례하는 항력과 축별 단면적을 적용하고, 강풍이 드론의 추력 한계를 넘는 조건을 분석한 논문입니다.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 논문들을 선정한 이유는 4가지입니다. 첫째, 항력 모델의 근거입니다. 임의로 정한 계수 대신 실험으로 측정된 항력 특성을 바탕으로 모델의 신뢰도를 높이려고 했습니다. 둘째, 바람 외란 시나리오입니다. 일정풍과 돌풍을 분리하는 UAV 바람 모델 구조를 따라서 무풍, 약풍, 강풍 세 가지 시나리오를 설계했습니다. 셋째, Step 2와의 연계입니다. 드론 고유의 고도유지 특성과 궤적 각도 α를 미리 만들어서, 분류기에 들어갈 특징을 사전에 검증할 수 있습니다. 넷째, 강풍 거동 해석입니다. 항력이 추력 한계를 넘으면 드론이 바람에 밀린다는 분석을 이용해 강풍 시나리오의 결과를 해석했습니다.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다음으로는 시뮬레이션 시나리오에 대해 설명드리겠습니다. 총 3가지로</a:t>
            </a:r>
          </a:p>
          <a:p>
            <a:r>
              <a:t>S1 직선/무풍은 바람 없이 5 N의 추력으로 X 방향 직선 접근하는 기준 궤적입니다. 이때 대기속도는 약 15 m/s로, 참고 논문의 드론 속도 범위인 5~20 m/s 안에 들어오도록 추력을 정했습니다.</a:t>
            </a:r>
          </a:p>
          <a:p>
            <a:r>
              <a:t>S2 직선/약풍은 5 m/s의 기저풍에 0.5 m/s의 사인파 돌풍을 더했습니다.</a:t>
            </a:r>
          </a:p>
          <a:p>
            <a:r>
              <a:t>S3 회피/강풍은 15 m/s 기저풍과 2 m/s 돌풍, 2 m/s 측풍에, 좌우·상하 회피 기동까지 넣은 가장 어려운 조건입니다.</a:t>
            </a:r>
          </a:p>
          <a:p>
            <a:r>
              <a:t>공통 조건으로는 질량 1.35kg, 출발 고도 30m, 초기 속도 8m/s이고, 0초부터 30초까지 시뮬레이션했습니다.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다음으로는 실행 결과입니다 세 시나리오의 3D 궤적입니다. 30초 후 X 방향 종료 위치는 무풍 445.1 m, 약풍 602.3 m, 강풍 회피 902.1 m로, 바람이 강할수록 더 멀리 이동했습니다. 직선 궤적은 Y, Z 방향 변화가 없고, 회피/강풍 궤적은 측풍과 회피 기동 때문에 좌우로 흔들리며 전진합니다. 여기서 한 가지 주의하실 점이 있습니다. 그래프의 Z축 범위가 29.94에서 30.06 m라서 위아래로 크게 움직이는 것처럼 보이지만, 실제 진폭은 약 ±6 cm입니다. 즉, 모든 시나리오에서 고도가 30 m ± 0.06 m 안에 유지되어 기준인 ±2 m를 충족했습니다.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 다음으로는 세부 그래프 네 개를 보겠습니다. 고도 그래프입니다. 최대 이탈이 ±0.06 m로, 상하 회피 기동이 들어간 상황에서도 고도유지 PD 제어기가 외란을 잘 억제하고 있습니다. 수평 속도입니다. 최종 속도가 무풍 약 15, 약풍 약 21, 강풍 약 33 m/s입니다. 공기에 대한 속도, 즉 대기속도는 세 경우 모두 약 15 m/s로 같고, 순풍이 더해진 만큼 지면 기준 속도가 빨라진 것입니다. 궤적 각도 α입니다. 직선 비행은 평균 0°, 회피 기동은 평균 3.34°로 뚜렷하게 차이가 나서, Step 2 분류기의 특징으로 쓸 수 있다는 것을 확인했습니다.약풍 조건에서 무풍 대비 궤적이 얼마나 벗어났는지입니다. 30초 후 최대 157.3 m로, 약한 바람만으로도 위치 차이가 크게 누적된다는 것을 보여줍니다. 이 점이 이후 추적 단계에서 바람을 고려해야 하는 이유입니다.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lvl="0">
              <a:defRPr/>
            </a:pPr>
            <a:r>
              <a:rPr lang="ko-KR" altLang="en-US"/>
              <a:t>다음으로는 이 모델의 특징입니다. 구현 측면에서는 동역학, 유도, 바람을 모듈로 분리해서 파라미터 교체와 확장이 쉽고, 바람 모델이 결정론적이라 같은 조건을 언제든 재현할 수 있습니다. 또 interp1으로 비균일 시간축 비교 문제를 해결했습니다. 모델 측면에서는 수평·수직 항력을 분리하고, 고도 PD 제어로 고도를 ±0.06 m 안에 유지했으며, 고도에 따른 풍속 변화를 반영했고, 대기속도를 논문 기준인 5~20 m/s 안으로 맞췄습니다. 정리하면 재현 가능한 궤적 생성기로는 충분하다고 판단했습니다.</a:t>
            </a:r>
            <a:endParaRPr lang="ko-KR" altLang="en-US"/>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sz="quarter" idx="3"/>
          </p:nvPr>
        </p:nvSpPr>
        <p:spPr/>
        <p:txBody>
          <a:bodyPr/>
          <a:lstStyle/>
          <a:p>
            <a:pPr lvl="0">
              <a:defRPr/>
            </a:pPr>
            <a:r>
              <a:rPr lang="ko-KR" altLang="en-US"/>
              <a:t>다음은 개선 해야 할 점입니다. 크게 세 가지로 나눴습니다.</a:t>
            </a:r>
            <a:endParaRPr lang="ko-KR" altLang="en-US"/>
          </a:p>
          <a:p>
            <a:pPr lvl="0">
              <a:defRPr/>
            </a:pPr>
            <a:r>
              <a:rPr lang="ko-KR" altLang="en-US"/>
              <a:t>첫째, 모델 단순화입니다. 드론의 자세, 즉 롤과 피치를 계산하지 않고, 난류와 수직 돌풍이 없습니다. 또 드론 질량 1.35 kg이 참고 논문의 실험 범위인 최대 약 1.07 kg을 벗어납니다.</a:t>
            </a:r>
            <a:endParaRPr lang="ko-KR" altLang="en-US"/>
          </a:p>
          <a:p>
            <a:pPr lvl="0">
              <a:defRPr/>
            </a:pPr>
            <a:r>
              <a:rPr lang="ko-KR" altLang="en-US"/>
              <a:t>둘째, 시나리오 범위입니다. 현재 바람은 모두 드론 진행 방향으로 부는 순풍이라서, 역풍이나 옆에서 진입하는 경우를 다루지 못합니다.</a:t>
            </a:r>
            <a:endParaRPr lang="ko-KR" altLang="en-US"/>
          </a:p>
          <a:p>
            <a:pPr lvl="0">
              <a:defRPr/>
            </a:pPr>
            <a:r>
              <a:rPr lang="ko-KR" altLang="en-US"/>
              <a:t>셋째, 검증과 해석입니다. 항력계수와 단면적, 멱함수 지수 0.14는 문헌 일반값 기반의 가정값이라 보정이 필요합니다. 또 순풍 시 대지속도가 21~35 m/s까지 올라가기 때문에 분류 특징에 쓸 속도 기준을 정해야 합니다. 마지막으로 직선 시나리오의 고도 이탈 0 m는 수직 외란이 없어서 생긴 결과이고, 약풍 이탈량 157 m는 전부 순풍으로 빨라진 진행 방향 차이입니다.</a:t>
            </a:r>
            <a:endParaRPr lang="ko-KR" altLang="en-US"/>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결론 및 향후 계획입니다. 항력, 바람, 고도 PD 제어를 결합한 3D 궤적 생성기를 구현 했고, 모든 시나리오에서 고도 ±0.06 m 안에 유지했습니다. 또 회피 궤적의 α가 평균 3.34°로 직선의 0°와 구분되어, 분류에 쓸 수 있음을 확인했습니다.</a:t>
            </a:r>
          </a:p>
          <a:p>
            <a:r>
              <a:t>향후 계획으로는 역풍·측면 진입과 무작위 회피 기동 시나리오를 추가하고, 파라미터 근거를 보완하며 Dryden 난류 모델을 추가할 계획입니다. 그리고 Step 2에서 궤적 특징 기반의 드론/비드론 분류기를, Step 3에서 칼만 필터 추적을 연결할 예정입니다.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문헌은 화면과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마치겠습니다. 감사합니다.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notesSlide" Target="../notesSlides/notesSlide1.xml"  /></Relationships>
</file>

<file path=ppt/slides/_rels/slide2.xml.rels><?xml version="1.0" encoding="UTF-8" standalone="yes" ?><Relationships xmlns="http://schemas.openxmlformats.org/package/2006/relationships"><Relationship Id="rId1" Type="http://schemas.openxmlformats.org/officeDocument/2006/relationships/notesSlide" Target="../notesSlides/notesSlide2.xml"  /><Relationship Id="rId2" Type="http://schemas.openxmlformats.org/officeDocument/2006/relationships/slideLayout" Target="../slideLayouts/slideLayout7.xml"  /><Relationship Id="rId3" Type="http://schemas.openxmlformats.org/officeDocument/2006/relationships/image" Target="../media/image1.png"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image" Target="../media/image3.jpeg"  /><Relationship Id="rId4" Type="http://schemas.openxmlformats.org/officeDocument/2006/relationships/image" Target="../media/image4.jpeg"  /><Relationship Id="rId5" Type="http://schemas.openxmlformats.org/officeDocument/2006/relationships/image" Target="../media/image5.jpeg"  /><Relationship Id="rId6" Type="http://schemas.openxmlformats.org/officeDocument/2006/relationships/notesSlide" Target="../notesSlides/notesSlide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image" Target="../media/image3.jpeg"  /><Relationship Id="rId4" Type="http://schemas.openxmlformats.org/officeDocument/2006/relationships/image" Target="../media/image4.jpeg"  /><Relationship Id="rId5" Type="http://schemas.openxmlformats.org/officeDocument/2006/relationships/image" Target="../media/image5.jpeg"  /><Relationship Id="rId6" Type="http://schemas.openxmlformats.org/officeDocument/2006/relationships/notesSlide" Target="../notesSlides/notesSlide4.xml"  /></Relationships>
</file>

<file path=ppt/slides/_rels/slide5.xml.rels><?xml version="1.0" encoding="UTF-8" standalone="yes" ?><Relationships xmlns="http://schemas.openxmlformats.org/package/2006/relationships"><Relationship Id="rId1" Type="http://schemas.openxmlformats.org/officeDocument/2006/relationships/notesSlide" Target="../notesSlides/notesSlide5.xml"  /><Relationship Id="rId2" Type="http://schemas.openxmlformats.org/officeDocument/2006/relationships/slideLayout" Target="../slideLayouts/slideLayout7.xml"  /><Relationship Id="rId3" Type="http://schemas.openxmlformats.org/officeDocument/2006/relationships/image" Target="../media/image2.png"  /><Relationship Id="rId4" Type="http://schemas.openxmlformats.org/officeDocument/2006/relationships/image" Target="../media/image6.png"  /><Relationship Id="rId5" Type="http://schemas.openxmlformats.org/officeDocument/2006/relationships/image" Target="../media/image7.svg"  /><Relationship Id="rId6" Type="http://schemas.openxmlformats.org/officeDocument/2006/relationships/image" Target="../media/image8.png"  /><Relationship Id="rId7" Type="http://schemas.openxmlformats.org/officeDocument/2006/relationships/image" Target="../media/image9.svg"  /><Relationship Id="rId8" Type="http://schemas.openxmlformats.org/officeDocument/2006/relationships/image" Target="../media/image10.png"  /><Relationship Id="rId9" Type="http://schemas.openxmlformats.org/officeDocument/2006/relationships/image" Target="../media/image11.svg"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image" Target="../media/image12.png"  /><Relationship Id="rId4" Type="http://schemas.openxmlformats.org/officeDocument/2006/relationships/image" Target="../media/image13.svg"  /><Relationship Id="rId5" Type="http://schemas.openxmlformats.org/officeDocument/2006/relationships/notesSlide" Target="../notesSlides/notesSlide6.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image" Target="../media/image14.png"  /><Relationship Id="rId4" Type="http://schemas.openxmlformats.org/officeDocument/2006/relationships/image" Target="../media/image15.svg"  /><Relationship Id="rId5" Type="http://schemas.openxmlformats.org/officeDocument/2006/relationships/image" Target="../media/image16.png"  /><Relationship Id="rId6" Type="http://schemas.openxmlformats.org/officeDocument/2006/relationships/image" Target="../media/image17.svg"  /><Relationship Id="rId7" Type="http://schemas.openxmlformats.org/officeDocument/2006/relationships/notesSlide" Target="../notesSlides/notesSlide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image" Target="../media/image16.png"  /><Relationship Id="rId4" Type="http://schemas.openxmlformats.org/officeDocument/2006/relationships/image" Target="../media/image17.svg"  /><Relationship Id="rId5" Type="http://schemas.openxmlformats.org/officeDocument/2006/relationships/notesSlide" Target="../notesSlides/notesSlide8.xml"  /></Relationships>
</file>

<file path=ppt/slides/_rels/slide9.xml.rels><?xml version="1.0" encoding="UTF-8" standalone="yes" ?><Relationships xmlns="http://schemas.openxmlformats.org/package/2006/relationships"><Relationship Id="rId1" Type="http://schemas.openxmlformats.org/officeDocument/2006/relationships/notesSlide" Target="../notesSlides/notesSlide9.xml"  /><Relationship Id="rId10" Type="http://schemas.openxmlformats.org/officeDocument/2006/relationships/image" Target="../media/image16.png"  /><Relationship Id="rId11" Type="http://schemas.openxmlformats.org/officeDocument/2006/relationships/image" Target="../media/image17.svg"  /><Relationship Id="rId2" Type="http://schemas.openxmlformats.org/officeDocument/2006/relationships/slideLayout" Target="../slideLayouts/slideLayout7.xml"  /><Relationship Id="rId3" Type="http://schemas.openxmlformats.org/officeDocument/2006/relationships/image" Target="../media/image2.png"  /><Relationship Id="rId4" Type="http://schemas.openxmlformats.org/officeDocument/2006/relationships/image" Target="../media/image16.png"  /><Relationship Id="rId5" Type="http://schemas.openxmlformats.org/officeDocument/2006/relationships/image" Target="../media/image17.svg"  /><Relationship Id="rId6" Type="http://schemas.openxmlformats.org/officeDocument/2006/relationships/image" Target="../media/image16.png"  /><Relationship Id="rId7" Type="http://schemas.openxmlformats.org/officeDocument/2006/relationships/image" Target="../media/image17.svg"  /><Relationship Id="rId8" Type="http://schemas.openxmlformats.org/officeDocument/2006/relationships/image" Target="../media/image16.png"  /><Relationship Id="rId9" Type="http://schemas.openxmlformats.org/officeDocument/2006/relationships/image" Target="../media/image17.svg"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image" Target="../media/image18.png"  /><Relationship Id="rId4" Type="http://schemas.openxmlformats.org/officeDocument/2006/relationships/image" Target="../media/image14.png"  /><Relationship Id="rId5" Type="http://schemas.openxmlformats.org/officeDocument/2006/relationships/image" Target="../media/image15.svg"  /><Relationship Id="rId6" Type="http://schemas.openxmlformats.org/officeDocument/2006/relationships/image" Target="../media/image19.png"  /><Relationship Id="rId7" Type="http://schemas.openxmlformats.org/officeDocument/2006/relationships/notesSlide" Target="../notesSlides/notesSlide10.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  /><Relationship Id="rId10" Type="http://schemas.openxmlformats.org/officeDocument/2006/relationships/notesSlide" Target="../notesSlides/notesSlide11.xml"  /><Relationship Id="rId2" Type="http://schemas.openxmlformats.org/officeDocument/2006/relationships/image" Target="../media/image2.png"  /><Relationship Id="rId3" Type="http://schemas.openxmlformats.org/officeDocument/2006/relationships/image" Target="../media/image3.jpeg"  /><Relationship Id="rId4" Type="http://schemas.openxmlformats.org/officeDocument/2006/relationships/image" Target="../media/image4.jpeg"  /><Relationship Id="rId5" Type="http://schemas.openxmlformats.org/officeDocument/2006/relationships/image" Target="../media/image5.jpeg"  /><Relationship Id="rId6" Type="http://schemas.openxmlformats.org/officeDocument/2006/relationships/image" Target="../media/image20.png"  /><Relationship Id="rId7" Type="http://schemas.openxmlformats.org/officeDocument/2006/relationships/image" Target="../media/image21.png"  /><Relationship Id="rId8" Type="http://schemas.openxmlformats.org/officeDocument/2006/relationships/image" Target="../media/image22.png"  /><Relationship Id="rId9" Type="http://schemas.openxmlformats.org/officeDocument/2006/relationships/image" Target="../media/image23.png"  /></Relationships>
</file>

<file path=ppt/slides/_rels/slide12.xml.rels><?xml version="1.0" encoding="UTF-8" standalone="yes" ?><Relationships xmlns="http://schemas.openxmlformats.org/package/2006/relationships"><Relationship Id="rId1" Type="http://schemas.openxmlformats.org/officeDocument/2006/relationships/notesSlide" Target="../notesSlides/notesSlide12.xml"  /><Relationship Id="rId2" Type="http://schemas.openxmlformats.org/officeDocument/2006/relationships/slideLayout" Target="../slideLayouts/slideLayout7.xml"  /><Relationship Id="rId3" Type="http://schemas.openxmlformats.org/officeDocument/2006/relationships/image" Target="../media/image2.png"  /><Relationship Id="rId4" Type="http://schemas.openxmlformats.org/officeDocument/2006/relationships/image" Target="../media/image12.png"  /><Relationship Id="rId5" Type="http://schemas.openxmlformats.org/officeDocument/2006/relationships/image" Target="../media/image13.svg"  /></Relationships>
</file>

<file path=ppt/slides/_rels/slide13.xml.rels><?xml version="1.0" encoding="UTF-8" standalone="yes" ?><Relationships xmlns="http://schemas.openxmlformats.org/package/2006/relationships"><Relationship Id="rId1" Type="http://schemas.openxmlformats.org/officeDocument/2006/relationships/notesSlide" Target="../notesSlides/notesSlide13.xml"  /><Relationship Id="rId2" Type="http://schemas.openxmlformats.org/officeDocument/2006/relationships/slideLayout" Target="../slideLayouts/slideLayout7.xml"  /><Relationship Id="rId3" Type="http://schemas.openxmlformats.org/officeDocument/2006/relationships/image" Target="../media/image2.png"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image" Target="../media/image12.png"  /><Relationship Id="rId4" Type="http://schemas.openxmlformats.org/officeDocument/2006/relationships/image" Target="../media/image13.svg"  /><Relationship Id="rId5" Type="http://schemas.openxmlformats.org/officeDocument/2006/relationships/notesSlide" Target="../notesSlides/notesSlide14.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2.png"  /><Relationship Id="rId3" Type="http://schemas.openxmlformats.org/officeDocument/2006/relationships/image" Target="../media/image14.png"  /><Relationship Id="rId4" Type="http://schemas.openxmlformats.org/officeDocument/2006/relationships/image" Target="../media/image15.svg"  /><Relationship Id="rId5" Type="http://schemas.openxmlformats.org/officeDocument/2006/relationships/image" Target="../media/image16.png"  /><Relationship Id="rId6" Type="http://schemas.openxmlformats.org/officeDocument/2006/relationships/image" Target="../media/image17.svg"  /><Relationship Id="rId7" Type="http://schemas.openxmlformats.org/officeDocument/2006/relationships/notesSlide" Target="../notesSlides/notesSlide15.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 Id="rId2" Type="http://schemas.openxmlformats.org/officeDocument/2006/relationships/image" Target="../media/image1.png"  /><Relationship Id="rId3" Type="http://schemas.openxmlformats.org/officeDocument/2006/relationships/notesSlide" Target="../notesSlides/notesSlide16.xml"  /></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401645" y="8203294"/>
            <a:ext cx="15484709" cy="892357"/>
            <a:chOff x="0" y="0"/>
            <a:chExt cx="4078277" cy="235024"/>
          </a:xfrm>
        </p:grpSpPr>
        <p:sp>
          <p:nvSpPr>
            <p:cNvPr name="Freeform 4" id="4"/>
            <p:cNvSpPr/>
            <p:nvPr/>
          </p:nvSpPr>
          <p:spPr>
            <a:xfrm flipH="false" flipV="false" rot="0">
              <a:off x="0" y="0"/>
              <a:ext cx="4078277" cy="235024"/>
            </a:xfrm>
            <a:custGeom>
              <a:avLst/>
              <a:gdLst/>
              <a:ahLst/>
              <a:cxnLst/>
              <a:rect r="r" b="b" t="t" l="l"/>
              <a:pathLst>
                <a:path h="235024" w="4078277">
                  <a:moveTo>
                    <a:pt x="13499" y="0"/>
                  </a:moveTo>
                  <a:lnTo>
                    <a:pt x="4064778" y="0"/>
                  </a:lnTo>
                  <a:cubicBezTo>
                    <a:pt x="4072234" y="0"/>
                    <a:pt x="4078277" y="6044"/>
                    <a:pt x="4078277" y="13499"/>
                  </a:cubicBezTo>
                  <a:lnTo>
                    <a:pt x="4078277" y="221525"/>
                  </a:lnTo>
                  <a:cubicBezTo>
                    <a:pt x="4078277" y="228980"/>
                    <a:pt x="4072234" y="235024"/>
                    <a:pt x="4064778" y="235024"/>
                  </a:cubicBezTo>
                  <a:lnTo>
                    <a:pt x="13499" y="235024"/>
                  </a:lnTo>
                  <a:cubicBezTo>
                    <a:pt x="9919" y="235024"/>
                    <a:pt x="6485" y="233602"/>
                    <a:pt x="3954" y="231070"/>
                  </a:cubicBezTo>
                  <a:cubicBezTo>
                    <a:pt x="1422" y="228539"/>
                    <a:pt x="0" y="225105"/>
                    <a:pt x="0" y="221525"/>
                  </a:cubicBezTo>
                  <a:lnTo>
                    <a:pt x="0" y="13499"/>
                  </a:lnTo>
                  <a:cubicBezTo>
                    <a:pt x="0" y="6044"/>
                    <a:pt x="6044" y="0"/>
                    <a:pt x="13499" y="0"/>
                  </a:cubicBezTo>
                  <a:close/>
                </a:path>
              </a:pathLst>
            </a:custGeom>
            <a:solidFill>
              <a:srgbClr val="FFFFFF"/>
            </a:solidFill>
            <a:ln cap="rnd">
              <a:noFill/>
              <a:prstDash val="solid"/>
              <a:round/>
            </a:ln>
          </p:spPr>
        </p:sp>
        <p:sp>
          <p:nvSpPr>
            <p:cNvPr name="TextBox 5" id="5"/>
            <p:cNvSpPr txBox="true"/>
            <p:nvPr/>
          </p:nvSpPr>
          <p:spPr>
            <a:xfrm>
              <a:off x="0" y="-38100"/>
              <a:ext cx="4078277" cy="27312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4751400" y="3223963"/>
            <a:ext cx="8785201" cy="1498697"/>
          </a:xfrm>
          <a:prstGeom prst="rect">
            <a:avLst/>
          </a:prstGeom>
        </p:spPr>
        <p:txBody>
          <a:bodyPr anchor="t" rtlCol="false" tIns="0" lIns="0" bIns="0" rIns="0">
            <a:spAutoFit/>
          </a:bodyPr>
          <a:lstStyle/>
          <a:p>
            <a:pPr algn="ctr">
              <a:lnSpc>
                <a:spcPts val="12116"/>
              </a:lnSpc>
              <a:spcBef>
                <a:spcPct val="0"/>
              </a:spcBef>
            </a:pPr>
            <a:r>
              <a:rPr lang="en-US" sz="8654">
                <a:solidFill>
                  <a:srgbClr val="262626"/>
                </a:solidFill>
                <a:latin typeface="프리텐다드"/>
                <a:ea typeface="프리텐다드"/>
                <a:cs typeface="프리텐다드"/>
                <a:sym typeface="프리텐다드"/>
              </a:rPr>
              <a:t>Step 1</a:t>
            </a:r>
          </a:p>
        </p:txBody>
      </p:sp>
      <p:sp>
        <p:nvSpPr>
          <p:cNvPr name="TextBox 7" id="7"/>
          <p:cNvSpPr txBox="true"/>
          <p:nvPr/>
        </p:nvSpPr>
        <p:spPr>
          <a:xfrm rot="0">
            <a:off x="2286000" y="4580639"/>
            <a:ext cx="13716000" cy="1610902"/>
          </a:xfrm>
          <a:prstGeom prst="rect">
            <a:avLst/>
          </a:prstGeom>
        </p:spPr>
        <p:txBody>
          <a:bodyPr anchor="t" rtlCol="false" tIns="0" lIns="0" bIns="0" rIns="0">
            <a:spAutoFit/>
          </a:bodyPr>
          <a:lstStyle/>
          <a:p>
            <a:pPr algn="ctr">
              <a:lnSpc>
                <a:spcPts val="13060"/>
              </a:lnSpc>
              <a:spcBef>
                <a:spcPct val="0"/>
              </a:spcBef>
            </a:pPr>
            <a:r>
              <a:rPr lang="en-US" b="true" sz="9328">
                <a:solidFill>
                  <a:srgbClr val="262626"/>
                </a:solidFill>
                <a:latin typeface="프리텐다드 Ultra-Bold"/>
                <a:ea typeface="프리텐다드 Ultra-Bold"/>
                <a:cs typeface="프리텐다드 Ultra-Bold"/>
                <a:sym typeface="프리텐다드 Ultra-Bold"/>
              </a:rPr>
              <a:t>침입 드론 궤적 생성</a:t>
            </a:r>
          </a:p>
        </p:txBody>
      </p:sp>
      <p:sp>
        <p:nvSpPr>
          <p:cNvPr name="TextBox 8" id="8"/>
          <p:cNvSpPr txBox="true"/>
          <p:nvPr/>
        </p:nvSpPr>
        <p:spPr>
          <a:xfrm rot="0">
            <a:off x="4409117" y="2152860"/>
            <a:ext cx="9469765" cy="430768"/>
          </a:xfrm>
          <a:prstGeom prst="rect">
            <a:avLst/>
          </a:prstGeom>
        </p:spPr>
        <p:txBody>
          <a:bodyPr anchor="t" rtlCol="false" tIns="0" lIns="0" bIns="0" rIns="0">
            <a:spAutoFit/>
          </a:bodyPr>
          <a:lstStyle/>
          <a:p>
            <a:pPr algn="ctr">
              <a:lnSpc>
                <a:spcPts val="3556"/>
              </a:lnSpc>
              <a:spcBef>
                <a:spcPct val="0"/>
              </a:spcBef>
            </a:pPr>
            <a:r>
              <a:rPr lang="en-US" sz="2540" spc="177">
                <a:solidFill>
                  <a:srgbClr val="262626"/>
                </a:solidFill>
                <a:latin typeface="프리텐다드 Light"/>
                <a:ea typeface="프리텐다드 Light"/>
                <a:cs typeface="프리텐다드 Light"/>
                <a:sym typeface="프리텐다드 Light"/>
              </a:rPr>
              <a:t>AIoT 액추에이터 프로젝트 · 자율 추적형 드론 포획 시스템</a:t>
            </a:r>
          </a:p>
        </p:txBody>
      </p:sp>
      <p:sp>
        <p:nvSpPr>
          <p:cNvPr name="TextBox 9" id="9"/>
          <p:cNvSpPr txBox="true"/>
          <p:nvPr/>
        </p:nvSpPr>
        <p:spPr>
          <a:xfrm rot="0">
            <a:off x="10927080" y="8456997"/>
            <a:ext cx="2011680" cy="337326"/>
          </a:xfrm>
          <a:prstGeom prst="rect">
            <a:avLst/>
          </a:prstGeom>
        </p:spPr>
        <p:txBody>
          <a:bodyPr anchor="t" rtlCol="false" tIns="0" lIns="0" bIns="0" rIns="0">
            <a:spAutoFit/>
          </a:bodyPr>
          <a:lstStyle/>
          <a:p>
            <a:pPr algn="just">
              <a:lnSpc>
                <a:spcPts val="2717"/>
              </a:lnSpc>
            </a:pPr>
            <a:r>
              <a:rPr lang="en-US" sz="1941" spc="141">
                <a:solidFill>
                  <a:srgbClr val="262626"/>
                </a:solidFill>
                <a:latin typeface="프리텐다드"/>
                <a:ea typeface="프리텐다드"/>
                <a:cs typeface="프리텐다드"/>
                <a:sym typeface="프리텐다드"/>
              </a:rPr>
              <a:t>2001205</a:t>
            </a:r>
          </a:p>
        </p:txBody>
      </p:sp>
      <p:sp>
        <p:nvSpPr>
          <p:cNvPr name="TextBox 12" id="12"/>
          <p:cNvSpPr txBox="true"/>
          <p:nvPr/>
        </p:nvSpPr>
        <p:spPr>
          <a:xfrm rot="0">
            <a:off x="5852160" y="8456997"/>
            <a:ext cx="1188720" cy="337326"/>
          </a:xfrm>
          <a:prstGeom prst="rect">
            <a:avLst/>
          </a:prstGeom>
        </p:spPr>
        <p:txBody>
          <a:bodyPr anchor="t" rtlCol="false" tIns="0" lIns="0" bIns="0" rIns="0">
            <a:spAutoFit/>
          </a:bodyPr>
          <a:lstStyle/>
          <a:p>
            <a:pPr algn="just">
              <a:lnSpc>
                <a:spcPts val="2717"/>
              </a:lnSpc>
            </a:pPr>
            <a:r>
              <a:rPr lang="en-US" sz="1941" spc="141">
                <a:solidFill>
                  <a:srgbClr val="262626"/>
                </a:solidFill>
                <a:latin typeface="프리텐다드"/>
                <a:ea typeface="프리텐다드"/>
                <a:cs typeface="프리텐다드"/>
                <a:sym typeface="프리텐다드"/>
              </a:rPr>
              <a:t>발표자</a:t>
            </a:r>
          </a:p>
        </p:txBody>
      </p:sp>
      <p:sp>
        <p:nvSpPr>
          <p:cNvPr name="TextBox 13" id="13"/>
          <p:cNvSpPr txBox="true"/>
          <p:nvPr/>
        </p:nvSpPr>
        <p:spPr>
          <a:xfrm rot="0">
            <a:off x="10058400" y="8456997"/>
            <a:ext cx="822960" cy="337326"/>
          </a:xfrm>
          <a:prstGeom prst="rect">
            <a:avLst/>
          </a:prstGeom>
        </p:spPr>
        <p:txBody>
          <a:bodyPr anchor="t" rtlCol="false" tIns="0" lIns="0" bIns="0" rIns="0">
            <a:spAutoFit/>
          </a:bodyPr>
          <a:lstStyle/>
          <a:p>
            <a:pPr algn="just">
              <a:lnSpc>
                <a:spcPts val="2717"/>
              </a:lnSpc>
            </a:pPr>
            <a:r>
              <a:rPr lang="en-US" sz="1941" spc="141">
                <a:solidFill>
                  <a:srgbClr val="262626"/>
                </a:solidFill>
                <a:latin typeface="프리텐다드"/>
                <a:ea typeface="프리텐다드"/>
                <a:cs typeface="프리텐다드"/>
                <a:sym typeface="프리텐다드"/>
              </a:rPr>
              <a:t>학번</a:t>
            </a:r>
          </a:p>
        </p:txBody>
      </p:sp>
      <p:sp>
        <p:nvSpPr>
          <p:cNvPr name="TextBox 14" id="14"/>
          <p:cNvSpPr txBox="true"/>
          <p:nvPr/>
        </p:nvSpPr>
        <p:spPr>
          <a:xfrm rot="0">
            <a:off x="7086600" y="8456997"/>
            <a:ext cx="1828800" cy="337326"/>
          </a:xfrm>
          <a:prstGeom prst="rect">
            <a:avLst/>
          </a:prstGeom>
        </p:spPr>
        <p:txBody>
          <a:bodyPr anchor="t" rtlCol="false" tIns="0" lIns="0" bIns="0" rIns="0">
            <a:spAutoFit/>
          </a:bodyPr>
          <a:lstStyle/>
          <a:p>
            <a:pPr algn="just">
              <a:lnSpc>
                <a:spcPts val="2717"/>
              </a:lnSpc>
            </a:pPr>
            <a:r>
              <a:rPr lang="en-US" sz="1941" spc="141">
                <a:solidFill>
                  <a:srgbClr val="262626"/>
                </a:solidFill>
                <a:latin typeface="프리텐다드"/>
                <a:ea typeface="프리텐다드"/>
                <a:cs typeface="프리텐다드"/>
                <a:sym typeface="프리텐다드"/>
              </a:rPr>
              <a:t>유민형</a:t>
            </a:r>
          </a:p>
        </p:txBody>
      </p:sp>
      <p:sp>
        <p:nvSpPr>
          <p:cNvPr name="AutoShape 15" id="15"/>
          <p:cNvSpPr/>
          <p:nvPr/>
        </p:nvSpPr>
        <p:spPr>
          <a:xfrm>
            <a:off x="1401645" y="1038225"/>
            <a:ext cx="15484709" cy="0"/>
          </a:xfrm>
          <a:prstGeom prst="line">
            <a:avLst/>
          </a:prstGeom>
          <a:ln cap="flat" w="19050">
            <a:solidFill>
              <a:srgbClr val="FFFFFF"/>
            </a:solidFill>
            <a:prstDash val="solid"/>
            <a:headEnd type="none" len="sm" w="sm"/>
            <a:tailEnd type="none" len="sm" w="sm"/>
          </a:ln>
        </p:spPr>
      </p:sp>
    </p:spTree>
  </p:cSld>
  <p:clrMapOvr>
    <a:masterClrMapping/>
  </p:clrMapOvr>
</p:sld>
</file>

<file path=ppt/slides/slide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313" r="0" b="-9313"/>
            </a:stretch>
          </a:blipFill>
        </p:spPr>
      </p:sp>
      <p:sp>
        <p:nvSpPr>
          <p:cNvPr name="TextBox 3" id="3"/>
          <p:cNvSpPr txBox="true"/>
          <p:nvPr/>
        </p:nvSpPr>
        <p:spPr>
          <a:xfrm rot="0">
            <a:off x="5634823" y="1695019"/>
            <a:ext cx="7018353" cy="1090855"/>
          </a:xfrm>
          <a:prstGeom prst="rect">
            <a:avLst/>
          </a:prstGeom>
        </p:spPr>
        <p:txBody>
          <a:bodyPr anchor="t" rtlCol="false" tIns="0" lIns="0" bIns="0" rIns="0">
            <a:spAutoFit/>
          </a:bodyPr>
          <a:lstStyle/>
          <a:p>
            <a:pPr algn="ctr">
              <a:lnSpc>
                <a:spcPts val="8803"/>
              </a:lnSpc>
              <a:spcBef>
                <a:spcPct val="0"/>
              </a:spcBef>
            </a:pPr>
            <a:r>
              <a:rPr lang="en-US" b="true" sz="6288">
                <a:solidFill>
                  <a:srgbClr val="262626"/>
                </a:solidFill>
                <a:latin typeface="프리텐다드 Ultra-Bold"/>
                <a:ea typeface="프리텐다드 Ultra-Bold"/>
                <a:cs typeface="프리텐다드 Ultra-Bold"/>
                <a:sym typeface="프리텐다드 Ultra-Bold"/>
              </a:rPr>
              <a:t>CONTENTS</a:t>
            </a:r>
          </a:p>
        </p:txBody>
      </p:sp>
      <p:grpSp>
        <p:nvGrpSpPr>
          <p:cNvPr name="Group 4" id="4"/>
          <p:cNvGrpSpPr/>
          <p:nvPr/>
        </p:nvGrpSpPr>
        <p:grpSpPr>
          <a:xfrm rot="0">
            <a:off x="1401645" y="3395474"/>
            <a:ext cx="15484709" cy="5689725"/>
            <a:chOff x="0" y="0"/>
            <a:chExt cx="4078277" cy="1498528"/>
          </a:xfrm>
        </p:grpSpPr>
        <p:sp>
          <p:nvSpPr>
            <p:cNvPr name="Freeform 5" id="5"/>
            <p:cNvSpPr/>
            <p:nvPr/>
          </p:nvSpPr>
          <p:spPr>
            <a:xfrm flipH="false" flipV="false" rot="0">
              <a:off x="0" y="0"/>
              <a:ext cx="4078277" cy="1498528"/>
            </a:xfrm>
            <a:custGeom>
              <a:avLst/>
              <a:gdLst/>
              <a:ahLst/>
              <a:cxnLst/>
              <a:rect r="r" b="b" t="t" l="l"/>
              <a:pathLst>
                <a:path h="1498528" w="4078277">
                  <a:moveTo>
                    <a:pt x="21499" y="0"/>
                  </a:moveTo>
                  <a:lnTo>
                    <a:pt x="4056779" y="0"/>
                  </a:lnTo>
                  <a:cubicBezTo>
                    <a:pt x="4068652" y="0"/>
                    <a:pt x="4078277" y="9625"/>
                    <a:pt x="4078277" y="21499"/>
                  </a:cubicBezTo>
                  <a:lnTo>
                    <a:pt x="4078277" y="1477030"/>
                  </a:lnTo>
                  <a:cubicBezTo>
                    <a:pt x="4078277" y="1482731"/>
                    <a:pt x="4076012" y="1488200"/>
                    <a:pt x="4071981" y="1492232"/>
                  </a:cubicBezTo>
                  <a:cubicBezTo>
                    <a:pt x="4067949" y="1496263"/>
                    <a:pt x="4062480" y="1498528"/>
                    <a:pt x="4056779" y="1498528"/>
                  </a:cubicBezTo>
                  <a:lnTo>
                    <a:pt x="21499" y="1498528"/>
                  </a:lnTo>
                  <a:cubicBezTo>
                    <a:pt x="9625" y="1498528"/>
                    <a:pt x="0" y="1488903"/>
                    <a:pt x="0" y="1477030"/>
                  </a:cubicBezTo>
                  <a:lnTo>
                    <a:pt x="0" y="21499"/>
                  </a:lnTo>
                  <a:cubicBezTo>
                    <a:pt x="0" y="15797"/>
                    <a:pt x="2265" y="10329"/>
                    <a:pt x="6297" y="6297"/>
                  </a:cubicBezTo>
                  <a:cubicBezTo>
                    <a:pt x="10329" y="2265"/>
                    <a:pt x="15797" y="0"/>
                    <a:pt x="21499" y="0"/>
                  </a:cubicBezTo>
                  <a:close/>
                </a:path>
              </a:pathLst>
            </a:custGeom>
            <a:solidFill>
              <a:srgbClr val="FFFFFF"/>
            </a:solidFill>
            <a:ln cap="rnd">
              <a:noFill/>
              <a:prstDash val="solid"/>
              <a:round/>
            </a:ln>
          </p:spPr>
        </p:sp>
        <p:sp>
          <p:nvSpPr>
            <p:cNvPr name="TextBox 6" id="6"/>
            <p:cNvSpPr txBox="true"/>
            <p:nvPr/>
          </p:nvSpPr>
          <p:spPr>
            <a:xfrm>
              <a:off x="0" y="-38100"/>
              <a:ext cx="4078277" cy="153662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7" id="7"/>
          <p:cNvSpPr txBox="true"/>
          <p:nvPr/>
        </p:nvSpPr>
        <p:spPr>
          <a:xfrm rot="0">
            <a:off x="5358384" y="4014215"/>
            <a:ext cx="3638916" cy="510753"/>
          </a:xfrm>
          <a:prstGeom prst="rect">
            <a:avLst/>
          </a:prstGeom>
        </p:spPr>
        <p:txBody>
          <a:bodyPr anchor="t" rtlCol="false" tIns="0" lIns="0" bIns="0" rIns="0">
            <a:spAutoFit/>
          </a:bodyPr>
          <a:lstStyle/>
          <a:p>
            <a:pPr algn="l" marL="0" indent="0" lvl="0">
              <a:lnSpc>
                <a:spcPts val="4181"/>
              </a:lnSpc>
            </a:pPr>
            <a:r>
              <a:rPr lang="en-US" b="true" sz="2986">
                <a:solidFill>
                  <a:srgbClr val="262626"/>
                </a:solidFill>
                <a:latin typeface="프리텐다드 Medium"/>
                <a:ea typeface="프리텐다드 Medium"/>
                <a:cs typeface="프리텐다드 Medium"/>
                <a:sym typeface="프리텐다드 Medium"/>
              </a:rPr>
              <a:t>프로젝트 개요</a:t>
            </a:r>
          </a:p>
        </p:txBody>
      </p:sp>
      <p:sp>
        <p:nvSpPr>
          <p:cNvPr name="TextBox 8" id="8"/>
          <p:cNvSpPr txBox="true"/>
          <p:nvPr/>
        </p:nvSpPr>
        <p:spPr>
          <a:xfrm rot="0">
            <a:off x="4370832" y="3977639"/>
            <a:ext cx="694161" cy="547370"/>
          </a:xfrm>
          <a:prstGeom prst="rect">
            <a:avLst/>
          </a:prstGeom>
        </p:spPr>
        <p:txBody>
          <a:bodyPr anchor="t" rtlCol="false" tIns="0" lIns="0" bIns="0" rIns="0">
            <a:spAutoFit/>
          </a:bodyPr>
          <a:lstStyle/>
          <a:p>
            <a:pPr algn="ctr" marL="0" indent="0" lvl="0">
              <a:lnSpc>
                <a:spcPts val="4480"/>
              </a:lnSpc>
            </a:pPr>
            <a:r>
              <a:rPr lang="en-US" b="true" sz="3200">
                <a:solidFill>
                  <a:srgbClr val="6994D4"/>
                </a:solidFill>
                <a:latin typeface="프리텐다드 Bold"/>
                <a:ea typeface="프리텐다드 Bold"/>
                <a:cs typeface="프리텐다드 Bold"/>
                <a:sym typeface="프리텐다드 Bold"/>
              </a:rPr>
              <a:t>01</a:t>
            </a:r>
          </a:p>
        </p:txBody>
      </p:sp>
      <p:sp>
        <p:nvSpPr>
          <p:cNvPr name="TextBox 9" id="9"/>
          <p:cNvSpPr txBox="true"/>
          <p:nvPr/>
        </p:nvSpPr>
        <p:spPr>
          <a:xfrm rot="0">
            <a:off x="5358384" y="5989320"/>
            <a:ext cx="3638916" cy="510753"/>
          </a:xfrm>
          <a:prstGeom prst="rect">
            <a:avLst/>
          </a:prstGeom>
        </p:spPr>
        <p:txBody>
          <a:bodyPr anchor="t" rtlCol="false" tIns="0" lIns="0" bIns="0" rIns="0">
            <a:spAutoFit/>
          </a:bodyPr>
          <a:lstStyle/>
          <a:p>
            <a:pPr algn="l" marL="0" indent="0" lvl="0">
              <a:lnSpc>
                <a:spcPts val="4181"/>
              </a:lnSpc>
            </a:pPr>
            <a:r>
              <a:rPr lang="en-US" b="true" sz="2986">
                <a:solidFill>
                  <a:srgbClr val="262626"/>
                </a:solidFill>
                <a:latin typeface="프리텐다드 Medium"/>
                <a:ea typeface="프리텐다드 Medium"/>
                <a:cs typeface="프리텐다드 Medium"/>
                <a:sym typeface="프리텐다드 Medium"/>
              </a:rPr>
              <a:t>사용된 논문</a:t>
            </a:r>
          </a:p>
        </p:txBody>
      </p:sp>
      <p:sp>
        <p:nvSpPr>
          <p:cNvPr name="TextBox 10" id="10"/>
          <p:cNvSpPr txBox="true"/>
          <p:nvPr/>
        </p:nvSpPr>
        <p:spPr>
          <a:xfrm rot="0">
            <a:off x="4370832" y="5952744"/>
            <a:ext cx="694161" cy="547370"/>
          </a:xfrm>
          <a:prstGeom prst="rect">
            <a:avLst/>
          </a:prstGeom>
        </p:spPr>
        <p:txBody>
          <a:bodyPr anchor="t" rtlCol="false" tIns="0" lIns="0" bIns="0" rIns="0">
            <a:spAutoFit/>
          </a:bodyPr>
          <a:lstStyle/>
          <a:p>
            <a:pPr algn="ctr" marL="0" indent="0" lvl="0">
              <a:lnSpc>
                <a:spcPts val="4480"/>
              </a:lnSpc>
            </a:pPr>
            <a:r>
              <a:rPr lang="en-US" b="true" sz="3200">
                <a:solidFill>
                  <a:srgbClr val="6994D4"/>
                </a:solidFill>
                <a:latin typeface="프리텐다드 Bold"/>
                <a:ea typeface="프리텐다드 Bold"/>
                <a:cs typeface="프리텐다드 Bold"/>
                <a:sym typeface="프리텐다드 Bold"/>
              </a:rPr>
              <a:t>03</a:t>
            </a:r>
          </a:p>
        </p:txBody>
      </p:sp>
      <p:sp>
        <p:nvSpPr>
          <p:cNvPr name="TextBox 11" id="11"/>
          <p:cNvSpPr txBox="true"/>
          <p:nvPr/>
        </p:nvSpPr>
        <p:spPr>
          <a:xfrm rot="0">
            <a:off x="5358384" y="5001768"/>
            <a:ext cx="3638916" cy="510753"/>
          </a:xfrm>
          <a:prstGeom prst="rect">
            <a:avLst/>
          </a:prstGeom>
        </p:spPr>
        <p:txBody>
          <a:bodyPr anchor="t" rtlCol="false" tIns="0" lIns="0" bIns="0" rIns="0">
            <a:spAutoFit/>
          </a:bodyPr>
          <a:lstStyle/>
          <a:p>
            <a:pPr algn="l" marL="0" indent="0" lvl="0">
              <a:lnSpc>
                <a:spcPts val="4181"/>
              </a:lnSpc>
              <a:spcBef>
                <a:spcPct val="0"/>
              </a:spcBef>
            </a:pPr>
            <a:r>
              <a:rPr lang="en-US" b="true" sz="2986">
                <a:solidFill>
                  <a:srgbClr val="262626"/>
                </a:solidFill>
                <a:latin typeface="프리텐다드 Medium"/>
                <a:ea typeface="프리텐다드 Medium"/>
                <a:cs typeface="프리텐다드 Medium"/>
                <a:sym typeface="프리텐다드 Medium"/>
              </a:rPr>
              <a:t>사용된 툴과 수식</a:t>
            </a:r>
          </a:p>
        </p:txBody>
      </p:sp>
      <p:sp>
        <p:nvSpPr>
          <p:cNvPr name="TextBox 12" id="12"/>
          <p:cNvSpPr txBox="true"/>
          <p:nvPr/>
        </p:nvSpPr>
        <p:spPr>
          <a:xfrm rot="0">
            <a:off x="4370832" y="4965192"/>
            <a:ext cx="694161" cy="547370"/>
          </a:xfrm>
          <a:prstGeom prst="rect">
            <a:avLst/>
          </a:prstGeom>
        </p:spPr>
        <p:txBody>
          <a:bodyPr anchor="t" rtlCol="false" tIns="0" lIns="0" bIns="0" rIns="0">
            <a:spAutoFit/>
          </a:bodyPr>
          <a:lstStyle/>
          <a:p>
            <a:pPr algn="ctr" marL="0" indent="0" lvl="0">
              <a:lnSpc>
                <a:spcPts val="4480"/>
              </a:lnSpc>
              <a:spcBef>
                <a:spcPct val="0"/>
              </a:spcBef>
            </a:pPr>
            <a:r>
              <a:rPr lang="en-US" b="true" sz="3200">
                <a:solidFill>
                  <a:srgbClr val="6994D4"/>
                </a:solidFill>
                <a:latin typeface="프리텐다드 Bold"/>
                <a:ea typeface="프리텐다드 Bold"/>
                <a:cs typeface="프리텐다드 Bold"/>
                <a:sym typeface="프리텐다드 Bold"/>
              </a:rPr>
              <a:t>02</a:t>
            </a:r>
          </a:p>
        </p:txBody>
      </p:sp>
      <p:sp>
        <p:nvSpPr>
          <p:cNvPr id="13" name="TextBox 13"/>
          <p:cNvSpPr txBox="1"/>
          <p:nvPr/>
        </p:nvSpPr>
        <p:spPr>
          <a:xfrm>
            <a:off x="11283696" y="4507992"/>
            <a:ext cx="3638916" cy="530733"/>
          </a:xfrm>
          <a:prstGeom prst="rect">
            <a:avLst/>
          </a:prstGeom>
        </p:spPr>
        <p:txBody>
          <a:bodyPr lIns="0" tIns="0" rIns="0" bIns="0" anchor="t">
            <a:spAutoFit/>
          </a:bodyPr>
          <a:lstStyle/>
          <a:p>
            <a:pPr marL="0" lvl="0" indent="0" algn="l">
              <a:lnSpc>
                <a:spcPts val="4181"/>
              </a:lnSpc>
              <a:spcBef>
                <a:spcPct val="0"/>
              </a:spcBef>
              <a:defRPr/>
            </a:pPr>
            <a:r>
              <a:rPr lang="ko-KR" altLang="en-US" sz="2986" b="1">
                <a:solidFill>
                  <a:srgbClr val="262626"/>
                </a:solidFill>
                <a:latin typeface="프리텐다드 Medium"/>
                <a:ea typeface="프리텐다드 Medium"/>
                <a:cs typeface="프리텐다드 Medium"/>
                <a:sym typeface="프리텐다드 Medium"/>
              </a:rPr>
              <a:t>모델 특징</a:t>
            </a:r>
            <a:endParaRPr lang="ko-KR" altLang="en-US" sz="2986" b="1">
              <a:solidFill>
                <a:srgbClr val="262626"/>
              </a:solidFill>
              <a:latin typeface="프리텐다드 Medium"/>
              <a:ea typeface="프리텐다드 Medium"/>
              <a:cs typeface="프리텐다드 Medium"/>
              <a:sym typeface="프리텐다드 Medium"/>
            </a:endParaRPr>
          </a:p>
        </p:txBody>
      </p:sp>
      <p:sp>
        <p:nvSpPr>
          <p:cNvPr name="TextBox 14" id="14"/>
          <p:cNvSpPr txBox="true"/>
          <p:nvPr/>
        </p:nvSpPr>
        <p:spPr>
          <a:xfrm rot="0">
            <a:off x="10296144" y="4471416"/>
            <a:ext cx="694161" cy="547370"/>
          </a:xfrm>
          <a:prstGeom prst="rect">
            <a:avLst/>
          </a:prstGeom>
        </p:spPr>
        <p:txBody>
          <a:bodyPr anchor="t" rtlCol="false" tIns="0" lIns="0" bIns="0" rIns="0">
            <a:spAutoFit/>
          </a:bodyPr>
          <a:lstStyle/>
          <a:p>
            <a:pPr algn="ctr" marL="0" indent="0" lvl="0">
              <a:lnSpc>
                <a:spcPts val="4480"/>
              </a:lnSpc>
            </a:pPr>
            <a:r>
              <a:rPr lang="en-US" b="true" sz="3200">
                <a:solidFill>
                  <a:srgbClr val="6994D4"/>
                </a:solidFill>
                <a:latin typeface="프리텐다드 Bold"/>
                <a:ea typeface="프리텐다드 Bold"/>
                <a:cs typeface="프리텐다드 Bold"/>
                <a:sym typeface="프리텐다드 Bold"/>
              </a:rPr>
              <a:t>06</a:t>
            </a:r>
          </a:p>
        </p:txBody>
      </p:sp>
      <p:sp>
        <p:nvSpPr>
          <p:cNvPr name="TextBox 15" id="15"/>
          <p:cNvSpPr txBox="true"/>
          <p:nvPr/>
        </p:nvSpPr>
        <p:spPr>
          <a:xfrm rot="0">
            <a:off x="11283696" y="6483096"/>
            <a:ext cx="3638916" cy="510753"/>
          </a:xfrm>
          <a:prstGeom prst="rect">
            <a:avLst/>
          </a:prstGeom>
        </p:spPr>
        <p:txBody>
          <a:bodyPr anchor="t" rtlCol="false" tIns="0" lIns="0" bIns="0" rIns="0">
            <a:spAutoFit/>
          </a:bodyPr>
          <a:lstStyle/>
          <a:p>
            <a:pPr algn="l" marL="0" indent="0" lvl="0">
              <a:lnSpc>
                <a:spcPts val="4181"/>
              </a:lnSpc>
            </a:pPr>
            <a:r>
              <a:rPr lang="en-US" b="true" sz="2986">
                <a:solidFill>
                  <a:srgbClr val="262626"/>
                </a:solidFill>
                <a:latin typeface="프리텐다드 Medium"/>
                <a:ea typeface="프리텐다드 Medium"/>
                <a:cs typeface="프리텐다드 Medium"/>
                <a:sym typeface="프리텐다드 Medium"/>
              </a:rPr>
              <a:t>결론 및 향후 계획</a:t>
            </a:r>
          </a:p>
        </p:txBody>
      </p:sp>
      <p:sp>
        <p:nvSpPr>
          <p:cNvPr name="TextBox 16" id="16"/>
          <p:cNvSpPr txBox="true"/>
          <p:nvPr/>
        </p:nvSpPr>
        <p:spPr>
          <a:xfrm rot="0">
            <a:off x="10296144" y="6446520"/>
            <a:ext cx="694161" cy="547370"/>
          </a:xfrm>
          <a:prstGeom prst="rect">
            <a:avLst/>
          </a:prstGeom>
        </p:spPr>
        <p:txBody>
          <a:bodyPr anchor="t" rtlCol="false" tIns="0" lIns="0" bIns="0" rIns="0">
            <a:spAutoFit/>
          </a:bodyPr>
          <a:lstStyle/>
          <a:p>
            <a:pPr algn="ctr" marL="0" indent="0" lvl="0">
              <a:lnSpc>
                <a:spcPts val="4480"/>
              </a:lnSpc>
            </a:pPr>
            <a:r>
              <a:rPr lang="en-US" b="true" sz="3200">
                <a:solidFill>
                  <a:srgbClr val="6994D4"/>
                </a:solidFill>
                <a:latin typeface="프리텐다드 Bold"/>
                <a:ea typeface="프리텐다드 Bold"/>
                <a:cs typeface="프리텐다드 Bold"/>
                <a:sym typeface="프리텐다드 Bold"/>
              </a:rPr>
              <a:t>08</a:t>
            </a:r>
          </a:p>
        </p:txBody>
      </p:sp>
      <p:sp>
        <p:nvSpPr>
          <p:cNvPr id="17" name="TextBox 17"/>
          <p:cNvSpPr txBox="1"/>
          <p:nvPr/>
        </p:nvSpPr>
        <p:spPr>
          <a:xfrm>
            <a:off x="11283696" y="5495544"/>
            <a:ext cx="3638916" cy="524256"/>
          </a:xfrm>
          <a:prstGeom prst="rect">
            <a:avLst/>
          </a:prstGeom>
        </p:spPr>
        <p:txBody>
          <a:bodyPr lIns="0" tIns="0" rIns="0" bIns="0" anchor="t">
            <a:spAutoFit/>
          </a:bodyPr>
          <a:lstStyle/>
          <a:p>
            <a:pPr marL="0" lvl="0" indent="0" algn="l">
              <a:lnSpc>
                <a:spcPts val="4181"/>
              </a:lnSpc>
              <a:spcBef>
                <a:spcPct val="0"/>
              </a:spcBef>
              <a:defRPr/>
            </a:pPr>
            <a:r>
              <a:rPr lang="ko-KR" altLang="en-US" sz="2986" b="1">
                <a:solidFill>
                  <a:srgbClr val="262626"/>
                </a:solidFill>
                <a:latin typeface="프리텐다드 Medium"/>
                <a:ea typeface="프리텐다드 Medium"/>
                <a:cs typeface="프리텐다드 Medium"/>
                <a:sym typeface="프리텐다드 Medium"/>
              </a:rPr>
              <a:t>개선 해야 할 점</a:t>
            </a:r>
            <a:endParaRPr lang="ko-KR" altLang="en-US" sz="2986" b="1">
              <a:solidFill>
                <a:srgbClr val="262626"/>
              </a:solidFill>
              <a:latin typeface="프리텐다드 Medium"/>
              <a:ea typeface="프리텐다드 Medium"/>
              <a:cs typeface="프리텐다드 Medium"/>
              <a:sym typeface="프리텐다드 Medium"/>
            </a:endParaRPr>
          </a:p>
        </p:txBody>
      </p:sp>
      <p:sp>
        <p:nvSpPr>
          <p:cNvPr name="TextBox 18" id="18"/>
          <p:cNvSpPr txBox="true"/>
          <p:nvPr/>
        </p:nvSpPr>
        <p:spPr>
          <a:xfrm rot="0">
            <a:off x="10296144" y="5458968"/>
            <a:ext cx="694161" cy="547370"/>
          </a:xfrm>
          <a:prstGeom prst="rect">
            <a:avLst/>
          </a:prstGeom>
        </p:spPr>
        <p:txBody>
          <a:bodyPr anchor="t" rtlCol="false" tIns="0" lIns="0" bIns="0" rIns="0">
            <a:spAutoFit/>
          </a:bodyPr>
          <a:lstStyle/>
          <a:p>
            <a:pPr algn="ctr" marL="0" indent="0" lvl="0">
              <a:lnSpc>
                <a:spcPts val="4480"/>
              </a:lnSpc>
              <a:spcBef>
                <a:spcPct val="0"/>
              </a:spcBef>
            </a:pPr>
            <a:r>
              <a:rPr lang="en-US" b="true" sz="3200">
                <a:solidFill>
                  <a:srgbClr val="6994D4"/>
                </a:solidFill>
                <a:latin typeface="프리텐다드 Bold"/>
                <a:ea typeface="프리텐다드 Bold"/>
                <a:cs typeface="프리텐다드 Bold"/>
                <a:sym typeface="프리텐다드 Bold"/>
              </a:rPr>
              <a:t>07</a:t>
            </a:r>
          </a:p>
        </p:txBody>
      </p:sp>
      <p:sp>
        <p:nvSpPr>
          <p:cNvPr name="AutoShape 25" id="25"/>
          <p:cNvSpPr/>
          <p:nvPr/>
        </p:nvSpPr>
        <p:spPr>
          <a:xfrm>
            <a:off x="1401645" y="1038225"/>
            <a:ext cx="15484709" cy="0"/>
          </a:xfrm>
          <a:prstGeom prst="line">
            <a:avLst/>
          </a:prstGeom>
          <a:ln cap="flat" w="19050">
            <a:solidFill>
              <a:srgbClr val="FFFFFF"/>
            </a:solidFill>
            <a:prstDash val="solid"/>
            <a:headEnd type="none" len="sm" w="sm"/>
            <a:tailEnd type="none" len="sm" w="sm"/>
          </a:ln>
        </p:spPr>
      </p:sp>
      <p:sp>
        <p:nvSpPr>
          <p:cNvPr name="TextBox 7" id="7"/>
          <p:cNvSpPr txBox="true"/>
          <p:nvPr/>
        </p:nvSpPr>
        <p:spPr>
          <a:xfrm rot="0">
            <a:off x="5358384" y="6976872"/>
            <a:ext cx="3638916" cy="510753"/>
          </a:xfrm>
          <a:prstGeom prst="rect">
            <a:avLst/>
          </a:prstGeom>
        </p:spPr>
        <p:txBody>
          <a:bodyPr anchor="t" rtlCol="false" tIns="0" lIns="0" bIns="0" rIns="0">
            <a:spAutoFit/>
          </a:bodyPr>
          <a:lstStyle/>
          <a:p>
            <a:pPr algn="l" marL="0" indent="0" lvl="0">
              <a:lnSpc>
                <a:spcPts val="4181"/>
              </a:lnSpc>
            </a:pPr>
            <a:r>
              <a:rPr lang="en-US" b="true" sz="2986">
                <a:solidFill>
                  <a:srgbClr val="262626"/>
                </a:solidFill>
                <a:latin typeface="프리텐다드 Medium"/>
                <a:ea typeface="프리텐다드 Medium"/>
                <a:cs typeface="프리텐다드 Medium"/>
                <a:sym typeface="프리텐다드 Medium"/>
              </a:rPr>
              <a:t>논문 선정 이유</a:t>
            </a:r>
          </a:p>
        </p:txBody>
      </p:sp>
      <p:sp>
        <p:nvSpPr>
          <p:cNvPr name="TextBox 8" id="8"/>
          <p:cNvSpPr txBox="true"/>
          <p:nvPr/>
        </p:nvSpPr>
        <p:spPr>
          <a:xfrm rot="0">
            <a:off x="4370832" y="6940296"/>
            <a:ext cx="694161" cy="547370"/>
          </a:xfrm>
          <a:prstGeom prst="rect">
            <a:avLst/>
          </a:prstGeom>
        </p:spPr>
        <p:txBody>
          <a:bodyPr anchor="t" rtlCol="false" tIns="0" lIns="0" bIns="0" rIns="0">
            <a:spAutoFit/>
          </a:bodyPr>
          <a:lstStyle/>
          <a:p>
            <a:pPr algn="ctr" marL="0" indent="0" lvl="0">
              <a:lnSpc>
                <a:spcPts val="4480"/>
              </a:lnSpc>
            </a:pPr>
            <a:r>
              <a:rPr lang="en-US" b="true" sz="3200">
                <a:solidFill>
                  <a:srgbClr val="6994D4"/>
                </a:solidFill>
                <a:latin typeface="프리텐다드 Bold"/>
                <a:ea typeface="프리텐다드 Bold"/>
                <a:cs typeface="프리텐다드 Bold"/>
                <a:sym typeface="프리텐다드 Bold"/>
              </a:rPr>
              <a:t>04</a:t>
            </a:r>
          </a:p>
        </p:txBody>
      </p:sp>
      <p:sp>
        <p:nvSpPr>
          <p:cNvPr name="TextBox 7" id="7"/>
          <p:cNvSpPr txBox="true"/>
          <p:nvPr/>
        </p:nvSpPr>
        <p:spPr>
          <a:xfrm rot="0">
            <a:off x="5358384" y="7964424"/>
            <a:ext cx="3638916" cy="510753"/>
          </a:xfrm>
          <a:prstGeom prst="rect">
            <a:avLst/>
          </a:prstGeom>
        </p:spPr>
        <p:txBody>
          <a:bodyPr anchor="t" rtlCol="false" tIns="0" lIns="0" bIns="0" rIns="0">
            <a:spAutoFit/>
          </a:bodyPr>
          <a:lstStyle/>
          <a:p>
            <a:pPr algn="l" marL="0" indent="0" lvl="0">
              <a:lnSpc>
                <a:spcPts val="4181"/>
              </a:lnSpc>
            </a:pPr>
            <a:r>
              <a:rPr lang="en-US" b="true" sz="2986">
                <a:solidFill>
                  <a:srgbClr val="262626"/>
                </a:solidFill>
                <a:latin typeface="프리텐다드 Medium"/>
                <a:ea typeface="프리텐다드 Medium"/>
                <a:cs typeface="프리텐다드 Medium"/>
                <a:sym typeface="프리텐다드 Medium"/>
              </a:rPr>
              <a:t>실행 결과</a:t>
            </a:r>
          </a:p>
        </p:txBody>
      </p:sp>
      <p:sp>
        <p:nvSpPr>
          <p:cNvPr name="TextBox 8" id="8"/>
          <p:cNvSpPr txBox="true"/>
          <p:nvPr/>
        </p:nvSpPr>
        <p:spPr>
          <a:xfrm rot="0">
            <a:off x="4370832" y="7927848"/>
            <a:ext cx="694161" cy="547370"/>
          </a:xfrm>
          <a:prstGeom prst="rect">
            <a:avLst/>
          </a:prstGeom>
        </p:spPr>
        <p:txBody>
          <a:bodyPr anchor="t" rtlCol="false" tIns="0" lIns="0" bIns="0" rIns="0">
            <a:spAutoFit/>
          </a:bodyPr>
          <a:lstStyle/>
          <a:p>
            <a:pPr algn="ctr" marL="0" indent="0" lvl="0">
              <a:lnSpc>
                <a:spcPts val="4480"/>
              </a:lnSpc>
            </a:pPr>
            <a:r>
              <a:rPr lang="en-US" b="true" sz="3200">
                <a:solidFill>
                  <a:srgbClr val="6994D4"/>
                </a:solidFill>
                <a:latin typeface="프리텐다드 Bold"/>
                <a:ea typeface="프리텐다드 Bold"/>
                <a:cs typeface="프리텐다드 Bold"/>
                <a:sym typeface="프리텐다드 Bold"/>
              </a:rPr>
              <a:t>05</a:t>
            </a:r>
          </a:p>
        </p:txBody>
      </p:sp>
      <p:sp>
        <p:nvSpPr>
          <p:cNvPr name="TextBox 13" id="13"/>
          <p:cNvSpPr txBox="true"/>
          <p:nvPr/>
        </p:nvSpPr>
        <p:spPr>
          <a:xfrm rot="0">
            <a:off x="11283696" y="7470648"/>
            <a:ext cx="3638916" cy="508749"/>
          </a:xfrm>
          <a:prstGeom prst="rect">
            <a:avLst/>
          </a:prstGeom>
        </p:spPr>
        <p:txBody>
          <a:bodyPr anchor="t" rtlCol="false" tIns="0" lIns="0" bIns="0" rIns="0">
            <a:spAutoFit/>
          </a:bodyPr>
          <a:lstStyle/>
          <a:p>
            <a:pPr algn="l" marL="0" indent="0" lvl="0">
              <a:lnSpc>
                <a:spcPts val="4181"/>
              </a:lnSpc>
              <a:spcBef>
                <a:spcPct val="0"/>
              </a:spcBef>
            </a:pPr>
            <a:r>
              <a:rPr lang="en-US" b="true" sz="2986">
                <a:solidFill>
                  <a:srgbClr val="262626"/>
                </a:solidFill>
                <a:latin typeface="프리텐다드 Medium"/>
                <a:ea typeface="프리텐다드 Medium"/>
                <a:cs typeface="프리텐다드 Medium"/>
                <a:sym typeface="프리텐다드 Medium"/>
              </a:rPr>
              <a:t>참고문헌</a:t>
            </a:r>
          </a:p>
        </p:txBody>
      </p:sp>
      <p:sp>
        <p:nvSpPr>
          <p:cNvPr name="TextBox 14" id="14"/>
          <p:cNvSpPr txBox="true"/>
          <p:nvPr/>
        </p:nvSpPr>
        <p:spPr>
          <a:xfrm rot="0">
            <a:off x="10296144" y="7434072"/>
            <a:ext cx="694161" cy="547370"/>
          </a:xfrm>
          <a:prstGeom prst="rect">
            <a:avLst/>
          </a:prstGeom>
        </p:spPr>
        <p:txBody>
          <a:bodyPr anchor="t" rtlCol="false" tIns="0" lIns="0" bIns="0" rIns="0">
            <a:spAutoFit/>
          </a:bodyPr>
          <a:lstStyle/>
          <a:p>
            <a:pPr algn="ctr" marL="0" indent="0" lvl="0">
              <a:lnSpc>
                <a:spcPts val="4480"/>
              </a:lnSpc>
            </a:pPr>
            <a:r>
              <a:rPr lang="en-US" b="true" sz="3200">
                <a:solidFill>
                  <a:srgbClr val="6994D4"/>
                </a:solidFill>
                <a:latin typeface="프리텐다드 Bold"/>
                <a:ea typeface="프리텐다드 Bold"/>
                <a:cs typeface="프리텐다드 Bold"/>
                <a:sym typeface="프리텐다드 Bold"/>
              </a:rPr>
              <a:t>09</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프로젝트 개요</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26" id="26"/>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01</a:t>
            </a:r>
          </a:p>
        </p:txBody>
      </p:sp>
      <p:sp>
        <p:nvSpPr>
          <p:cNvPr id="27" name="Rounded Rectangle 26"/>
          <p:cNvSpPr/>
          <p:nvPr/>
        </p:nvSpPr>
        <p:spPr>
          <a:xfrm>
            <a:off x="1399032" y="3063240"/>
            <a:ext cx="1616202" cy="1325880"/>
          </a:xfrm>
          <a:prstGeom prst="roundRect">
            <a:avLst>
              <a:gd name="adj" fmla="val 12000"/>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99032" y="3264408"/>
            <a:ext cx="1616202" cy="914400"/>
          </a:xfrm>
          <a:prstGeom prst="rect">
            <a:avLst/>
          </a:prstGeom>
          <a:noFill/>
        </p:spPr>
        <p:txBody>
          <a:bodyPr wrap="square" lIns="0" rIns="0" tIns="0" bIns="0" anchor="t">
            <a:spAutoFit/>
          </a:bodyPr>
          <a:lstStyle/>
          <a:p>
            <a:pPr algn="ctr">
              <a:spcAft>
                <a:spcPts val="400"/>
              </a:spcAft>
            </a:pPr>
            <a:r>
              <a:rPr sz="1500" b="1">
                <a:solidFill>
                  <a:srgbClr val="9DBAE6"/>
                </a:solidFill>
                <a:latin typeface="프리텐다드 Bold"/>
                <a:ea typeface="프리텐다드 Bold"/>
                <a:cs typeface="프리텐다드 Bold"/>
              </a:rPr>
              <a:t>STEP 1</a:t>
            </a:r>
          </a:p>
          <a:p>
            <a:pPr algn="ctr">
              <a:spcAft>
                <a:spcPts val="400"/>
              </a:spcAft>
            </a:pPr>
            <a:r>
              <a:rPr sz="1800" b="1">
                <a:solidFill>
                  <a:srgbClr val="FFFFFF"/>
                </a:solidFill>
                <a:latin typeface="프리텐다드 Bold"/>
                <a:ea typeface="프리텐다드 Bold"/>
                <a:cs typeface="프리텐다드 Bold"/>
              </a:rPr>
              <a:t>궤적 생성</a:t>
            </a:r>
          </a:p>
        </p:txBody>
      </p:sp>
      <p:sp>
        <p:nvSpPr>
          <p:cNvPr id="29" name="TextBox 28"/>
          <p:cNvSpPr txBox="1"/>
          <p:nvPr/>
        </p:nvSpPr>
        <p:spPr>
          <a:xfrm>
            <a:off x="3015234" y="3447288"/>
            <a:ext cx="365760" cy="548640"/>
          </a:xfrm>
          <a:prstGeom prst="rect">
            <a:avLst/>
          </a:prstGeom>
          <a:noFill/>
        </p:spPr>
        <p:txBody>
          <a:bodyPr wrap="square" lIns="0" rIns="0" tIns="0" bIns="0" anchor="t">
            <a:spAutoFit/>
          </a:bodyPr>
          <a:lstStyle/>
          <a:p>
            <a:pPr algn="ctr"/>
            <a:r>
              <a:rPr sz="3000" b="1">
                <a:solidFill>
                  <a:srgbClr val="6994D4"/>
                </a:solidFill>
                <a:latin typeface="프리텐다드 Bold"/>
                <a:ea typeface="프리텐다드 Bold"/>
                <a:cs typeface="프리텐다드 Bold"/>
              </a:rPr>
              <a:t>›</a:t>
            </a:r>
          </a:p>
        </p:txBody>
      </p:sp>
      <p:sp>
        <p:nvSpPr>
          <p:cNvPr id="30" name="Rounded Rectangle 29"/>
          <p:cNvSpPr/>
          <p:nvPr/>
        </p:nvSpPr>
        <p:spPr>
          <a:xfrm>
            <a:off x="3380994" y="3063240"/>
            <a:ext cx="1616202" cy="13258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380994" y="3264408"/>
            <a:ext cx="1616202" cy="914400"/>
          </a:xfrm>
          <a:prstGeom prst="rect">
            <a:avLst/>
          </a:prstGeom>
          <a:noFill/>
        </p:spPr>
        <p:txBody>
          <a:bodyPr wrap="square" lIns="0" rIns="0" tIns="0" bIns="0" anchor="t">
            <a:spAutoFit/>
          </a:bodyPr>
          <a:lstStyle/>
          <a:p>
            <a:pPr algn="ctr">
              <a:spcAft>
                <a:spcPts val="400"/>
              </a:spcAft>
            </a:pPr>
            <a:r>
              <a:rPr sz="1500" b="1">
                <a:solidFill>
                  <a:srgbClr val="6994D4"/>
                </a:solidFill>
                <a:latin typeface="프리텐다드 Bold"/>
                <a:ea typeface="프리텐다드 Bold"/>
                <a:cs typeface="프리텐다드 Bold"/>
              </a:rPr>
              <a:t>STEP 2</a:t>
            </a:r>
          </a:p>
          <a:p>
            <a:pPr algn="ctr">
              <a:spcAft>
                <a:spcPts val="400"/>
              </a:spcAft>
            </a:pPr>
            <a:r>
              <a:rPr sz="1800" b="1">
                <a:solidFill>
                  <a:srgbClr val="262626"/>
                </a:solidFill>
                <a:latin typeface="프리텐다드 Bold"/>
                <a:ea typeface="프리텐다드 Bold"/>
                <a:cs typeface="프리텐다드 Bold"/>
              </a:rPr>
              <a:t>표적 분류</a:t>
            </a:r>
          </a:p>
        </p:txBody>
      </p:sp>
      <p:sp>
        <p:nvSpPr>
          <p:cNvPr id="32" name="TextBox 31"/>
          <p:cNvSpPr txBox="1"/>
          <p:nvPr/>
        </p:nvSpPr>
        <p:spPr>
          <a:xfrm>
            <a:off x="4997196" y="3447288"/>
            <a:ext cx="365760" cy="548640"/>
          </a:xfrm>
          <a:prstGeom prst="rect">
            <a:avLst/>
          </a:prstGeom>
          <a:noFill/>
        </p:spPr>
        <p:txBody>
          <a:bodyPr wrap="square" lIns="0" rIns="0" tIns="0" bIns="0" anchor="t">
            <a:spAutoFit/>
          </a:bodyPr>
          <a:lstStyle/>
          <a:p>
            <a:pPr algn="ctr"/>
            <a:r>
              <a:rPr sz="3000" b="1">
                <a:solidFill>
                  <a:srgbClr val="6994D4"/>
                </a:solidFill>
                <a:latin typeface="프리텐다드 Bold"/>
                <a:ea typeface="프리텐다드 Bold"/>
                <a:cs typeface="프리텐다드 Bold"/>
              </a:rPr>
              <a:t>›</a:t>
            </a:r>
          </a:p>
        </p:txBody>
      </p:sp>
      <p:sp>
        <p:nvSpPr>
          <p:cNvPr id="33" name="Rounded Rectangle 32"/>
          <p:cNvSpPr/>
          <p:nvPr/>
        </p:nvSpPr>
        <p:spPr>
          <a:xfrm>
            <a:off x="5362956" y="3063240"/>
            <a:ext cx="1616202" cy="13258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362956" y="3264408"/>
            <a:ext cx="1616202" cy="914400"/>
          </a:xfrm>
          <a:prstGeom prst="rect">
            <a:avLst/>
          </a:prstGeom>
          <a:noFill/>
        </p:spPr>
        <p:txBody>
          <a:bodyPr wrap="square" lIns="0" rIns="0" tIns="0" bIns="0" anchor="t">
            <a:spAutoFit/>
          </a:bodyPr>
          <a:lstStyle/>
          <a:p>
            <a:pPr algn="ctr">
              <a:spcAft>
                <a:spcPts val="400"/>
              </a:spcAft>
            </a:pPr>
            <a:r>
              <a:rPr sz="1500" b="1">
                <a:solidFill>
                  <a:srgbClr val="6994D4"/>
                </a:solidFill>
                <a:latin typeface="프리텐다드 Bold"/>
                <a:ea typeface="프리텐다드 Bold"/>
                <a:cs typeface="프리텐다드 Bold"/>
              </a:rPr>
              <a:t>STEP 3</a:t>
            </a:r>
          </a:p>
          <a:p>
            <a:pPr algn="ctr">
              <a:spcAft>
                <a:spcPts val="400"/>
              </a:spcAft>
            </a:pPr>
            <a:r>
              <a:rPr sz="1800" b="1">
                <a:solidFill>
                  <a:srgbClr val="262626"/>
                </a:solidFill>
                <a:latin typeface="프리텐다드 Bold"/>
                <a:ea typeface="프리텐다드 Bold"/>
                <a:cs typeface="프리텐다드 Bold"/>
              </a:rPr>
              <a:t>칼만 추적</a:t>
            </a:r>
          </a:p>
        </p:txBody>
      </p:sp>
      <p:sp>
        <p:nvSpPr>
          <p:cNvPr id="35" name="TextBox 34"/>
          <p:cNvSpPr txBox="1"/>
          <p:nvPr/>
        </p:nvSpPr>
        <p:spPr>
          <a:xfrm>
            <a:off x="6979158" y="3447288"/>
            <a:ext cx="365760" cy="548640"/>
          </a:xfrm>
          <a:prstGeom prst="rect">
            <a:avLst/>
          </a:prstGeom>
          <a:noFill/>
        </p:spPr>
        <p:txBody>
          <a:bodyPr wrap="square" lIns="0" rIns="0" tIns="0" bIns="0" anchor="t">
            <a:spAutoFit/>
          </a:bodyPr>
          <a:lstStyle/>
          <a:p>
            <a:pPr algn="ctr"/>
            <a:r>
              <a:rPr sz="3000" b="1">
                <a:solidFill>
                  <a:srgbClr val="6994D4"/>
                </a:solidFill>
                <a:latin typeface="프리텐다드 Bold"/>
                <a:ea typeface="프리텐다드 Bold"/>
                <a:cs typeface="프리텐다드 Bold"/>
              </a:rPr>
              <a:t>›</a:t>
            </a:r>
          </a:p>
        </p:txBody>
      </p:sp>
      <p:sp>
        <p:nvSpPr>
          <p:cNvPr id="36" name="Rounded Rectangle 35"/>
          <p:cNvSpPr/>
          <p:nvPr/>
        </p:nvSpPr>
        <p:spPr>
          <a:xfrm>
            <a:off x="7344917" y="3063240"/>
            <a:ext cx="1616202" cy="13258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44917" y="3264408"/>
            <a:ext cx="1616202" cy="914400"/>
          </a:xfrm>
          <a:prstGeom prst="rect">
            <a:avLst/>
          </a:prstGeom>
          <a:noFill/>
        </p:spPr>
        <p:txBody>
          <a:bodyPr wrap="square" lIns="0" rIns="0" tIns="0" bIns="0" anchor="t">
            <a:spAutoFit/>
          </a:bodyPr>
          <a:lstStyle/>
          <a:p>
            <a:pPr algn="ctr">
              <a:spcAft>
                <a:spcPts val="400"/>
              </a:spcAft>
            </a:pPr>
            <a:r>
              <a:rPr sz="1500" b="1">
                <a:solidFill>
                  <a:srgbClr val="6994D4"/>
                </a:solidFill>
                <a:latin typeface="프리텐다드 Bold"/>
                <a:ea typeface="프리텐다드 Bold"/>
                <a:cs typeface="프리텐다드 Bold"/>
              </a:rPr>
              <a:t>STEP 4</a:t>
            </a:r>
          </a:p>
          <a:p>
            <a:pPr algn="ctr">
              <a:spcAft>
                <a:spcPts val="400"/>
              </a:spcAft>
            </a:pPr>
            <a:r>
              <a:rPr sz="1800" b="1">
                <a:solidFill>
                  <a:srgbClr val="262626"/>
                </a:solidFill>
                <a:latin typeface="프리텐다드 Bold"/>
                <a:ea typeface="프리텐다드 Bold"/>
                <a:cs typeface="프리텐다드 Bold"/>
              </a:rPr>
              <a:t>팬/틸트 PID</a:t>
            </a:r>
          </a:p>
        </p:txBody>
      </p:sp>
      <p:sp>
        <p:nvSpPr>
          <p:cNvPr id="38" name="TextBox 37"/>
          <p:cNvSpPr txBox="1"/>
          <p:nvPr/>
        </p:nvSpPr>
        <p:spPr>
          <a:xfrm>
            <a:off x="8961119" y="3447288"/>
            <a:ext cx="365760" cy="548640"/>
          </a:xfrm>
          <a:prstGeom prst="rect">
            <a:avLst/>
          </a:prstGeom>
          <a:noFill/>
        </p:spPr>
        <p:txBody>
          <a:bodyPr wrap="square" lIns="0" rIns="0" tIns="0" bIns="0" anchor="t">
            <a:spAutoFit/>
          </a:bodyPr>
          <a:lstStyle/>
          <a:p>
            <a:pPr algn="ctr"/>
            <a:r>
              <a:rPr sz="3000" b="1">
                <a:solidFill>
                  <a:srgbClr val="6994D4"/>
                </a:solidFill>
                <a:latin typeface="프리텐다드 Bold"/>
                <a:ea typeface="프리텐다드 Bold"/>
                <a:cs typeface="프리텐다드 Bold"/>
              </a:rPr>
              <a:t>›</a:t>
            </a:r>
          </a:p>
        </p:txBody>
      </p:sp>
      <p:sp>
        <p:nvSpPr>
          <p:cNvPr id="39" name="Rounded Rectangle 38"/>
          <p:cNvSpPr/>
          <p:nvPr/>
        </p:nvSpPr>
        <p:spPr>
          <a:xfrm>
            <a:off x="9326880" y="3063240"/>
            <a:ext cx="1616202" cy="13258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326880" y="3264408"/>
            <a:ext cx="1616202" cy="914400"/>
          </a:xfrm>
          <a:prstGeom prst="rect">
            <a:avLst/>
          </a:prstGeom>
          <a:noFill/>
        </p:spPr>
        <p:txBody>
          <a:bodyPr wrap="square" lIns="0" rIns="0" tIns="0" bIns="0" anchor="t">
            <a:spAutoFit/>
          </a:bodyPr>
          <a:lstStyle/>
          <a:p>
            <a:pPr algn="ctr">
              <a:spcAft>
                <a:spcPts val="400"/>
              </a:spcAft>
            </a:pPr>
            <a:r>
              <a:rPr sz="1500" b="1">
                <a:solidFill>
                  <a:srgbClr val="6994D4"/>
                </a:solidFill>
                <a:latin typeface="프리텐다드 Bold"/>
                <a:ea typeface="프리텐다드 Bold"/>
                <a:cs typeface="프리텐다드 Bold"/>
              </a:rPr>
              <a:t>STEP 5</a:t>
            </a:r>
          </a:p>
          <a:p>
            <a:pPr algn="ctr">
              <a:spcAft>
                <a:spcPts val="400"/>
              </a:spcAft>
            </a:pPr>
            <a:r>
              <a:rPr sz="1800" b="1">
                <a:solidFill>
                  <a:srgbClr val="262626"/>
                </a:solidFill>
                <a:latin typeface="프리텐다드 Bold"/>
                <a:ea typeface="프리텐다드 Bold"/>
                <a:cs typeface="프리텐다드 Bold"/>
              </a:rPr>
              <a:t>리드 조준</a:t>
            </a:r>
          </a:p>
        </p:txBody>
      </p:sp>
      <p:sp>
        <p:nvSpPr>
          <p:cNvPr id="41" name="TextBox 40"/>
          <p:cNvSpPr txBox="1"/>
          <p:nvPr/>
        </p:nvSpPr>
        <p:spPr>
          <a:xfrm>
            <a:off x="10943082" y="3447288"/>
            <a:ext cx="365760" cy="548640"/>
          </a:xfrm>
          <a:prstGeom prst="rect">
            <a:avLst/>
          </a:prstGeom>
          <a:noFill/>
        </p:spPr>
        <p:txBody>
          <a:bodyPr wrap="square" lIns="0" rIns="0" tIns="0" bIns="0" anchor="t">
            <a:spAutoFit/>
          </a:bodyPr>
          <a:lstStyle/>
          <a:p>
            <a:pPr algn="ctr"/>
            <a:r>
              <a:rPr sz="3000" b="1">
                <a:solidFill>
                  <a:srgbClr val="6994D4"/>
                </a:solidFill>
                <a:latin typeface="프리텐다드 Bold"/>
                <a:ea typeface="프리텐다드 Bold"/>
                <a:cs typeface="프리텐다드 Bold"/>
              </a:rPr>
              <a:t>›</a:t>
            </a:r>
          </a:p>
        </p:txBody>
      </p:sp>
      <p:sp>
        <p:nvSpPr>
          <p:cNvPr id="42" name="Rounded Rectangle 41"/>
          <p:cNvSpPr/>
          <p:nvPr/>
        </p:nvSpPr>
        <p:spPr>
          <a:xfrm>
            <a:off x="11308842" y="3063240"/>
            <a:ext cx="1616202" cy="13258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1308842" y="3264408"/>
            <a:ext cx="1616202" cy="914400"/>
          </a:xfrm>
          <a:prstGeom prst="rect">
            <a:avLst/>
          </a:prstGeom>
          <a:noFill/>
        </p:spPr>
        <p:txBody>
          <a:bodyPr wrap="square" lIns="0" rIns="0" tIns="0" bIns="0" anchor="t">
            <a:spAutoFit/>
          </a:bodyPr>
          <a:lstStyle/>
          <a:p>
            <a:pPr algn="ctr">
              <a:spcAft>
                <a:spcPts val="400"/>
              </a:spcAft>
            </a:pPr>
            <a:r>
              <a:rPr sz="1500" b="1">
                <a:solidFill>
                  <a:srgbClr val="6994D4"/>
                </a:solidFill>
                <a:latin typeface="프리텐다드 Bold"/>
                <a:ea typeface="프리텐다드 Bold"/>
                <a:cs typeface="프리텐다드 Bold"/>
              </a:rPr>
              <a:t>STEP 6</a:t>
            </a:r>
          </a:p>
          <a:p>
            <a:pPr algn="ctr">
              <a:spcAft>
                <a:spcPts val="400"/>
              </a:spcAft>
            </a:pPr>
            <a:r>
              <a:rPr sz="1800" b="1">
                <a:solidFill>
                  <a:srgbClr val="262626"/>
                </a:solidFill>
                <a:latin typeface="프리텐다드 Bold"/>
                <a:ea typeface="프리텐다드 Bold"/>
                <a:cs typeface="프리텐다드 Bold"/>
              </a:rPr>
              <a:t>포획 판정</a:t>
            </a:r>
          </a:p>
        </p:txBody>
      </p:sp>
      <p:sp>
        <p:nvSpPr>
          <p:cNvPr id="44" name="TextBox 43"/>
          <p:cNvSpPr txBox="1"/>
          <p:nvPr/>
        </p:nvSpPr>
        <p:spPr>
          <a:xfrm>
            <a:off x="12925044" y="3447288"/>
            <a:ext cx="365760" cy="548640"/>
          </a:xfrm>
          <a:prstGeom prst="rect">
            <a:avLst/>
          </a:prstGeom>
          <a:noFill/>
        </p:spPr>
        <p:txBody>
          <a:bodyPr wrap="square" lIns="0" rIns="0" tIns="0" bIns="0" anchor="t">
            <a:spAutoFit/>
          </a:bodyPr>
          <a:lstStyle/>
          <a:p>
            <a:pPr algn="ctr"/>
            <a:r>
              <a:rPr sz="3000" b="1">
                <a:solidFill>
                  <a:srgbClr val="6994D4"/>
                </a:solidFill>
                <a:latin typeface="프리텐다드 Bold"/>
                <a:ea typeface="프리텐다드 Bold"/>
                <a:cs typeface="프리텐다드 Bold"/>
              </a:rPr>
              <a:t>›</a:t>
            </a:r>
          </a:p>
        </p:txBody>
      </p:sp>
      <p:sp>
        <p:nvSpPr>
          <p:cNvPr id="45" name="Rounded Rectangle 44"/>
          <p:cNvSpPr/>
          <p:nvPr/>
        </p:nvSpPr>
        <p:spPr>
          <a:xfrm>
            <a:off x="13290803" y="3063240"/>
            <a:ext cx="1616202" cy="13258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3290803" y="3264408"/>
            <a:ext cx="1616202" cy="914400"/>
          </a:xfrm>
          <a:prstGeom prst="rect">
            <a:avLst/>
          </a:prstGeom>
          <a:noFill/>
        </p:spPr>
        <p:txBody>
          <a:bodyPr wrap="square" lIns="0" rIns="0" tIns="0" bIns="0" anchor="t">
            <a:spAutoFit/>
          </a:bodyPr>
          <a:lstStyle/>
          <a:p>
            <a:pPr algn="ctr">
              <a:spcAft>
                <a:spcPts val="400"/>
              </a:spcAft>
            </a:pPr>
            <a:r>
              <a:rPr sz="1500" b="1">
                <a:solidFill>
                  <a:srgbClr val="6994D4"/>
                </a:solidFill>
                <a:latin typeface="프리텐다드 Bold"/>
                <a:ea typeface="프리텐다드 Bold"/>
                <a:cs typeface="프리텐다드 Bold"/>
              </a:rPr>
              <a:t>STEP 7</a:t>
            </a:r>
          </a:p>
          <a:p>
            <a:pPr algn="ctr">
              <a:spcAft>
                <a:spcPts val="400"/>
              </a:spcAft>
            </a:pPr>
            <a:r>
              <a:rPr sz="1800" b="1">
                <a:solidFill>
                  <a:srgbClr val="262626"/>
                </a:solidFill>
                <a:latin typeface="프리텐다드 Bold"/>
                <a:ea typeface="프리텐다드 Bold"/>
                <a:cs typeface="프리텐다드 Bold"/>
              </a:rPr>
              <a:t>낙하 평가</a:t>
            </a:r>
          </a:p>
        </p:txBody>
      </p:sp>
      <p:sp>
        <p:nvSpPr>
          <p:cNvPr id="47" name="TextBox 46"/>
          <p:cNvSpPr txBox="1"/>
          <p:nvPr/>
        </p:nvSpPr>
        <p:spPr>
          <a:xfrm>
            <a:off x="14907005" y="3447288"/>
            <a:ext cx="365760" cy="548640"/>
          </a:xfrm>
          <a:prstGeom prst="rect">
            <a:avLst/>
          </a:prstGeom>
          <a:noFill/>
        </p:spPr>
        <p:txBody>
          <a:bodyPr wrap="square" lIns="0" rIns="0" tIns="0" bIns="0" anchor="t">
            <a:spAutoFit/>
          </a:bodyPr>
          <a:lstStyle/>
          <a:p>
            <a:pPr algn="ctr"/>
            <a:r>
              <a:rPr sz="3000" b="1">
                <a:solidFill>
                  <a:srgbClr val="6994D4"/>
                </a:solidFill>
                <a:latin typeface="프리텐다드 Bold"/>
                <a:ea typeface="프리텐다드 Bold"/>
                <a:cs typeface="프리텐다드 Bold"/>
              </a:rPr>
              <a:t>›</a:t>
            </a:r>
          </a:p>
        </p:txBody>
      </p:sp>
      <p:sp>
        <p:nvSpPr>
          <p:cNvPr id="48" name="Rounded Rectangle 47"/>
          <p:cNvSpPr/>
          <p:nvPr/>
        </p:nvSpPr>
        <p:spPr>
          <a:xfrm>
            <a:off x="15272766" y="3063240"/>
            <a:ext cx="1616202" cy="132588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5272766" y="3264408"/>
            <a:ext cx="1616202" cy="914400"/>
          </a:xfrm>
          <a:prstGeom prst="rect">
            <a:avLst/>
          </a:prstGeom>
          <a:noFill/>
        </p:spPr>
        <p:txBody>
          <a:bodyPr wrap="square" lIns="0" rIns="0" tIns="0" bIns="0" anchor="t">
            <a:spAutoFit/>
          </a:bodyPr>
          <a:lstStyle/>
          <a:p>
            <a:pPr algn="ctr">
              <a:spcAft>
                <a:spcPts val="400"/>
              </a:spcAft>
            </a:pPr>
            <a:r>
              <a:rPr sz="1500" b="1">
                <a:solidFill>
                  <a:srgbClr val="6994D4"/>
                </a:solidFill>
                <a:latin typeface="프리텐다드 Bold"/>
                <a:ea typeface="프리텐다드 Bold"/>
                <a:cs typeface="프리텐다드 Bold"/>
              </a:rPr>
              <a:t>STEP 8</a:t>
            </a:r>
          </a:p>
          <a:p>
            <a:pPr algn="ctr">
              <a:spcAft>
                <a:spcPts val="400"/>
              </a:spcAft>
            </a:pPr>
            <a:r>
              <a:rPr sz="1800" b="1">
                <a:solidFill>
                  <a:srgbClr val="262626"/>
                </a:solidFill>
                <a:latin typeface="프리텐다드 Bold"/>
                <a:ea typeface="프리텐다드 Bold"/>
                <a:cs typeface="프리텐다드 Bold"/>
              </a:rPr>
              <a:t>성공률 분석</a:t>
            </a:r>
          </a:p>
        </p:txBody>
      </p:sp>
      <p:sp>
        <p:nvSpPr>
          <p:cNvPr id="50" name="TextBox 49"/>
          <p:cNvSpPr txBox="1"/>
          <p:nvPr/>
        </p:nvSpPr>
        <p:spPr>
          <a:xfrm>
            <a:off x="1399032" y="4709160"/>
            <a:ext cx="15489936" cy="457200"/>
          </a:xfrm>
          <a:prstGeom prst="rect">
            <a:avLst/>
          </a:prstGeom>
          <a:noFill/>
        </p:spPr>
        <p:txBody>
          <a:bodyPr wrap="square" lIns="0" rIns="0" tIns="0" bIns="0" anchor="t">
            <a:spAutoFit/>
          </a:bodyPr>
          <a:lstStyle/>
          <a:p>
            <a:pPr algn="ctr"/>
            <a:r>
              <a:rPr sz="2100" b="0">
                <a:solidFill>
                  <a:srgbClr val="262626"/>
                </a:solidFill>
                <a:latin typeface="프리텐다드"/>
                <a:ea typeface="프리텐다드"/>
                <a:cs typeface="프리텐다드"/>
              </a:rPr>
              <a:t>지상 고정 팬/틸트 터렛  ·  낙하산 네트 포획  ·  MATLAB 시뮬레이션</a:t>
            </a:r>
          </a:p>
        </p:txBody>
      </p:sp>
      <p:sp>
        <p:nvSpPr>
          <p:cNvPr id="51" name="Rounded Rectangle 50"/>
          <p:cNvSpPr/>
          <p:nvPr/>
        </p:nvSpPr>
        <p:spPr>
          <a:xfrm>
            <a:off x="1399032" y="5532120"/>
            <a:ext cx="4858512" cy="3017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810512" y="5943600"/>
            <a:ext cx="4035552" cy="457200"/>
          </a:xfrm>
          <a:prstGeom prst="rect">
            <a:avLst/>
          </a:prstGeom>
          <a:noFill/>
        </p:spPr>
        <p:txBody>
          <a:bodyPr wrap="square" lIns="0" rIns="0" tIns="0" bIns="0" anchor="t">
            <a:spAutoFit/>
          </a:bodyPr>
          <a:lstStyle/>
          <a:p>
            <a:pPr algn="l"/>
            <a:r>
              <a:rPr sz="2000" b="1">
                <a:solidFill>
                  <a:srgbClr val="6994D4"/>
                </a:solidFill>
                <a:latin typeface="프리텐다드 Bold"/>
                <a:ea typeface="프리텐다드 Bold"/>
                <a:cs typeface="프리텐다드 Bold"/>
              </a:rPr>
              <a:t>01</a:t>
            </a:r>
          </a:p>
        </p:txBody>
      </p:sp>
      <p:sp>
        <p:nvSpPr>
          <p:cNvPr id="53" name="TextBox 52"/>
          <p:cNvSpPr txBox="1"/>
          <p:nvPr/>
        </p:nvSpPr>
        <p:spPr>
          <a:xfrm>
            <a:off x="1810512" y="6446520"/>
            <a:ext cx="4035552" cy="502920"/>
          </a:xfrm>
          <a:prstGeom prst="rect">
            <a:avLst/>
          </a:prstGeom>
          <a:noFill/>
        </p:spPr>
        <p:txBody>
          <a:bodyPr wrap="square" lIns="0" rIns="0" tIns="0" bIns="0" anchor="t">
            <a:spAutoFit/>
          </a:bodyPr>
          <a:lstStyle/>
          <a:p>
            <a:pPr algn="l"/>
            <a:r>
              <a:rPr sz="2400" b="1">
                <a:solidFill>
                  <a:srgbClr val="262626"/>
                </a:solidFill>
                <a:latin typeface="프리텐다드 Bold"/>
                <a:ea typeface="프리텐다드 Bold"/>
                <a:cs typeface="프리텐다드 Bold"/>
              </a:rPr>
              <a:t>정답 궤적 제공</a:t>
            </a:r>
          </a:p>
        </p:txBody>
      </p:sp>
      <p:sp>
        <p:nvSpPr>
          <p:cNvPr id="54" name="TextBox 53"/>
          <p:cNvSpPr txBox="1"/>
          <p:nvPr/>
        </p:nvSpPr>
        <p:spPr>
          <a:xfrm>
            <a:off x="1810512" y="7132320"/>
            <a:ext cx="4035552" cy="1280160"/>
          </a:xfrm>
          <a:prstGeom prst="rect">
            <a:avLst/>
          </a:prstGeom>
          <a:noFill/>
        </p:spPr>
        <p:txBody>
          <a:bodyPr wrap="square" lIns="0" rIns="0" tIns="0" bIns="0" anchor="t">
            <a:spAutoFit/>
          </a:bodyPr>
          <a:lstStyle/>
          <a:p>
            <a:pPr algn="l"/>
            <a:r>
              <a:rPr sz="2000" b="0">
                <a:solidFill>
                  <a:srgbClr val="404040"/>
                </a:solidFill>
                <a:latin typeface="프리텐다드"/>
                <a:ea typeface="프리텐다드"/>
                <a:cs typeface="프리텐다드"/>
              </a:rPr>
              <a:t>후속 단계용 ground-truth</a:t>
            </a:r>
          </a:p>
        </p:txBody>
      </p:sp>
      <p:sp>
        <p:nvSpPr>
          <p:cNvPr id="55" name="Rounded Rectangle 54"/>
          <p:cNvSpPr/>
          <p:nvPr/>
        </p:nvSpPr>
        <p:spPr>
          <a:xfrm>
            <a:off x="6714744" y="5532120"/>
            <a:ext cx="4858512" cy="3017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126224" y="5943600"/>
            <a:ext cx="4035552" cy="457200"/>
          </a:xfrm>
          <a:prstGeom prst="rect">
            <a:avLst/>
          </a:prstGeom>
          <a:noFill/>
        </p:spPr>
        <p:txBody>
          <a:bodyPr wrap="square" lIns="0" rIns="0" tIns="0" bIns="0" anchor="t">
            <a:spAutoFit/>
          </a:bodyPr>
          <a:lstStyle/>
          <a:p>
            <a:pPr algn="l"/>
            <a:r>
              <a:rPr sz="2000" b="1">
                <a:solidFill>
                  <a:srgbClr val="6994D4"/>
                </a:solidFill>
                <a:latin typeface="프리텐다드 Bold"/>
                <a:ea typeface="프리텐다드 Bold"/>
                <a:cs typeface="프리텐다드 Bold"/>
              </a:rPr>
              <a:t>02</a:t>
            </a:r>
          </a:p>
        </p:txBody>
      </p:sp>
      <p:sp>
        <p:nvSpPr>
          <p:cNvPr id="57" name="TextBox 56"/>
          <p:cNvSpPr txBox="1"/>
          <p:nvPr/>
        </p:nvSpPr>
        <p:spPr>
          <a:xfrm>
            <a:off x="7126224" y="6446520"/>
            <a:ext cx="4035552" cy="502920"/>
          </a:xfrm>
          <a:prstGeom prst="rect">
            <a:avLst/>
          </a:prstGeom>
          <a:noFill/>
        </p:spPr>
        <p:txBody>
          <a:bodyPr wrap="square" lIns="0" rIns="0" tIns="0" bIns="0" anchor="t">
            <a:spAutoFit/>
          </a:bodyPr>
          <a:lstStyle/>
          <a:p>
            <a:pPr algn="l"/>
            <a:r>
              <a:rPr sz="2400" b="1">
                <a:solidFill>
                  <a:srgbClr val="262626"/>
                </a:solidFill>
                <a:latin typeface="프리텐다드 Bold"/>
                <a:ea typeface="프리텐다드 Bold"/>
                <a:cs typeface="프리텐다드 Bold"/>
              </a:rPr>
              <a:t>물리 기반 시나리오</a:t>
            </a:r>
          </a:p>
        </p:txBody>
      </p:sp>
      <p:sp>
        <p:nvSpPr>
          <p:cNvPr id="58" name="TextBox 57"/>
          <p:cNvSpPr txBox="1"/>
          <p:nvPr/>
        </p:nvSpPr>
        <p:spPr>
          <a:xfrm>
            <a:off x="7126224" y="7132320"/>
            <a:ext cx="4035552" cy="1280160"/>
          </a:xfrm>
          <a:prstGeom prst="rect">
            <a:avLst/>
          </a:prstGeom>
          <a:noFill/>
        </p:spPr>
        <p:txBody>
          <a:bodyPr wrap="square" lIns="0" rIns="0" tIns="0" bIns="0" anchor="t">
            <a:spAutoFit/>
          </a:bodyPr>
          <a:lstStyle/>
          <a:p>
            <a:pPr algn="l"/>
            <a:r>
              <a:rPr sz="2000" b="0">
                <a:solidFill>
                  <a:srgbClr val="404040"/>
                </a:solidFill>
                <a:latin typeface="프리텐다드"/>
                <a:ea typeface="프리텐다드"/>
                <a:cs typeface="프리텐다드"/>
              </a:rPr>
              <a:t>항력 · 바람 · 고도 제어 반영</a:t>
            </a:r>
          </a:p>
        </p:txBody>
      </p:sp>
      <p:sp>
        <p:nvSpPr>
          <p:cNvPr id="59" name="Rounded Rectangle 58"/>
          <p:cNvSpPr/>
          <p:nvPr/>
        </p:nvSpPr>
        <p:spPr>
          <a:xfrm>
            <a:off x="12030456" y="5532120"/>
            <a:ext cx="4858512" cy="301752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441935" y="5943600"/>
            <a:ext cx="4035552" cy="457200"/>
          </a:xfrm>
          <a:prstGeom prst="rect">
            <a:avLst/>
          </a:prstGeom>
          <a:noFill/>
        </p:spPr>
        <p:txBody>
          <a:bodyPr wrap="square" lIns="0" rIns="0" tIns="0" bIns="0" anchor="t">
            <a:spAutoFit/>
          </a:bodyPr>
          <a:lstStyle/>
          <a:p>
            <a:pPr algn="l"/>
            <a:r>
              <a:rPr sz="2000" b="1">
                <a:solidFill>
                  <a:srgbClr val="6994D4"/>
                </a:solidFill>
                <a:latin typeface="프리텐다드 Bold"/>
                <a:ea typeface="프리텐다드 Bold"/>
                <a:cs typeface="프리텐다드 Bold"/>
              </a:rPr>
              <a:t>03</a:t>
            </a:r>
          </a:p>
        </p:txBody>
      </p:sp>
      <p:sp>
        <p:nvSpPr>
          <p:cNvPr id="61" name="TextBox 60"/>
          <p:cNvSpPr txBox="1"/>
          <p:nvPr/>
        </p:nvSpPr>
        <p:spPr>
          <a:xfrm>
            <a:off x="12441935" y="6446520"/>
            <a:ext cx="4035552" cy="502920"/>
          </a:xfrm>
          <a:prstGeom prst="rect">
            <a:avLst/>
          </a:prstGeom>
          <a:noFill/>
        </p:spPr>
        <p:txBody>
          <a:bodyPr wrap="square" lIns="0" rIns="0" tIns="0" bIns="0" anchor="t">
            <a:spAutoFit/>
          </a:bodyPr>
          <a:lstStyle/>
          <a:p>
            <a:pPr algn="l"/>
            <a:r>
              <a:rPr sz="2400" b="1">
                <a:solidFill>
                  <a:srgbClr val="262626"/>
                </a:solidFill>
                <a:latin typeface="프리텐다드 Bold"/>
                <a:ea typeface="프리텐다드 Bold"/>
                <a:cs typeface="프리텐다드 Bold"/>
              </a:rPr>
              <a:t>데이터 부재 해결</a:t>
            </a:r>
          </a:p>
        </p:txBody>
      </p:sp>
      <p:sp>
        <p:nvSpPr>
          <p:cNvPr id="62" name="TextBox 61"/>
          <p:cNvSpPr txBox="1"/>
          <p:nvPr/>
        </p:nvSpPr>
        <p:spPr>
          <a:xfrm>
            <a:off x="12441935" y="7132320"/>
            <a:ext cx="4035552" cy="1280160"/>
          </a:xfrm>
          <a:prstGeom prst="rect">
            <a:avLst/>
          </a:prstGeom>
          <a:noFill/>
        </p:spPr>
        <p:txBody>
          <a:bodyPr wrap="square" lIns="0" rIns="0" tIns="0" bIns="0" anchor="t">
            <a:spAutoFit/>
          </a:bodyPr>
          <a:lstStyle/>
          <a:p>
            <a:pPr algn="l"/>
            <a:r>
              <a:rPr sz="2000" b="0">
                <a:solidFill>
                  <a:srgbClr val="404040"/>
                </a:solidFill>
                <a:latin typeface="프리텐다드"/>
                <a:ea typeface="프리텐다드"/>
                <a:cs typeface="프리텐다드"/>
              </a:rPr>
              <a:t>실제 침입 데이터 비공개 → 시뮬레이션</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낙하산 네트 적용</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26" id="26"/>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01</a:t>
            </a:r>
          </a:p>
        </p:txBody>
      </p:sp>
      <p:sp>
        <p:nvSpPr>
          <p:cNvPr id="27" name="TextBox 26"/>
          <p:cNvSpPr txBox="1"/>
          <p:nvPr/>
        </p:nvSpPr>
        <p:spPr>
          <a:xfrm>
            <a:off x="1399032" y="2926080"/>
            <a:ext cx="15489936" cy="457200"/>
          </a:xfrm>
          <a:prstGeom prst="rect">
            <a:avLst/>
          </a:prstGeom>
          <a:noFill/>
        </p:spPr>
        <p:txBody>
          <a:bodyPr wrap="square" lIns="0" rIns="0" tIns="0" bIns="0" anchor="t">
            <a:spAutoFit/>
          </a:bodyPr>
          <a:lstStyle/>
          <a:p>
            <a:pPr algn="ctr"/>
            <a:r>
              <a:rPr sz="2200" b="0">
                <a:solidFill>
                  <a:srgbClr val="262626"/>
                </a:solidFill>
                <a:latin typeface="프리텐다드"/>
                <a:ea typeface="프리텐다드"/>
                <a:cs typeface="프리텐다드"/>
              </a:rPr>
              <a:t>네트 포획 후에도 추락  →  2차 피해 위험</a:t>
            </a:r>
          </a:p>
        </p:txBody>
      </p:sp>
      <p:sp>
        <p:nvSpPr>
          <p:cNvPr id="28" name="Rounded Rectangle 27"/>
          <p:cNvSpPr/>
          <p:nvPr/>
        </p:nvSpPr>
        <p:spPr>
          <a:xfrm>
            <a:off x="1399032" y="3749039"/>
            <a:ext cx="6766560" cy="356616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10122407" y="3749039"/>
            <a:ext cx="6766560" cy="3566160"/>
          </a:xfrm>
          <a:prstGeom prst="roundRect">
            <a:avLst>
              <a:gd name="adj" fmla="val 8000"/>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947672" y="4206240"/>
            <a:ext cx="5669280" cy="457200"/>
          </a:xfrm>
          <a:prstGeom prst="rect">
            <a:avLst/>
          </a:prstGeom>
          <a:noFill/>
        </p:spPr>
        <p:txBody>
          <a:bodyPr wrap="square" lIns="0" rIns="0" tIns="0" bIns="0" anchor="t">
            <a:spAutoFit/>
          </a:bodyPr>
          <a:lstStyle/>
          <a:p>
            <a:pPr algn="l"/>
            <a:r>
              <a:rPr sz="2200" b="1">
                <a:solidFill>
                  <a:srgbClr val="6994D4"/>
                </a:solidFill>
                <a:latin typeface="프리텐다드 Bold"/>
                <a:ea typeface="프리텐다드 Bold"/>
                <a:cs typeface="프리텐다드 Bold"/>
              </a:rPr>
              <a:t>기존 · 네트만 발사</a:t>
            </a:r>
          </a:p>
        </p:txBody>
      </p:sp>
      <p:sp>
        <p:nvSpPr>
          <p:cNvPr id="31" name="TextBox 30"/>
          <p:cNvSpPr txBox="1"/>
          <p:nvPr/>
        </p:nvSpPr>
        <p:spPr>
          <a:xfrm>
            <a:off x="1947672" y="4800600"/>
            <a:ext cx="5669280" cy="1188720"/>
          </a:xfrm>
          <a:prstGeom prst="rect">
            <a:avLst/>
          </a:prstGeom>
          <a:noFill/>
        </p:spPr>
        <p:txBody>
          <a:bodyPr wrap="square" lIns="0" rIns="0" tIns="0" bIns="0" anchor="t">
            <a:spAutoFit/>
          </a:bodyPr>
          <a:lstStyle/>
          <a:p>
            <a:pPr algn="l"/>
            <a:r>
              <a:rPr sz="6000" b="1">
                <a:solidFill>
                  <a:srgbClr val="262626"/>
                </a:solidFill>
                <a:latin typeface="프리텐다드 Bold"/>
                <a:ea typeface="프리텐다드 Bold"/>
                <a:cs typeface="프리텐다드 Bold"/>
              </a:rPr>
              <a:t>약 490 J</a:t>
            </a:r>
          </a:p>
        </p:txBody>
      </p:sp>
      <p:sp>
        <p:nvSpPr>
          <p:cNvPr id="32" name="TextBox 31"/>
          <p:cNvSpPr txBox="1"/>
          <p:nvPr/>
        </p:nvSpPr>
        <p:spPr>
          <a:xfrm>
            <a:off x="1947672" y="6080759"/>
            <a:ext cx="5669280" cy="1005840"/>
          </a:xfrm>
          <a:prstGeom prst="rect">
            <a:avLst/>
          </a:prstGeom>
          <a:noFill/>
        </p:spPr>
        <p:txBody>
          <a:bodyPr wrap="square" lIns="0" rIns="0" tIns="0" bIns="0" anchor="t">
            <a:spAutoFit/>
          </a:bodyPr>
          <a:lstStyle/>
          <a:p>
            <a:pPr algn="l">
              <a:spcAft>
                <a:spcPts val="400"/>
              </a:spcAft>
            </a:pPr>
            <a:r>
              <a:rPr sz="2000" b="1">
                <a:solidFill>
                  <a:srgbClr val="262626"/>
                </a:solidFill>
                <a:latin typeface="프리텐다드 Bold"/>
                <a:ea typeface="프리텐다드 Bold"/>
                <a:cs typeface="프리텐다드 Bold"/>
              </a:rPr>
              <a:t>30 m 자유낙하 (최대)</a:t>
            </a:r>
          </a:p>
          <a:p>
            <a:pPr algn="l">
              <a:spcAft>
                <a:spcPts val="400"/>
              </a:spcAft>
            </a:pPr>
            <a:r>
              <a:rPr sz="1800" b="0">
                <a:solidFill>
                  <a:srgbClr val="595959"/>
                </a:solidFill>
                <a:latin typeface="프리텐다드"/>
                <a:ea typeface="프리텐다드"/>
                <a:cs typeface="프리텐다드"/>
              </a:rPr>
              <a:t>지면 직접 충돌</a:t>
            </a:r>
          </a:p>
        </p:txBody>
      </p:sp>
      <p:sp>
        <p:nvSpPr>
          <p:cNvPr id="33" name="TextBox 32"/>
          <p:cNvSpPr txBox="1"/>
          <p:nvPr/>
        </p:nvSpPr>
        <p:spPr>
          <a:xfrm>
            <a:off x="10671047" y="4206240"/>
            <a:ext cx="5669280" cy="457200"/>
          </a:xfrm>
          <a:prstGeom prst="rect">
            <a:avLst/>
          </a:prstGeom>
          <a:noFill/>
        </p:spPr>
        <p:txBody>
          <a:bodyPr wrap="square" lIns="0" rIns="0" tIns="0" bIns="0" anchor="t">
            <a:spAutoFit/>
          </a:bodyPr>
          <a:lstStyle/>
          <a:p>
            <a:pPr algn="l"/>
            <a:r>
              <a:rPr sz="2200" b="1">
                <a:solidFill>
                  <a:srgbClr val="9DBAE6"/>
                </a:solidFill>
                <a:latin typeface="프리텐다드 Bold"/>
                <a:ea typeface="프리텐다드 Bold"/>
                <a:cs typeface="프리텐다드 Bold"/>
              </a:rPr>
              <a:t>개선 · 낙하산 달린 네트</a:t>
            </a:r>
          </a:p>
        </p:txBody>
      </p:sp>
      <p:sp>
        <p:nvSpPr>
          <p:cNvPr id="34" name="TextBox 33"/>
          <p:cNvSpPr txBox="1"/>
          <p:nvPr/>
        </p:nvSpPr>
        <p:spPr>
          <a:xfrm>
            <a:off x="10671047" y="4800600"/>
            <a:ext cx="5669280" cy="1188720"/>
          </a:xfrm>
          <a:prstGeom prst="rect">
            <a:avLst/>
          </a:prstGeom>
          <a:noFill/>
        </p:spPr>
        <p:txBody>
          <a:bodyPr wrap="square" lIns="0" rIns="0" tIns="0" bIns="0" anchor="t">
            <a:spAutoFit/>
          </a:bodyPr>
          <a:lstStyle/>
          <a:p>
            <a:pPr algn="l"/>
            <a:r>
              <a:rPr sz="6000" b="1">
                <a:solidFill>
                  <a:srgbClr val="FFFFFF"/>
                </a:solidFill>
                <a:latin typeface="프리텐다드 Bold"/>
                <a:ea typeface="프리텐다드 Bold"/>
                <a:cs typeface="프리텐다드 Bold"/>
              </a:rPr>
              <a:t>약 8 J</a:t>
            </a:r>
          </a:p>
        </p:txBody>
      </p:sp>
      <p:sp>
        <p:nvSpPr>
          <p:cNvPr id="35" name="TextBox 34"/>
          <p:cNvSpPr txBox="1"/>
          <p:nvPr/>
        </p:nvSpPr>
        <p:spPr>
          <a:xfrm>
            <a:off x="10671047" y="6080759"/>
            <a:ext cx="5669280" cy="1005840"/>
          </a:xfrm>
          <a:prstGeom prst="rect">
            <a:avLst/>
          </a:prstGeom>
          <a:noFill/>
        </p:spPr>
        <p:txBody>
          <a:bodyPr wrap="square" lIns="0" rIns="0" tIns="0" bIns="0" anchor="t">
            <a:spAutoFit/>
          </a:bodyPr>
          <a:lstStyle/>
          <a:p>
            <a:pPr algn="l">
              <a:spcAft>
                <a:spcPts val="400"/>
              </a:spcAft>
            </a:pPr>
            <a:r>
              <a:rPr sz="2000" b="1">
                <a:solidFill>
                  <a:srgbClr val="FFFFFF"/>
                </a:solidFill>
                <a:latin typeface="프리텐다드 Bold"/>
                <a:ea typeface="프리텐다드 Bold"/>
                <a:cs typeface="프리텐다드 Bold"/>
              </a:rPr>
              <a:t>종단속도 약 3.2 m/s</a:t>
            </a:r>
          </a:p>
          <a:p>
            <a:pPr algn="l">
              <a:spcAft>
                <a:spcPts val="400"/>
              </a:spcAft>
            </a:pPr>
            <a:r>
              <a:rPr sz="1800" b="0">
                <a:solidFill>
                  <a:srgbClr val="D9D9D9"/>
                </a:solidFill>
                <a:latin typeface="프리텐다드"/>
                <a:ea typeface="프리텐다드"/>
                <a:cs typeface="프리텐다드"/>
              </a:rPr>
              <a:t>포획 직후 낙하산 전개</a:t>
            </a:r>
          </a:p>
        </p:txBody>
      </p:sp>
      <p:sp>
        <p:nvSpPr>
          <p:cNvPr id="36" name="TextBox 35"/>
          <p:cNvSpPr txBox="1"/>
          <p:nvPr/>
        </p:nvSpPr>
        <p:spPr>
          <a:xfrm>
            <a:off x="8165592" y="5074920"/>
            <a:ext cx="1956815" cy="914400"/>
          </a:xfrm>
          <a:prstGeom prst="rect">
            <a:avLst/>
          </a:prstGeom>
          <a:noFill/>
        </p:spPr>
        <p:txBody>
          <a:bodyPr wrap="square" lIns="0" rIns="0" tIns="0" bIns="0" anchor="ctr">
            <a:spAutoFit/>
          </a:bodyPr>
          <a:lstStyle/>
          <a:p>
            <a:pPr algn="ctr"/>
            <a:r>
              <a:rPr sz="6000" b="1">
                <a:solidFill>
                  <a:srgbClr val="6994D4"/>
                </a:solidFill>
                <a:latin typeface="프리텐다드 Bold"/>
                <a:ea typeface="프리텐다드 Bold"/>
                <a:cs typeface="프리텐다드 Bold"/>
              </a:rPr>
              <a:t>›</a:t>
            </a:r>
          </a:p>
        </p:txBody>
      </p:sp>
      <p:sp>
        <p:nvSpPr>
          <p:cNvPr id="37" name="Rounded Rectangle 36"/>
          <p:cNvSpPr/>
          <p:nvPr/>
        </p:nvSpPr>
        <p:spPr>
          <a:xfrm>
            <a:off x="1399032" y="7635240"/>
            <a:ext cx="15489936" cy="868680"/>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99032" y="7635240"/>
            <a:ext cx="15489936" cy="868680"/>
          </a:xfrm>
          <a:prstGeom prst="rect">
            <a:avLst/>
          </a:prstGeom>
          <a:noFill/>
        </p:spPr>
        <p:txBody>
          <a:bodyPr wrap="square" lIns="0" rIns="0" tIns="0" bIns="0" anchor="ctr">
            <a:spAutoFit/>
          </a:bodyPr>
          <a:lstStyle/>
          <a:p>
            <a:pPr algn="ctr"/>
            <a:r>
              <a:rPr sz="2200" b="0">
                <a:solidFill>
                  <a:srgbClr val="262626"/>
                </a:solidFill>
                <a:latin typeface="프리텐다드"/>
                <a:ea typeface="프리텐다드"/>
                <a:cs typeface="프리텐다드"/>
              </a:rPr>
              <a:t>충돌 에너지 약 98% ↓  →  </a:t>
            </a:r>
            <a:r>
              <a:rPr sz="2200" b="1">
                <a:solidFill>
                  <a:srgbClr val="6994D4"/>
                </a:solidFill>
                <a:latin typeface="프리텐다드 Bold"/>
                <a:ea typeface="프리텐다드 Bold"/>
                <a:cs typeface="프리텐다드 Bold"/>
              </a:rPr>
              <a:t>S7 낙하 평가</a:t>
            </a:r>
            <a:r>
              <a:rPr sz="2200" b="0">
                <a:solidFill>
                  <a:srgbClr val="262626"/>
                </a:solidFill>
                <a:latin typeface="프리텐다드"/>
                <a:ea typeface="프리텐다드"/>
                <a:cs typeface="프리텐다드"/>
              </a:rPr>
              <a:t> 추가</a:t>
            </a:r>
          </a:p>
        </p:txBody>
      </p:sp>
      <p:sp>
        <p:nvSpPr>
          <p:cNvPr id="39" name="TextBox 38"/>
          <p:cNvSpPr txBox="1"/>
          <p:nvPr/>
        </p:nvSpPr>
        <p:spPr>
          <a:xfrm>
            <a:off x="1399032" y="8641080"/>
            <a:ext cx="15489936" cy="411480"/>
          </a:xfrm>
          <a:prstGeom prst="rect">
            <a:avLst/>
          </a:prstGeom>
          <a:noFill/>
        </p:spPr>
        <p:txBody>
          <a:bodyPr wrap="square" lIns="0" rIns="0" tIns="0" bIns="0" anchor="t">
            <a:spAutoFit/>
          </a:bodyPr>
          <a:lstStyle/>
          <a:p>
            <a:pPr algn="ctr"/>
            <a:r>
              <a:rPr sz="1800" b="0">
                <a:solidFill>
                  <a:srgbClr val="595959"/>
                </a:solidFill>
                <a:latin typeface="프리텐다드"/>
                <a:ea typeface="프리텐다드"/>
                <a:cs typeface="프리텐다드"/>
              </a:rPr>
              <a:t>실제 사례  ·  </a:t>
            </a:r>
            <a:r>
              <a:rPr sz="1800" b="1">
                <a:solidFill>
                  <a:srgbClr val="262626"/>
                </a:solidFill>
                <a:latin typeface="프리텐다드 Bold"/>
                <a:ea typeface="프리텐다드 Bold"/>
                <a:cs typeface="프리텐다드 Bold"/>
              </a:rPr>
              <a:t>OpenWorks SkyWall</a:t>
            </a:r>
            <a:r>
              <a:rPr sz="1800" b="0">
                <a:solidFill>
                  <a:srgbClr val="595959"/>
                </a:solidFill>
                <a:latin typeface="프리텐다드"/>
                <a:ea typeface="프리텐다드"/>
                <a:cs typeface="프리텐다드"/>
              </a:rPr>
              <a:t>  (터렛형 자동 포획 · 낙하산 발사체)</a:t>
            </a:r>
          </a:p>
        </p:txBody>
      </p:sp>
      <p:sp>
        <p:nvSpPr>
          <p:cNvPr id="40" name="TextBox 39"/>
          <p:cNvSpPr txBox="1"/>
          <p:nvPr/>
        </p:nvSpPr>
        <p:spPr>
          <a:xfrm>
            <a:off x="1399032" y="9144000"/>
            <a:ext cx="15489936" cy="365760"/>
          </a:xfrm>
          <a:prstGeom prst="rect">
            <a:avLst/>
          </a:prstGeom>
          <a:noFill/>
        </p:spPr>
        <p:txBody>
          <a:bodyPr wrap="square" lIns="0" rIns="0" tIns="0" bIns="0" anchor="t">
            <a:spAutoFit/>
          </a:bodyPr>
          <a:lstStyle/>
          <a:p>
            <a:pPr algn="ctr"/>
            <a:r>
              <a:rPr sz="1400" b="0">
                <a:solidFill>
                  <a:srgbClr val="7F7F7F"/>
                </a:solidFill>
                <a:latin typeface="프리텐다드"/>
                <a:ea typeface="프리텐다드"/>
                <a:cs typeface="프리텐다드"/>
              </a:rPr>
              <a:t>가정: 드론 1.35 kg + 네트 0.3 kg, 낙하산 지름 1.5 m, C_d ≈ 1.5, 해면 공기밀도 · 자유낙하 에너지는 공기저항을 무시한 상한값</a:t>
            </a:r>
          </a:p>
        </p:txBody>
      </p:sp>
    </p:spTree>
  </p:cSld>
  <p:clrMapOvr>
    <a:masterClrMapping/>
  </p:clrMapOvr>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사용된 툴</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02</a:t>
            </a:r>
          </a:p>
        </p:txBody>
      </p:sp>
      <p:grpSp>
        <p:nvGrpSpPr>
          <p:cNvPr name="Group 6" id="6"/>
          <p:cNvGrpSpPr/>
          <p:nvPr/>
        </p:nvGrpSpPr>
        <p:grpSpPr>
          <a:xfrm rot="0">
            <a:off x="1853987" y="3508790"/>
            <a:ext cx="4466309" cy="5447900"/>
            <a:chOff x="0" y="0"/>
            <a:chExt cx="861616" cy="1050979"/>
          </a:xfrm>
        </p:grpSpPr>
        <p:sp>
          <p:nvSpPr>
            <p:cNvPr name="Freeform 7" id="7"/>
            <p:cNvSpPr/>
            <p:nvPr/>
          </p:nvSpPr>
          <p:spPr>
            <a:xfrm flipH="false" flipV="false" rot="0">
              <a:off x="0" y="0"/>
              <a:ext cx="861616" cy="1050979"/>
            </a:xfrm>
            <a:custGeom>
              <a:avLst/>
              <a:gdLst/>
              <a:ahLst/>
              <a:cxnLst/>
              <a:rect r="r" b="b" t="t" l="l"/>
              <a:pathLst>
                <a:path h="1050979" w="861616">
                  <a:moveTo>
                    <a:pt x="46802" y="0"/>
                  </a:moveTo>
                  <a:lnTo>
                    <a:pt x="814814" y="0"/>
                  </a:lnTo>
                  <a:cubicBezTo>
                    <a:pt x="827227" y="0"/>
                    <a:pt x="839131" y="4931"/>
                    <a:pt x="847908" y="13708"/>
                  </a:cubicBezTo>
                  <a:cubicBezTo>
                    <a:pt x="856685" y="22485"/>
                    <a:pt x="861616" y="34389"/>
                    <a:pt x="861616" y="46802"/>
                  </a:cubicBezTo>
                  <a:lnTo>
                    <a:pt x="861616" y="1004177"/>
                  </a:lnTo>
                  <a:cubicBezTo>
                    <a:pt x="861616" y="1030025"/>
                    <a:pt x="840662" y="1050979"/>
                    <a:pt x="814814" y="1050979"/>
                  </a:cubicBezTo>
                  <a:lnTo>
                    <a:pt x="46802" y="1050979"/>
                  </a:lnTo>
                  <a:cubicBezTo>
                    <a:pt x="20954" y="1050979"/>
                    <a:pt x="0" y="1030025"/>
                    <a:pt x="0" y="1004177"/>
                  </a:cubicBezTo>
                  <a:lnTo>
                    <a:pt x="0" y="46802"/>
                  </a:lnTo>
                  <a:cubicBezTo>
                    <a:pt x="0" y="20954"/>
                    <a:pt x="20954" y="0"/>
                    <a:pt x="46802" y="0"/>
                  </a:cubicBezTo>
                  <a:close/>
                </a:path>
              </a:pathLst>
            </a:custGeom>
            <a:solidFill>
              <a:srgbClr val="FFFFFF"/>
            </a:solidFill>
            <a:ln cap="rnd">
              <a:noFill/>
              <a:prstDash val="solid"/>
              <a:round/>
            </a:ln>
          </p:spPr>
        </p:sp>
        <p:sp>
          <p:nvSpPr>
            <p:cNvPr name="TextBox 8" id="8"/>
            <p:cNvSpPr txBox="true"/>
            <p:nvPr/>
          </p:nvSpPr>
          <p:spPr>
            <a:xfrm>
              <a:off x="0" y="-38100"/>
              <a:ext cx="861616" cy="108907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6910846" y="3508790"/>
            <a:ext cx="4466309" cy="5447900"/>
            <a:chOff x="0" y="0"/>
            <a:chExt cx="861616" cy="1050979"/>
          </a:xfrm>
        </p:grpSpPr>
        <p:sp>
          <p:nvSpPr>
            <p:cNvPr name="Freeform 10" id="10"/>
            <p:cNvSpPr/>
            <p:nvPr/>
          </p:nvSpPr>
          <p:spPr>
            <a:xfrm flipH="false" flipV="false" rot="0">
              <a:off x="0" y="0"/>
              <a:ext cx="861616" cy="1050979"/>
            </a:xfrm>
            <a:custGeom>
              <a:avLst/>
              <a:gdLst/>
              <a:ahLst/>
              <a:cxnLst/>
              <a:rect r="r" b="b" t="t" l="l"/>
              <a:pathLst>
                <a:path h="1050979" w="861616">
                  <a:moveTo>
                    <a:pt x="46802" y="0"/>
                  </a:moveTo>
                  <a:lnTo>
                    <a:pt x="814814" y="0"/>
                  </a:lnTo>
                  <a:cubicBezTo>
                    <a:pt x="827227" y="0"/>
                    <a:pt x="839131" y="4931"/>
                    <a:pt x="847908" y="13708"/>
                  </a:cubicBezTo>
                  <a:cubicBezTo>
                    <a:pt x="856685" y="22485"/>
                    <a:pt x="861616" y="34389"/>
                    <a:pt x="861616" y="46802"/>
                  </a:cubicBezTo>
                  <a:lnTo>
                    <a:pt x="861616" y="1004177"/>
                  </a:lnTo>
                  <a:cubicBezTo>
                    <a:pt x="861616" y="1030025"/>
                    <a:pt x="840662" y="1050979"/>
                    <a:pt x="814814" y="1050979"/>
                  </a:cubicBezTo>
                  <a:lnTo>
                    <a:pt x="46802" y="1050979"/>
                  </a:lnTo>
                  <a:cubicBezTo>
                    <a:pt x="20954" y="1050979"/>
                    <a:pt x="0" y="1030025"/>
                    <a:pt x="0" y="1004177"/>
                  </a:cubicBezTo>
                  <a:lnTo>
                    <a:pt x="0" y="46802"/>
                  </a:lnTo>
                  <a:cubicBezTo>
                    <a:pt x="0" y="20954"/>
                    <a:pt x="20954" y="0"/>
                    <a:pt x="46802" y="0"/>
                  </a:cubicBezTo>
                  <a:close/>
                </a:path>
              </a:pathLst>
            </a:custGeom>
            <a:solidFill>
              <a:srgbClr val="FFFFFF"/>
            </a:solidFill>
            <a:ln cap="rnd">
              <a:noFill/>
              <a:prstDash val="solid"/>
              <a:round/>
            </a:ln>
          </p:spPr>
        </p:sp>
        <p:sp>
          <p:nvSpPr>
            <p:cNvPr name="TextBox 11" id="11"/>
            <p:cNvSpPr txBox="true"/>
            <p:nvPr/>
          </p:nvSpPr>
          <p:spPr>
            <a:xfrm>
              <a:off x="0" y="-38100"/>
              <a:ext cx="861616" cy="108907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11968995" y="3508790"/>
            <a:ext cx="4466309" cy="5447900"/>
            <a:chOff x="0" y="0"/>
            <a:chExt cx="861616" cy="1050979"/>
          </a:xfrm>
        </p:grpSpPr>
        <p:sp>
          <p:nvSpPr>
            <p:cNvPr name="Freeform 13" id="13"/>
            <p:cNvSpPr/>
            <p:nvPr/>
          </p:nvSpPr>
          <p:spPr>
            <a:xfrm flipH="false" flipV="false" rot="0">
              <a:off x="0" y="0"/>
              <a:ext cx="861616" cy="1050979"/>
            </a:xfrm>
            <a:custGeom>
              <a:avLst/>
              <a:gdLst/>
              <a:ahLst/>
              <a:cxnLst/>
              <a:rect r="r" b="b" t="t" l="l"/>
              <a:pathLst>
                <a:path h="1050979" w="861616">
                  <a:moveTo>
                    <a:pt x="46802" y="0"/>
                  </a:moveTo>
                  <a:lnTo>
                    <a:pt x="814814" y="0"/>
                  </a:lnTo>
                  <a:cubicBezTo>
                    <a:pt x="827227" y="0"/>
                    <a:pt x="839131" y="4931"/>
                    <a:pt x="847908" y="13708"/>
                  </a:cubicBezTo>
                  <a:cubicBezTo>
                    <a:pt x="856685" y="22485"/>
                    <a:pt x="861616" y="34389"/>
                    <a:pt x="861616" y="46802"/>
                  </a:cubicBezTo>
                  <a:lnTo>
                    <a:pt x="861616" y="1004177"/>
                  </a:lnTo>
                  <a:cubicBezTo>
                    <a:pt x="861616" y="1030025"/>
                    <a:pt x="840662" y="1050979"/>
                    <a:pt x="814814" y="1050979"/>
                  </a:cubicBezTo>
                  <a:lnTo>
                    <a:pt x="46802" y="1050979"/>
                  </a:lnTo>
                  <a:cubicBezTo>
                    <a:pt x="20954" y="1050979"/>
                    <a:pt x="0" y="1030025"/>
                    <a:pt x="0" y="1004177"/>
                  </a:cubicBezTo>
                  <a:lnTo>
                    <a:pt x="0" y="46802"/>
                  </a:lnTo>
                  <a:cubicBezTo>
                    <a:pt x="0" y="20954"/>
                    <a:pt x="20954" y="0"/>
                    <a:pt x="46802" y="0"/>
                  </a:cubicBezTo>
                  <a:close/>
                </a:path>
              </a:pathLst>
            </a:custGeom>
            <a:solidFill>
              <a:srgbClr val="FFFFFF"/>
            </a:solidFill>
            <a:ln cap="rnd">
              <a:noFill/>
              <a:prstDash val="solid"/>
              <a:round/>
            </a:ln>
          </p:spPr>
        </p:sp>
        <p:sp>
          <p:nvSpPr>
            <p:cNvPr name="TextBox 14" id="14"/>
            <p:cNvSpPr txBox="true"/>
            <p:nvPr/>
          </p:nvSpPr>
          <p:spPr>
            <a:xfrm>
              <a:off x="0" y="-38100"/>
              <a:ext cx="861616" cy="1089079"/>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5" id="15"/>
          <p:cNvGrpSpPr/>
          <p:nvPr/>
        </p:nvGrpSpPr>
        <p:grpSpPr>
          <a:xfrm rot="0">
            <a:off x="3166976" y="4044651"/>
            <a:ext cx="1840331" cy="1840331"/>
            <a:chOff x="0" y="0"/>
            <a:chExt cx="2453774" cy="2453774"/>
          </a:xfrm>
        </p:grpSpPr>
        <p:grpSp>
          <p:nvGrpSpPr>
            <p:cNvPr name="Group 16" id="16"/>
            <p:cNvGrpSpPr/>
            <p:nvPr/>
          </p:nvGrpSpPr>
          <p:grpSpPr>
            <a:xfrm rot="0">
              <a:off x="0" y="0"/>
              <a:ext cx="2453774" cy="245377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2626"/>
              </a:solidFill>
            </p:spPr>
          </p:sp>
          <p:sp>
            <p:nvSpPr>
              <p:cNvPr name="TextBox 18" id="18"/>
              <p:cNvSpPr txBox="true"/>
              <p:nvPr/>
            </p:nvSpPr>
            <p:spPr>
              <a:xfrm>
                <a:off x="76200" y="38100"/>
                <a:ext cx="660400" cy="698500"/>
              </a:xfrm>
              <a:prstGeom prst="rect">
                <a:avLst/>
              </a:prstGeom>
            </p:spPr>
            <p:txBody>
              <a:bodyPr anchor="ctr" rtlCol="false" tIns="57306" lIns="57306" bIns="57306" rIns="57306"/>
              <a:lstStyle/>
              <a:p>
                <a:pPr algn="ctr">
                  <a:lnSpc>
                    <a:spcPts val="2660"/>
                  </a:lnSpc>
                </a:pPr>
              </a:p>
            </p:txBody>
          </p:sp>
        </p:grpSp>
        <p:sp>
          <p:nvSpPr>
            <p:cNvPr name="Freeform 19" id="19"/>
            <p:cNvSpPr/>
            <p:nvPr/>
          </p:nvSpPr>
          <p:spPr>
            <a:xfrm flipH="false" flipV="false" rot="0">
              <a:off x="644747" y="644747"/>
              <a:ext cx="1164280" cy="1164280"/>
            </a:xfrm>
            <a:custGeom>
              <a:avLst/>
              <a:gdLst/>
              <a:ahLst/>
              <a:cxnLst/>
              <a:rect r="r" b="b" t="t" l="l"/>
              <a:pathLst>
                <a:path h="1164280" w="1164280">
                  <a:moveTo>
                    <a:pt x="0" y="0"/>
                  </a:moveTo>
                  <a:lnTo>
                    <a:pt x="1164280" y="0"/>
                  </a:lnTo>
                  <a:lnTo>
                    <a:pt x="1164280" y="1164280"/>
                  </a:lnTo>
                  <a:lnTo>
                    <a:pt x="0" y="116428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grpSp>
        <p:nvGrpSpPr>
          <p:cNvPr name="Group 20" id="20"/>
          <p:cNvGrpSpPr/>
          <p:nvPr/>
        </p:nvGrpSpPr>
        <p:grpSpPr>
          <a:xfrm rot="0">
            <a:off x="8191556" y="4044651"/>
            <a:ext cx="1889788" cy="1889788"/>
            <a:chOff x="0" y="0"/>
            <a:chExt cx="2519717" cy="2519717"/>
          </a:xfrm>
        </p:grpSpPr>
        <p:grpSp>
          <p:nvGrpSpPr>
            <p:cNvPr name="Group 21" id="21"/>
            <p:cNvGrpSpPr/>
            <p:nvPr/>
          </p:nvGrpSpPr>
          <p:grpSpPr>
            <a:xfrm rot="0">
              <a:off x="0" y="0"/>
              <a:ext cx="2519717" cy="2519717"/>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2626"/>
              </a:solidFill>
            </p:spPr>
          </p:sp>
          <p:sp>
            <p:nvSpPr>
              <p:cNvPr name="TextBox 23" id="23"/>
              <p:cNvSpPr txBox="true"/>
              <p:nvPr/>
            </p:nvSpPr>
            <p:spPr>
              <a:xfrm>
                <a:off x="76200" y="38100"/>
                <a:ext cx="660400" cy="698500"/>
              </a:xfrm>
              <a:prstGeom prst="rect">
                <a:avLst/>
              </a:prstGeom>
            </p:spPr>
            <p:txBody>
              <a:bodyPr anchor="ctr" rtlCol="false" tIns="57306" lIns="57306" bIns="57306" rIns="57306"/>
              <a:lstStyle/>
              <a:p>
                <a:pPr algn="ctr">
                  <a:lnSpc>
                    <a:spcPts val="2660"/>
                  </a:lnSpc>
                </a:pPr>
              </a:p>
            </p:txBody>
          </p:sp>
        </p:grpSp>
        <p:sp>
          <p:nvSpPr>
            <p:cNvPr name="Freeform 24" id="24"/>
            <p:cNvSpPr/>
            <p:nvPr/>
          </p:nvSpPr>
          <p:spPr>
            <a:xfrm flipH="false" flipV="false" rot="0">
              <a:off x="633608" y="662074"/>
              <a:ext cx="1252501" cy="1195569"/>
            </a:xfrm>
            <a:custGeom>
              <a:avLst/>
              <a:gdLst/>
              <a:ahLst/>
              <a:cxnLst/>
              <a:rect r="r" b="b" t="t" l="l"/>
              <a:pathLst>
                <a:path h="1195569" w="1252501">
                  <a:moveTo>
                    <a:pt x="0" y="0"/>
                  </a:moveTo>
                  <a:lnTo>
                    <a:pt x="1252501" y="0"/>
                  </a:lnTo>
                  <a:lnTo>
                    <a:pt x="1252501" y="1195569"/>
                  </a:lnTo>
                  <a:lnTo>
                    <a:pt x="0" y="11955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25" id="25"/>
          <p:cNvGrpSpPr/>
          <p:nvPr/>
        </p:nvGrpSpPr>
        <p:grpSpPr>
          <a:xfrm rot="0">
            <a:off x="13321802" y="4044651"/>
            <a:ext cx="1760695" cy="1760695"/>
            <a:chOff x="0" y="0"/>
            <a:chExt cx="2347593" cy="2347593"/>
          </a:xfrm>
        </p:grpSpPr>
        <p:grpSp>
          <p:nvGrpSpPr>
            <p:cNvPr name="Group 26" id="26"/>
            <p:cNvGrpSpPr/>
            <p:nvPr/>
          </p:nvGrpSpPr>
          <p:grpSpPr>
            <a:xfrm rot="0">
              <a:off x="0" y="0"/>
              <a:ext cx="2347593" cy="2347593"/>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62626"/>
              </a:solidFill>
            </p:spPr>
          </p:sp>
          <p:sp>
            <p:nvSpPr>
              <p:cNvPr name="TextBox 28" id="28"/>
              <p:cNvSpPr txBox="true"/>
              <p:nvPr/>
            </p:nvSpPr>
            <p:spPr>
              <a:xfrm>
                <a:off x="76200" y="38100"/>
                <a:ext cx="660400" cy="698500"/>
              </a:xfrm>
              <a:prstGeom prst="rect">
                <a:avLst/>
              </a:prstGeom>
            </p:spPr>
            <p:txBody>
              <a:bodyPr anchor="ctr" rtlCol="false" tIns="57306" lIns="57306" bIns="57306" rIns="57306"/>
              <a:lstStyle/>
              <a:p>
                <a:pPr algn="ctr">
                  <a:lnSpc>
                    <a:spcPts val="2660"/>
                  </a:lnSpc>
                </a:pPr>
              </a:p>
            </p:txBody>
          </p:sp>
        </p:grpSp>
        <p:sp>
          <p:nvSpPr>
            <p:cNvPr name="Freeform 29" id="29"/>
            <p:cNvSpPr/>
            <p:nvPr/>
          </p:nvSpPr>
          <p:spPr>
            <a:xfrm flipH="false" flipV="false" rot="0">
              <a:off x="660391" y="616847"/>
              <a:ext cx="1026812" cy="1113899"/>
            </a:xfrm>
            <a:custGeom>
              <a:avLst/>
              <a:gdLst/>
              <a:ahLst/>
              <a:cxnLst/>
              <a:rect r="r" b="b" t="t" l="l"/>
              <a:pathLst>
                <a:path h="1113899" w="1026812">
                  <a:moveTo>
                    <a:pt x="0" y="0"/>
                  </a:moveTo>
                  <a:lnTo>
                    <a:pt x="1026812" y="0"/>
                  </a:lnTo>
                  <a:lnTo>
                    <a:pt x="1026812" y="1113899"/>
                  </a:lnTo>
                  <a:lnTo>
                    <a:pt x="0" y="111389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sp>
        <p:nvSpPr>
          <p:cNvPr name="TextBox 30" id="30"/>
          <p:cNvSpPr txBox="true"/>
          <p:nvPr/>
        </p:nvSpPr>
        <p:spPr>
          <a:xfrm rot="0">
            <a:off x="2130551" y="6328143"/>
            <a:ext cx="3913632" cy="415207"/>
          </a:xfrm>
          <a:prstGeom prst="rect">
            <a:avLst/>
          </a:prstGeom>
        </p:spPr>
        <p:txBody>
          <a:bodyPr anchor="t" rtlCol="false" tIns="0" lIns="0" bIns="0" rIns="0">
            <a:spAutoFit/>
          </a:bodyPr>
          <a:lstStyle/>
          <a:p>
            <a:pPr algn="ctr">
              <a:lnSpc>
                <a:spcPts val="3364"/>
              </a:lnSpc>
            </a:pPr>
            <a:r>
              <a:rPr lang="en-US" b="true" sz="2403">
                <a:solidFill>
                  <a:srgbClr val="262626"/>
                </a:solidFill>
                <a:latin typeface="프리텐다드 Semi-Bold"/>
                <a:ea typeface="프리텐다드 Semi-Bold"/>
                <a:cs typeface="프리텐다드 Semi-Bold"/>
                <a:sym typeface="프리텐다드 Semi-Bold"/>
              </a:rPr>
              <a:t>MATLAB</a:t>
            </a:r>
          </a:p>
        </p:txBody>
      </p:sp>
      <p:sp>
        <p:nvSpPr>
          <p:cNvPr name="TextBox 31" id="31"/>
          <p:cNvSpPr txBox="true"/>
          <p:nvPr/>
        </p:nvSpPr>
        <p:spPr>
          <a:xfrm rot="0">
            <a:off x="7187183" y="6328143"/>
            <a:ext cx="3913632" cy="415207"/>
          </a:xfrm>
          <a:prstGeom prst="rect">
            <a:avLst/>
          </a:prstGeom>
        </p:spPr>
        <p:txBody>
          <a:bodyPr anchor="t" rtlCol="false" tIns="0" lIns="0" bIns="0" rIns="0">
            <a:spAutoFit/>
          </a:bodyPr>
          <a:lstStyle/>
          <a:p>
            <a:pPr algn="ctr">
              <a:lnSpc>
                <a:spcPts val="3364"/>
              </a:lnSpc>
            </a:pPr>
            <a:r>
              <a:rPr lang="en-US" sz="2403" b="true">
                <a:solidFill>
                  <a:srgbClr val="262626"/>
                </a:solidFill>
                <a:latin typeface="프리텐다드 Semi-Bold"/>
                <a:ea typeface="프리텐다드 Semi-Bold"/>
                <a:cs typeface="프리텐다드 Semi-Bold"/>
                <a:sym typeface="프리텐다드 Semi-Bold"/>
              </a:rPr>
              <a:t>ode45</a:t>
            </a:r>
          </a:p>
        </p:txBody>
      </p:sp>
      <p:sp>
        <p:nvSpPr>
          <p:cNvPr name="TextBox 32" id="32"/>
          <p:cNvSpPr txBox="true"/>
          <p:nvPr/>
        </p:nvSpPr>
        <p:spPr>
          <a:xfrm rot="0">
            <a:off x="12243816" y="6328143"/>
            <a:ext cx="3913632" cy="415207"/>
          </a:xfrm>
          <a:prstGeom prst="rect">
            <a:avLst/>
          </a:prstGeom>
        </p:spPr>
        <p:txBody>
          <a:bodyPr anchor="t" rtlCol="false" tIns="0" lIns="0" bIns="0" rIns="0">
            <a:spAutoFit/>
          </a:bodyPr>
          <a:lstStyle/>
          <a:p>
            <a:pPr algn="ctr">
              <a:lnSpc>
                <a:spcPts val="3364"/>
              </a:lnSpc>
            </a:pPr>
            <a:r>
              <a:rPr lang="en-US" sz="2403" b="true">
                <a:solidFill>
                  <a:srgbClr val="262626"/>
                </a:solidFill>
                <a:latin typeface="프리텐다드 Semi-Bold"/>
                <a:ea typeface="프리텐다드 Semi-Bold"/>
                <a:cs typeface="프리텐다드 Semi-Bold"/>
                <a:sym typeface="프리텐다드 Semi-Bold"/>
              </a:rPr>
              <a:t>interp1</a:t>
            </a:r>
          </a:p>
        </p:txBody>
      </p:sp>
      <p:sp>
        <p:nvSpPr>
          <p:cNvPr name="TextBox 33" id="33"/>
          <p:cNvSpPr txBox="true"/>
          <p:nvPr/>
        </p:nvSpPr>
        <p:spPr>
          <a:xfrm rot="0">
            <a:off x="2267712" y="7366729"/>
            <a:ext cx="3639312" cy="720344"/>
          </a:xfrm>
          <a:prstGeom prst="rect">
            <a:avLst/>
          </a:prstGeom>
        </p:spPr>
        <p:txBody>
          <a:bodyPr anchor="t" rtlCol="false" tIns="0" lIns="0" bIns="0" rIns="0">
            <a:spAutoFit/>
          </a:bodyPr>
          <a:lstStyle/>
          <a:p>
            <a:pPr algn="ctr">
              <a:lnSpc>
                <a:spcPts val="2983"/>
              </a:lnSpc>
            </a:pPr>
            <a:r>
              <a:rPr lang="en-US" sz="2000">
                <a:solidFill>
                  <a:srgbClr val="262626"/>
                </a:solidFill>
                <a:latin typeface="프리텐다드"/>
                <a:ea typeface="프리텐다드"/>
                <a:cs typeface="프리텐다드"/>
                <a:sym typeface="프리텐다드"/>
              </a:rPr>
              <a:t>개발 · 시각화 환경</a:t>
            </a:r>
          </a:p>
          <a:p>
            <a:pPr algn="ctr">
              <a:lnSpc>
                <a:spcPts val="2983"/>
              </a:lnSpc>
            </a:pPr>
            <a:r>
              <a:rPr lang="en-US" sz="2000">
                <a:solidFill>
                  <a:srgbClr val="262626"/>
                </a:solidFill>
                <a:latin typeface="프리텐다드"/>
                <a:ea typeface="프리텐다드"/>
                <a:cs typeface="프리텐다드"/>
                <a:sym typeface="프리텐다드"/>
              </a:rPr>
              <a:t>plot3 · 결과 그래프</a:t>
            </a:r>
          </a:p>
        </p:txBody>
      </p:sp>
      <p:sp>
        <p:nvSpPr>
          <p:cNvPr name="TextBox 34" id="34"/>
          <p:cNvSpPr txBox="true"/>
          <p:nvPr/>
        </p:nvSpPr>
        <p:spPr>
          <a:xfrm rot="0">
            <a:off x="7324344" y="7366729"/>
            <a:ext cx="3639312" cy="1091819"/>
          </a:xfrm>
          <a:prstGeom prst="rect">
            <a:avLst/>
          </a:prstGeom>
        </p:spPr>
        <p:txBody>
          <a:bodyPr anchor="t" rtlCol="false" tIns="0" lIns="0" bIns="0" rIns="0">
            <a:spAutoFit/>
          </a:bodyPr>
          <a:lstStyle/>
          <a:p>
            <a:pPr algn="ctr">
              <a:lnSpc>
                <a:spcPts val="2983"/>
              </a:lnSpc>
            </a:pPr>
            <a:r>
              <a:rPr lang="en-US" sz="2000">
                <a:solidFill>
                  <a:srgbClr val="262626"/>
                </a:solidFill>
                <a:latin typeface="프리텐다드"/>
                <a:ea typeface="프리텐다드"/>
                <a:cs typeface="프리텐다드"/>
                <a:sym typeface="프리텐다드"/>
              </a:rPr>
              <a:t>Dormand–Prince 4/5차</a:t>
            </a:r>
          </a:p>
          <a:p>
            <a:pPr algn="ctr">
              <a:lnSpc>
                <a:spcPts val="2983"/>
              </a:lnSpc>
            </a:pPr>
            <a:r>
              <a:rPr lang="en-US" sz="2000">
                <a:solidFill>
                  <a:srgbClr val="262626"/>
                </a:solidFill>
                <a:latin typeface="프리텐다드"/>
                <a:ea typeface="프리텐다드"/>
                <a:cs typeface="프리텐다드"/>
                <a:sym typeface="프리텐다드"/>
              </a:rPr>
              <a:t>가변 스텝 · 6차원 상태 [p; v]</a:t>
            </a:r>
          </a:p>
        </p:txBody>
      </p:sp>
      <p:sp>
        <p:nvSpPr>
          <p:cNvPr name="TextBox 35" id="35"/>
          <p:cNvSpPr txBox="true"/>
          <p:nvPr/>
        </p:nvSpPr>
        <p:spPr>
          <a:xfrm rot="0">
            <a:off x="12380976" y="7366729"/>
            <a:ext cx="3639312" cy="1091819"/>
          </a:xfrm>
          <a:prstGeom prst="rect">
            <a:avLst/>
          </a:prstGeom>
        </p:spPr>
        <p:txBody>
          <a:bodyPr anchor="t" rtlCol="false" tIns="0" lIns="0" bIns="0" rIns="0">
            <a:spAutoFit/>
          </a:bodyPr>
          <a:lstStyle/>
          <a:p>
            <a:pPr algn="ctr">
              <a:lnSpc>
                <a:spcPts val="2983"/>
              </a:lnSpc>
            </a:pPr>
            <a:r>
              <a:rPr lang="en-US" sz="2000">
                <a:solidFill>
                  <a:srgbClr val="262626"/>
                </a:solidFill>
                <a:latin typeface="프리텐다드"/>
                <a:ea typeface="프리텐다드"/>
                <a:cs typeface="프리텐다드"/>
                <a:sym typeface="프리텐다드"/>
              </a:rPr>
              <a:t>비균일 시간축 보정</a:t>
            </a:r>
          </a:p>
          <a:p>
            <a:pPr algn="ctr">
              <a:lnSpc>
                <a:spcPts val="2983"/>
              </a:lnSpc>
            </a:pPr>
            <a:r>
              <a:rPr lang="en-US" sz="2000">
                <a:solidFill>
                  <a:srgbClr val="262626"/>
                </a:solidFill>
                <a:latin typeface="프리텐다드"/>
                <a:ea typeface="프리텐다드"/>
                <a:cs typeface="프리텐다드"/>
                <a:sym typeface="프리텐다드"/>
              </a:rPr>
              <a:t>1 Hz · 공통 시간축</a:t>
            </a:r>
          </a:p>
        </p:txBody>
      </p:sp>
      <p:sp>
        <p:nvSpPr>
          <p:cNvPr name="AutoShape 36" id="36"/>
          <p:cNvSpPr/>
          <p:nvPr/>
        </p:nvSpPr>
        <p:spPr>
          <a:xfrm>
            <a:off x="2267712" y="7088377"/>
            <a:ext cx="3639312" cy="0"/>
          </a:xfrm>
          <a:prstGeom prst="line">
            <a:avLst/>
          </a:prstGeom>
          <a:ln cap="flat" w="19050">
            <a:solidFill>
              <a:srgbClr val="DEDEDE"/>
            </a:solidFill>
            <a:prstDash val="solid"/>
            <a:headEnd type="none" len="sm" w="sm"/>
            <a:tailEnd type="none" len="sm" w="sm"/>
          </a:ln>
        </p:spPr>
      </p:sp>
      <p:sp>
        <p:nvSpPr>
          <p:cNvPr name="AutoShape 37" id="37"/>
          <p:cNvSpPr/>
          <p:nvPr/>
        </p:nvSpPr>
        <p:spPr>
          <a:xfrm>
            <a:off x="7324344" y="7088377"/>
            <a:ext cx="3639312" cy="0"/>
          </a:xfrm>
          <a:prstGeom prst="line">
            <a:avLst/>
          </a:prstGeom>
          <a:ln cap="flat" w="19050">
            <a:solidFill>
              <a:srgbClr val="DEDEDE"/>
            </a:solidFill>
            <a:prstDash val="solid"/>
            <a:headEnd type="none" len="sm" w="sm"/>
            <a:tailEnd type="none" len="sm" w="sm"/>
          </a:ln>
        </p:spPr>
      </p:sp>
      <p:sp>
        <p:nvSpPr>
          <p:cNvPr name="AutoShape 38" id="38"/>
          <p:cNvSpPr/>
          <p:nvPr/>
        </p:nvSpPr>
        <p:spPr>
          <a:xfrm>
            <a:off x="12380976" y="7088377"/>
            <a:ext cx="3639312" cy="0"/>
          </a:xfrm>
          <a:prstGeom prst="line">
            <a:avLst/>
          </a:prstGeom>
          <a:ln cap="flat" w="19050">
            <a:solidFill>
              <a:srgbClr val="DEDEDE"/>
            </a:solidFill>
            <a:prstDash val="solid"/>
            <a:headEnd type="none" len="sm" w="sm"/>
            <a:tailEnd type="none" len="sm" w="sm"/>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사용된 수식</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02</a:t>
            </a:r>
          </a:p>
        </p:txBody>
      </p:sp>
      <p:grpSp>
        <p:nvGrpSpPr>
          <p:cNvPr name="Group 6" id="6"/>
          <p:cNvGrpSpPr/>
          <p:nvPr/>
        </p:nvGrpSpPr>
        <p:grpSpPr>
          <a:xfrm rot="0">
            <a:off x="1999431" y="3312248"/>
            <a:ext cx="6962817" cy="4065124"/>
            <a:chOff x="0" y="0"/>
            <a:chExt cx="1343229" cy="784222"/>
          </a:xfrm>
        </p:grpSpPr>
        <p:sp>
          <p:nvSpPr>
            <p:cNvPr name="Freeform 7" id="7"/>
            <p:cNvSpPr/>
            <p:nvPr/>
          </p:nvSpPr>
          <p:spPr>
            <a:xfrm flipH="false" flipV="false" rot="0">
              <a:off x="0" y="0"/>
              <a:ext cx="1343229" cy="784222"/>
            </a:xfrm>
            <a:custGeom>
              <a:avLst/>
              <a:gdLst/>
              <a:ahLst/>
              <a:cxnLst/>
              <a:rect r="r" b="b" t="t" l="l"/>
              <a:pathLst>
                <a:path h="784222" w="1343229">
                  <a:moveTo>
                    <a:pt x="30021" y="0"/>
                  </a:moveTo>
                  <a:lnTo>
                    <a:pt x="1313208" y="0"/>
                  </a:lnTo>
                  <a:cubicBezTo>
                    <a:pt x="1321170" y="0"/>
                    <a:pt x="1328806" y="3163"/>
                    <a:pt x="1334436" y="8793"/>
                  </a:cubicBezTo>
                  <a:cubicBezTo>
                    <a:pt x="1340066" y="14423"/>
                    <a:pt x="1343229" y="22059"/>
                    <a:pt x="1343229" y="30021"/>
                  </a:cubicBezTo>
                  <a:lnTo>
                    <a:pt x="1343229" y="754200"/>
                  </a:lnTo>
                  <a:cubicBezTo>
                    <a:pt x="1343229" y="762163"/>
                    <a:pt x="1340066" y="769799"/>
                    <a:pt x="1334436" y="775429"/>
                  </a:cubicBezTo>
                  <a:cubicBezTo>
                    <a:pt x="1328806" y="781059"/>
                    <a:pt x="1321170" y="784222"/>
                    <a:pt x="1313208" y="784222"/>
                  </a:cubicBezTo>
                  <a:lnTo>
                    <a:pt x="30021" y="784222"/>
                  </a:lnTo>
                  <a:cubicBezTo>
                    <a:pt x="22059" y="784222"/>
                    <a:pt x="14423" y="781059"/>
                    <a:pt x="8793" y="775429"/>
                  </a:cubicBezTo>
                  <a:cubicBezTo>
                    <a:pt x="3163" y="769799"/>
                    <a:pt x="0" y="762163"/>
                    <a:pt x="0" y="754200"/>
                  </a:cubicBezTo>
                  <a:lnTo>
                    <a:pt x="0" y="30021"/>
                  </a:lnTo>
                  <a:cubicBezTo>
                    <a:pt x="0" y="22059"/>
                    <a:pt x="3163" y="14423"/>
                    <a:pt x="8793" y="8793"/>
                  </a:cubicBezTo>
                  <a:cubicBezTo>
                    <a:pt x="14423" y="3163"/>
                    <a:pt x="22059" y="0"/>
                    <a:pt x="30021" y="0"/>
                  </a:cubicBezTo>
                  <a:close/>
                </a:path>
              </a:pathLst>
            </a:custGeom>
            <a:solidFill>
              <a:srgbClr val="FFFFFF"/>
            </a:solidFill>
            <a:ln cap="rnd">
              <a:noFill/>
              <a:prstDash val="solid"/>
              <a:round/>
            </a:ln>
          </p:spPr>
        </p:sp>
        <p:sp>
          <p:nvSpPr>
            <p:cNvPr name="TextBox 8" id="8"/>
            <p:cNvSpPr txBox="true"/>
            <p:nvPr/>
          </p:nvSpPr>
          <p:spPr>
            <a:xfrm>
              <a:off x="0" y="-38100"/>
              <a:ext cx="1343229" cy="82232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9325752" y="3312248"/>
            <a:ext cx="6962817" cy="4065124"/>
            <a:chOff x="0" y="0"/>
            <a:chExt cx="1343229" cy="784222"/>
          </a:xfrm>
        </p:grpSpPr>
        <p:sp>
          <p:nvSpPr>
            <p:cNvPr name="Freeform 10" id="10"/>
            <p:cNvSpPr/>
            <p:nvPr/>
          </p:nvSpPr>
          <p:spPr>
            <a:xfrm flipH="false" flipV="false" rot="0">
              <a:off x="0" y="0"/>
              <a:ext cx="1343229" cy="784222"/>
            </a:xfrm>
            <a:custGeom>
              <a:avLst/>
              <a:gdLst/>
              <a:ahLst/>
              <a:cxnLst/>
              <a:rect r="r" b="b" t="t" l="l"/>
              <a:pathLst>
                <a:path h="784222" w="1343229">
                  <a:moveTo>
                    <a:pt x="30021" y="0"/>
                  </a:moveTo>
                  <a:lnTo>
                    <a:pt x="1313208" y="0"/>
                  </a:lnTo>
                  <a:cubicBezTo>
                    <a:pt x="1321170" y="0"/>
                    <a:pt x="1328806" y="3163"/>
                    <a:pt x="1334436" y="8793"/>
                  </a:cubicBezTo>
                  <a:cubicBezTo>
                    <a:pt x="1340066" y="14423"/>
                    <a:pt x="1343229" y="22059"/>
                    <a:pt x="1343229" y="30021"/>
                  </a:cubicBezTo>
                  <a:lnTo>
                    <a:pt x="1343229" y="754200"/>
                  </a:lnTo>
                  <a:cubicBezTo>
                    <a:pt x="1343229" y="762163"/>
                    <a:pt x="1340066" y="769799"/>
                    <a:pt x="1334436" y="775429"/>
                  </a:cubicBezTo>
                  <a:cubicBezTo>
                    <a:pt x="1328806" y="781059"/>
                    <a:pt x="1321170" y="784222"/>
                    <a:pt x="1313208" y="784222"/>
                  </a:cubicBezTo>
                  <a:lnTo>
                    <a:pt x="30021" y="784222"/>
                  </a:lnTo>
                  <a:cubicBezTo>
                    <a:pt x="22059" y="784222"/>
                    <a:pt x="14423" y="781059"/>
                    <a:pt x="8793" y="775429"/>
                  </a:cubicBezTo>
                  <a:cubicBezTo>
                    <a:pt x="3163" y="769799"/>
                    <a:pt x="0" y="762163"/>
                    <a:pt x="0" y="754200"/>
                  </a:cubicBezTo>
                  <a:lnTo>
                    <a:pt x="0" y="30021"/>
                  </a:lnTo>
                  <a:cubicBezTo>
                    <a:pt x="0" y="22059"/>
                    <a:pt x="3163" y="14423"/>
                    <a:pt x="8793" y="8793"/>
                  </a:cubicBezTo>
                  <a:cubicBezTo>
                    <a:pt x="14423" y="3163"/>
                    <a:pt x="22059" y="0"/>
                    <a:pt x="30021" y="0"/>
                  </a:cubicBezTo>
                  <a:close/>
                </a:path>
              </a:pathLst>
            </a:custGeom>
            <a:solidFill>
              <a:srgbClr val="FFFFFF"/>
            </a:solidFill>
            <a:ln cap="rnd">
              <a:noFill/>
              <a:prstDash val="solid"/>
              <a:round/>
            </a:ln>
          </p:spPr>
        </p:sp>
        <p:sp>
          <p:nvSpPr>
            <p:cNvPr name="TextBox 11" id="11"/>
            <p:cNvSpPr txBox="true"/>
            <p:nvPr/>
          </p:nvSpPr>
          <p:spPr>
            <a:xfrm>
              <a:off x="0" y="-38100"/>
              <a:ext cx="1343229" cy="82232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1999431" y="7655413"/>
            <a:ext cx="14289138" cy="1398636"/>
            <a:chOff x="0" y="0"/>
            <a:chExt cx="16525756" cy="1617558"/>
          </a:xfrm>
        </p:grpSpPr>
        <p:sp>
          <p:nvSpPr>
            <p:cNvPr name="Freeform 13" id="13"/>
            <p:cNvSpPr/>
            <p:nvPr/>
          </p:nvSpPr>
          <p:spPr>
            <a:xfrm flipH="false" flipV="false" rot="0">
              <a:off x="0" y="0"/>
              <a:ext cx="16525756" cy="1617558"/>
            </a:xfrm>
            <a:custGeom>
              <a:avLst/>
              <a:gdLst/>
              <a:ahLst/>
              <a:cxnLst/>
              <a:rect r="r" b="b" t="t" l="l"/>
              <a:pathLst>
                <a:path h="1617558" w="16525756">
                  <a:moveTo>
                    <a:pt x="14629" y="0"/>
                  </a:moveTo>
                  <a:lnTo>
                    <a:pt x="16511127" y="0"/>
                  </a:lnTo>
                  <a:cubicBezTo>
                    <a:pt x="16519206" y="0"/>
                    <a:pt x="16525756" y="6550"/>
                    <a:pt x="16525756" y="14629"/>
                  </a:cubicBezTo>
                  <a:lnTo>
                    <a:pt x="16525756" y="1602930"/>
                  </a:lnTo>
                  <a:cubicBezTo>
                    <a:pt x="16525756" y="1611009"/>
                    <a:pt x="16519206" y="1617558"/>
                    <a:pt x="16511127" y="1617558"/>
                  </a:cubicBezTo>
                  <a:lnTo>
                    <a:pt x="14629" y="1617558"/>
                  </a:lnTo>
                  <a:cubicBezTo>
                    <a:pt x="6550" y="1617558"/>
                    <a:pt x="0" y="1611009"/>
                    <a:pt x="0" y="1602930"/>
                  </a:cubicBezTo>
                  <a:lnTo>
                    <a:pt x="0" y="14629"/>
                  </a:lnTo>
                  <a:cubicBezTo>
                    <a:pt x="0" y="6550"/>
                    <a:pt x="6550" y="0"/>
                    <a:pt x="14629" y="0"/>
                  </a:cubicBezTo>
                  <a:close/>
                </a:path>
              </a:pathLst>
            </a:custGeom>
            <a:solidFill>
              <a:srgbClr val="FFFFFF"/>
            </a:solidFill>
            <a:ln cap="rnd">
              <a:noFill/>
              <a:prstDash val="solid"/>
              <a:round/>
            </a:ln>
          </p:spPr>
        </p:sp>
        <p:sp>
          <p:nvSpPr>
            <p:cNvPr name="TextBox 14" id="14"/>
            <p:cNvSpPr txBox="true"/>
            <p:nvPr/>
          </p:nvSpPr>
          <p:spPr>
            <a:xfrm>
              <a:off x="0" y="-38100"/>
              <a:ext cx="16525756" cy="165565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5" id="15"/>
          <p:cNvSpPr/>
          <p:nvPr/>
        </p:nvSpPr>
        <p:spPr>
          <a:xfrm flipH="false" flipV="false" rot="0">
            <a:off x="2810214" y="8186229"/>
            <a:ext cx="303917" cy="337004"/>
          </a:xfrm>
          <a:custGeom>
            <a:avLst/>
            <a:gdLst/>
            <a:ahLst/>
            <a:cxnLst/>
            <a:rect r="r" b="b" t="t" l="l"/>
            <a:pathLst>
              <a:path h="337004" w="303917">
                <a:moveTo>
                  <a:pt x="0" y="0"/>
                </a:moveTo>
                <a:lnTo>
                  <a:pt x="303917" y="0"/>
                </a:lnTo>
                <a:lnTo>
                  <a:pt x="303917" y="337004"/>
                </a:lnTo>
                <a:lnTo>
                  <a:pt x="0" y="33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3375013" y="8093787"/>
            <a:ext cx="932350" cy="464737"/>
          </a:xfrm>
          <a:prstGeom prst="rect">
            <a:avLst/>
          </a:prstGeom>
        </p:spPr>
        <p:txBody>
          <a:bodyPr anchor="t" rtlCol="false" tIns="0" lIns="0" bIns="0" rIns="0">
            <a:spAutoFit/>
          </a:bodyPr>
          <a:lstStyle/>
          <a:p>
            <a:pPr algn="l">
              <a:lnSpc>
                <a:spcPts val="3784"/>
              </a:lnSpc>
            </a:pPr>
            <a:r>
              <a:rPr lang="en-US" b="true" sz="2703" spc="494">
                <a:solidFill>
                  <a:srgbClr val="262626"/>
                </a:solidFill>
                <a:latin typeface="프리텐다드 Bold"/>
                <a:ea typeface="프리텐다드 Bold"/>
                <a:cs typeface="프리텐다드 Bold"/>
                <a:sym typeface="프리텐다드 Bold"/>
              </a:rPr>
              <a:t>핵심</a:t>
            </a:r>
          </a:p>
        </p:txBody>
      </p:sp>
      <p:sp>
        <p:nvSpPr>
          <p:cNvPr name="TextBox 17" id="17"/>
          <p:cNvSpPr txBox="true"/>
          <p:nvPr/>
        </p:nvSpPr>
        <p:spPr>
          <a:xfrm rot="0">
            <a:off x="4968630" y="7945791"/>
            <a:ext cx="10496202" cy="741680"/>
          </a:xfrm>
          <a:prstGeom prst="rect">
            <a:avLst/>
          </a:prstGeom>
        </p:spPr>
        <p:txBody>
          <a:bodyPr anchor="t" rtlCol="false" tIns="0" lIns="0" bIns="0" rIns="0">
            <a:spAutoFit/>
          </a:bodyPr>
          <a:lstStyle/>
          <a:p>
            <a:pPr algn="just">
              <a:lnSpc>
                <a:spcPts val="3040"/>
              </a:lnSpc>
            </a:pPr>
            <a:r>
              <a:rPr lang="en-US" b="true" sz="2000">
                <a:solidFill>
                  <a:srgbClr val="262626"/>
                </a:solidFill>
                <a:latin typeface="프리텐다드 Bold"/>
                <a:ea typeface="프리텐다드 Bold"/>
                <a:cs typeface="프리텐다드 Bold"/>
                <a:sym typeface="프리텐다드 Bold"/>
              </a:rPr>
              <a:t>합력 → 가속도  ·  바람 → 상대속도  ·  고도 → PD 피드백</a:t>
            </a:r>
          </a:p>
          <a:p>
            <a:pPr algn="just">
              <a:lnSpc>
                <a:spcPts val="3040"/>
              </a:lnSpc>
            </a:pPr>
            <a:r>
              <a:rPr lang="en-US" sz="2000">
                <a:solidFill>
                  <a:srgbClr val="262626"/>
                </a:solidFill>
                <a:latin typeface="프리텐다드"/>
                <a:ea typeface="프리텐다드"/>
                <a:cs typeface="프리텐다드"/>
                <a:sym typeface="프리텐다드"/>
              </a:rPr>
              <a:t>K_p = 20, K_d = 8  →  ω_n ≈ 4.47 rad/s, ζ ≈ 0.89  →  진동 없이 30 m 수렴</a:t>
            </a:r>
          </a:p>
        </p:txBody>
      </p:sp>
      <p:sp>
        <p:nvSpPr>
          <p:cNvPr name="AutoShape 18" id="18"/>
          <p:cNvSpPr/>
          <p:nvPr/>
        </p:nvSpPr>
        <p:spPr>
          <a:xfrm>
            <a:off x="4448166" y="8068447"/>
            <a:ext cx="0" cy="572567"/>
          </a:xfrm>
          <a:prstGeom prst="line">
            <a:avLst/>
          </a:prstGeom>
          <a:ln cap="flat" w="19050">
            <a:solidFill>
              <a:srgbClr val="262626"/>
            </a:solidFill>
            <a:prstDash val="solid"/>
            <a:headEnd type="none" len="sm" w="sm"/>
            <a:tailEnd type="none" len="sm" w="sm"/>
          </a:ln>
        </p:spPr>
      </p:sp>
      <p:sp>
        <p:nvSpPr>
          <p:cNvPr name="TextBox 19" id="19"/>
          <p:cNvSpPr txBox="true"/>
          <p:nvPr/>
        </p:nvSpPr>
        <p:spPr>
          <a:xfrm rot="0">
            <a:off x="2426785" y="4892040"/>
            <a:ext cx="6108108" cy="1650873"/>
          </a:xfrm>
          <a:prstGeom prst="rect">
            <a:avLst/>
          </a:prstGeom>
        </p:spPr>
        <p:txBody>
          <a:bodyPr anchor="t" rtlCol="false" tIns="0" lIns="0" bIns="0" rIns="0">
            <a:spAutoFit/>
          </a:bodyPr>
          <a:lstStyle/>
          <a:p>
            <a:pPr algn="l" marL="410211" indent="-205106" lvl="1">
              <a:lnSpc>
                <a:spcPts val="3400"/>
              </a:lnSpc>
              <a:buFont typeface="Arial"/>
              <a:buChar char="•"/>
            </a:pPr>
            <a:r>
              <a:rPr lang="en-US" sz="2000">
                <a:solidFill>
                  <a:srgbClr val="262626"/>
                </a:solidFill>
                <a:latin typeface="프리텐다드"/>
                <a:ea typeface="프리텐다드"/>
                <a:cs typeface="프리텐다드"/>
                <a:sym typeface="프리텐다드"/>
              </a:rPr>
              <a:t>m·dv/dt = F_thrust + F_drag − m·g·ẑ</a:t>
            </a:r>
          </a:p>
          <a:p>
            <a:pPr algn="l" marL="410211" indent="-205106" lvl="1">
              <a:lnSpc>
                <a:spcPts val="3400"/>
              </a:lnSpc>
              <a:buFont typeface="Arial"/>
              <a:buChar char="•"/>
            </a:pPr>
            <a:r>
              <a:rPr lang="en-US" sz="2000">
                <a:solidFill>
                  <a:srgbClr val="262626"/>
                </a:solidFill>
                <a:latin typeface="프리텐다드"/>
                <a:ea typeface="프리텐다드"/>
                <a:cs typeface="프리텐다드"/>
                <a:sym typeface="프리텐다드"/>
              </a:rPr>
              <a:t>v_rel = v − v_wind(t, z)</a:t>
            </a:r>
          </a:p>
          <a:p>
            <a:pPr algn="l" marL="410211" indent="-205106" lvl="1">
              <a:lnSpc>
                <a:spcPts val="3400"/>
              </a:lnSpc>
              <a:buFont typeface="Arial"/>
              <a:buChar char="•"/>
            </a:pPr>
            <a:r>
              <a:rPr lang="en-US" sz="2000">
                <a:solidFill>
                  <a:srgbClr val="262626"/>
                </a:solidFill>
                <a:latin typeface="프리텐다드"/>
                <a:ea typeface="프리텐다드"/>
                <a:cs typeface="프리텐다드"/>
                <a:sym typeface="프리텐다드"/>
              </a:rPr>
              <a:t>F_drag,h = −½ρ·C_d,h·A·|v_rel,h|·v_rel,h</a:t>
            </a:r>
          </a:p>
          <a:p>
            <a:pPr algn="l" marL="410211" indent="-205106" lvl="1">
              <a:lnSpc>
                <a:spcPts val="3400"/>
              </a:lnSpc>
              <a:buFont typeface="Arial"/>
              <a:buChar char="•"/>
            </a:pPr>
            <a:r>
              <a:rPr lang="en-US" sz="2000">
                <a:solidFill>
                  <a:srgbClr val="262626"/>
                </a:solidFill>
                <a:latin typeface="프리텐다드"/>
                <a:ea typeface="프리텐다드"/>
                <a:cs typeface="프리텐다드"/>
                <a:sym typeface="프리텐다드"/>
              </a:rPr>
              <a:t>F_drag,v = −½ρ·C_d,v·A·|v_rel,z|·v_rel,z·ẑ</a:t>
            </a:r>
          </a:p>
        </p:txBody>
      </p:sp>
      <p:grpSp>
        <p:nvGrpSpPr>
          <p:cNvPr name="Group 20" id="20"/>
          <p:cNvGrpSpPr/>
          <p:nvPr/>
        </p:nvGrpSpPr>
        <p:grpSpPr>
          <a:xfrm rot="0">
            <a:off x="3814588" y="3954136"/>
            <a:ext cx="3332504" cy="607722"/>
            <a:chOff x="0" y="0"/>
            <a:chExt cx="4443338" cy="810296"/>
          </a:xfrm>
        </p:grpSpPr>
        <p:grpSp>
          <p:nvGrpSpPr>
            <p:cNvPr name="Group 21" id="21"/>
            <p:cNvGrpSpPr/>
            <p:nvPr/>
          </p:nvGrpSpPr>
          <p:grpSpPr>
            <a:xfrm rot="0">
              <a:off x="0" y="0"/>
              <a:ext cx="4443338" cy="810296"/>
              <a:chOff x="0" y="0"/>
              <a:chExt cx="4294480" cy="783150"/>
            </a:xfrm>
          </p:grpSpPr>
          <p:sp>
            <p:nvSpPr>
              <p:cNvPr name="Freeform 22" id="22"/>
              <p:cNvSpPr/>
              <p:nvPr/>
            </p:nvSpPr>
            <p:spPr>
              <a:xfrm flipH="false" flipV="false" rot="0">
                <a:off x="0" y="0"/>
                <a:ext cx="4294480" cy="783150"/>
              </a:xfrm>
              <a:custGeom>
                <a:avLst/>
                <a:gdLst/>
                <a:ahLst/>
                <a:cxnLst/>
                <a:rect r="r" b="b" t="t" l="l"/>
                <a:pathLst>
                  <a:path h="783150" w="4294480">
                    <a:moveTo>
                      <a:pt x="89652" y="0"/>
                    </a:moveTo>
                    <a:lnTo>
                      <a:pt x="4204827" y="0"/>
                    </a:lnTo>
                    <a:cubicBezTo>
                      <a:pt x="4254341" y="0"/>
                      <a:pt x="4294480" y="40139"/>
                      <a:pt x="4294480" y="89652"/>
                    </a:cubicBezTo>
                    <a:lnTo>
                      <a:pt x="4294480" y="693497"/>
                    </a:lnTo>
                    <a:cubicBezTo>
                      <a:pt x="4294480" y="743011"/>
                      <a:pt x="4254341" y="783150"/>
                      <a:pt x="4204827" y="783150"/>
                    </a:cubicBezTo>
                    <a:lnTo>
                      <a:pt x="89652" y="783150"/>
                    </a:lnTo>
                    <a:cubicBezTo>
                      <a:pt x="40139" y="783150"/>
                      <a:pt x="0" y="743011"/>
                      <a:pt x="0" y="693497"/>
                    </a:cubicBezTo>
                    <a:lnTo>
                      <a:pt x="0" y="89652"/>
                    </a:lnTo>
                    <a:cubicBezTo>
                      <a:pt x="0" y="40139"/>
                      <a:pt x="40139" y="0"/>
                      <a:pt x="89652" y="0"/>
                    </a:cubicBezTo>
                    <a:close/>
                  </a:path>
                </a:pathLst>
              </a:custGeom>
              <a:solidFill>
                <a:srgbClr val="262626"/>
              </a:solidFill>
              <a:ln cap="rnd">
                <a:noFill/>
                <a:prstDash val="solid"/>
                <a:round/>
              </a:ln>
            </p:spPr>
          </p:sp>
          <p:sp>
            <p:nvSpPr>
              <p:cNvPr name="TextBox 23" id="23"/>
              <p:cNvSpPr txBox="true"/>
              <p:nvPr/>
            </p:nvSpPr>
            <p:spPr>
              <a:xfrm>
                <a:off x="0" y="-38100"/>
                <a:ext cx="4294480" cy="821250"/>
              </a:xfrm>
              <a:prstGeom prst="rect">
                <a:avLst/>
              </a:prstGeom>
            </p:spPr>
            <p:txBody>
              <a:bodyPr anchor="ctr" rtlCol="false" tIns="50800" lIns="50800" bIns="50800" rIns="50800"/>
              <a:lstStyle/>
              <a:p>
                <a:pPr algn="ctr">
                  <a:lnSpc>
                    <a:spcPts val="2660"/>
                  </a:lnSpc>
                </a:pPr>
              </a:p>
            </p:txBody>
          </p:sp>
        </p:grpSp>
        <p:sp>
          <p:nvSpPr>
            <p:cNvPr name="TextBox 24" id="24"/>
            <p:cNvSpPr txBox="true"/>
            <p:nvPr/>
          </p:nvSpPr>
          <p:spPr>
            <a:xfrm rot="0">
              <a:off x="188193" y="149919"/>
              <a:ext cx="4066951" cy="460567"/>
            </a:xfrm>
            <a:prstGeom prst="rect">
              <a:avLst/>
            </a:prstGeom>
          </p:spPr>
          <p:txBody>
            <a:bodyPr anchor="t" rtlCol="false" tIns="0" lIns="0" bIns="0" rIns="0">
              <a:spAutoFit/>
            </a:bodyPr>
            <a:lstStyle/>
            <a:p>
              <a:pPr algn="ctr">
                <a:lnSpc>
                  <a:spcPts val="2879"/>
                </a:lnSpc>
              </a:pPr>
              <a:r>
                <a:rPr lang="en-US" sz="2056" b="true">
                  <a:solidFill>
                    <a:srgbClr val="FFFFFF"/>
                  </a:solidFill>
                  <a:latin typeface="프리텐다드 Medium"/>
                  <a:ea typeface="프리텐다드 Medium"/>
                  <a:cs typeface="프리텐다드 Medium"/>
                  <a:sym typeface="프리텐다드 Medium"/>
                </a:rPr>
                <a:t>운동방정식 · 항력</a:t>
              </a:r>
            </a:p>
          </p:txBody>
        </p:sp>
      </p:grpSp>
      <p:grpSp>
        <p:nvGrpSpPr>
          <p:cNvPr name="Group 25" id="25"/>
          <p:cNvGrpSpPr/>
          <p:nvPr/>
        </p:nvGrpSpPr>
        <p:grpSpPr>
          <a:xfrm rot="0">
            <a:off x="11140909" y="3954136"/>
            <a:ext cx="3332504" cy="607722"/>
            <a:chOff x="0" y="0"/>
            <a:chExt cx="4443338" cy="810296"/>
          </a:xfrm>
        </p:grpSpPr>
        <p:grpSp>
          <p:nvGrpSpPr>
            <p:cNvPr name="Group 26" id="26"/>
            <p:cNvGrpSpPr/>
            <p:nvPr/>
          </p:nvGrpSpPr>
          <p:grpSpPr>
            <a:xfrm rot="0">
              <a:off x="0" y="0"/>
              <a:ext cx="4443338" cy="810296"/>
              <a:chOff x="0" y="0"/>
              <a:chExt cx="4294480" cy="783150"/>
            </a:xfrm>
          </p:grpSpPr>
          <p:sp>
            <p:nvSpPr>
              <p:cNvPr name="Freeform 27" id="27"/>
              <p:cNvSpPr/>
              <p:nvPr/>
            </p:nvSpPr>
            <p:spPr>
              <a:xfrm flipH="false" flipV="false" rot="0">
                <a:off x="0" y="0"/>
                <a:ext cx="4294480" cy="783150"/>
              </a:xfrm>
              <a:custGeom>
                <a:avLst/>
                <a:gdLst/>
                <a:ahLst/>
                <a:cxnLst/>
                <a:rect r="r" b="b" t="t" l="l"/>
                <a:pathLst>
                  <a:path h="783150" w="4294480">
                    <a:moveTo>
                      <a:pt x="89652" y="0"/>
                    </a:moveTo>
                    <a:lnTo>
                      <a:pt x="4204827" y="0"/>
                    </a:lnTo>
                    <a:cubicBezTo>
                      <a:pt x="4254341" y="0"/>
                      <a:pt x="4294480" y="40139"/>
                      <a:pt x="4294480" y="89652"/>
                    </a:cubicBezTo>
                    <a:lnTo>
                      <a:pt x="4294480" y="693497"/>
                    </a:lnTo>
                    <a:cubicBezTo>
                      <a:pt x="4294480" y="743011"/>
                      <a:pt x="4254341" y="783150"/>
                      <a:pt x="4204827" y="783150"/>
                    </a:cubicBezTo>
                    <a:lnTo>
                      <a:pt x="89652" y="783150"/>
                    </a:lnTo>
                    <a:cubicBezTo>
                      <a:pt x="40139" y="783150"/>
                      <a:pt x="0" y="743011"/>
                      <a:pt x="0" y="693497"/>
                    </a:cubicBezTo>
                    <a:lnTo>
                      <a:pt x="0" y="89652"/>
                    </a:lnTo>
                    <a:cubicBezTo>
                      <a:pt x="0" y="40139"/>
                      <a:pt x="40139" y="0"/>
                      <a:pt x="89652" y="0"/>
                    </a:cubicBezTo>
                    <a:close/>
                  </a:path>
                </a:pathLst>
              </a:custGeom>
              <a:solidFill>
                <a:srgbClr val="262626"/>
              </a:solidFill>
              <a:ln cap="rnd">
                <a:noFill/>
                <a:prstDash val="solid"/>
                <a:round/>
              </a:ln>
            </p:spPr>
          </p:sp>
          <p:sp>
            <p:nvSpPr>
              <p:cNvPr name="TextBox 28" id="28"/>
              <p:cNvSpPr txBox="true"/>
              <p:nvPr/>
            </p:nvSpPr>
            <p:spPr>
              <a:xfrm>
                <a:off x="0" y="-38100"/>
                <a:ext cx="4294480" cy="82125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188193" y="149919"/>
              <a:ext cx="4066951" cy="460567"/>
            </a:xfrm>
            <a:prstGeom prst="rect">
              <a:avLst/>
            </a:prstGeom>
          </p:spPr>
          <p:txBody>
            <a:bodyPr anchor="t" rtlCol="false" tIns="0" lIns="0" bIns="0" rIns="0">
              <a:spAutoFit/>
            </a:bodyPr>
            <a:lstStyle/>
            <a:p>
              <a:pPr algn="ctr">
                <a:lnSpc>
                  <a:spcPts val="2879"/>
                </a:lnSpc>
              </a:pPr>
              <a:r>
                <a:rPr lang="en-US" sz="2056" b="true">
                  <a:solidFill>
                    <a:srgbClr val="FFFFFF"/>
                  </a:solidFill>
                  <a:latin typeface="프리텐다드 Medium"/>
                  <a:ea typeface="프리텐다드 Medium"/>
                  <a:cs typeface="프리텐다드 Medium"/>
                  <a:sym typeface="프리텐다드 Medium"/>
                </a:rPr>
                <a:t>바람 · 고도 · 회피</a:t>
              </a:r>
            </a:p>
          </p:txBody>
        </p:sp>
      </p:grpSp>
      <p:sp>
        <p:nvSpPr>
          <p:cNvPr name="TextBox 30" id="30"/>
          <p:cNvSpPr txBox="true"/>
          <p:nvPr/>
        </p:nvSpPr>
        <p:spPr>
          <a:xfrm rot="0">
            <a:off x="9753106" y="4892040"/>
            <a:ext cx="6108108" cy="1650873"/>
          </a:xfrm>
          <a:prstGeom prst="rect">
            <a:avLst/>
          </a:prstGeom>
        </p:spPr>
        <p:txBody>
          <a:bodyPr anchor="t" rtlCol="false" tIns="0" lIns="0" bIns="0" rIns="0">
            <a:spAutoFit/>
          </a:bodyPr>
          <a:lstStyle/>
          <a:p>
            <a:pPr algn="l" marL="410211" indent="-205106" lvl="1">
              <a:lnSpc>
                <a:spcPts val="3400"/>
              </a:lnSpc>
              <a:buFont typeface="Arial"/>
              <a:buChar char="•"/>
            </a:pPr>
            <a:r>
              <a:rPr lang="en-US" sz="2000">
                <a:solidFill>
                  <a:srgbClr val="262626"/>
                </a:solidFill>
                <a:latin typeface="프리텐다드"/>
                <a:ea typeface="프리텐다드"/>
                <a:cs typeface="프리텐다드"/>
                <a:sym typeface="프리텐다드"/>
              </a:rPr>
              <a:t>v_wind = v_ref·(z/z_ref)^0.14</a:t>
            </a:r>
          </a:p>
          <a:p>
            <a:pPr algn="l" marL="410211" indent="-205106" lvl="1">
              <a:lnSpc>
                <a:spcPts val="3400"/>
              </a:lnSpc>
              <a:buFont typeface="Arial"/>
              <a:buChar char="•"/>
            </a:pPr>
            <a:r>
              <a:rPr lang="en-US" sz="2000">
                <a:solidFill>
                  <a:srgbClr val="262626"/>
                </a:solidFill>
                <a:latin typeface="프리텐다드"/>
                <a:ea typeface="프리텐다드"/>
                <a:cs typeface="프리텐다드"/>
                <a:sym typeface="프리텐다드"/>
              </a:rPr>
              <a:t>F_z = m·(g + K_p·e_z − K_d·ż)</a:t>
            </a:r>
          </a:p>
          <a:p>
            <a:pPr algn="l" marL="410211" indent="-205106" lvl="1">
              <a:lnSpc>
                <a:spcPts val="3400"/>
              </a:lnSpc>
              <a:buFont typeface="Arial"/>
              <a:buChar char="•"/>
            </a:pPr>
            <a:r>
              <a:rPr lang="en-US" sz="2000">
                <a:solidFill>
                  <a:srgbClr val="262626"/>
                </a:solidFill>
                <a:latin typeface="프리텐다드"/>
                <a:ea typeface="프리텐다드"/>
                <a:cs typeface="프리텐다드"/>
                <a:sym typeface="프리텐다드"/>
              </a:rPr>
              <a:t>F_lat = m·A_e·sin(2πft)·l̂</a:t>
            </a:r>
          </a:p>
          <a:p>
            <a:pPr algn="l" marL="410211" indent="-205106" lvl="1">
              <a:lnSpc>
                <a:spcPts val="3400"/>
              </a:lnSpc>
              <a:buFont typeface="Arial"/>
              <a:buChar char="•"/>
            </a:pPr>
            <a:r>
              <a:rPr lang="en-US" sz="2000">
                <a:solidFill>
                  <a:srgbClr val="262626"/>
                </a:solidFill>
                <a:latin typeface="프리텐다드"/>
                <a:ea typeface="프리텐다드"/>
                <a:cs typeface="프리텐다드"/>
                <a:sym typeface="프리텐다드"/>
              </a:rPr>
              <a:t>α = arccos(v_i·v_i+1 / |v_i||v_i+1|)</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사용된 논문</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03</a:t>
            </a:r>
          </a:p>
        </p:txBody>
      </p:sp>
      <p:grpSp>
        <p:nvGrpSpPr>
          <p:cNvPr name="Group 6" id="6"/>
          <p:cNvGrpSpPr/>
          <p:nvPr/>
        </p:nvGrpSpPr>
        <p:grpSpPr>
          <a:xfrm rot="0">
            <a:off x="1401645" y="3226470"/>
            <a:ext cx="15484709" cy="5992228"/>
            <a:chOff x="0" y="0"/>
            <a:chExt cx="2755267" cy="1066226"/>
          </a:xfrm>
        </p:grpSpPr>
        <p:sp>
          <p:nvSpPr>
            <p:cNvPr name="Freeform 7" id="7"/>
            <p:cNvSpPr/>
            <p:nvPr/>
          </p:nvSpPr>
          <p:spPr>
            <a:xfrm flipH="false" flipV="false" rot="0">
              <a:off x="0" y="0"/>
              <a:ext cx="2755267" cy="1066226"/>
            </a:xfrm>
            <a:custGeom>
              <a:avLst/>
              <a:gdLst/>
              <a:ahLst/>
              <a:cxnLst/>
              <a:rect r="r" b="b" t="t" l="l"/>
              <a:pathLst>
                <a:path h="1066226" w="2755267">
                  <a:moveTo>
                    <a:pt x="13499" y="0"/>
                  </a:moveTo>
                  <a:lnTo>
                    <a:pt x="2741768" y="0"/>
                  </a:lnTo>
                  <a:cubicBezTo>
                    <a:pt x="2749224" y="0"/>
                    <a:pt x="2755267" y="6044"/>
                    <a:pt x="2755267" y="13499"/>
                  </a:cubicBezTo>
                  <a:lnTo>
                    <a:pt x="2755267" y="1052726"/>
                  </a:lnTo>
                  <a:cubicBezTo>
                    <a:pt x="2755267" y="1056306"/>
                    <a:pt x="2753845" y="1059740"/>
                    <a:pt x="2751314" y="1062272"/>
                  </a:cubicBezTo>
                  <a:cubicBezTo>
                    <a:pt x="2748782" y="1064803"/>
                    <a:pt x="2745349" y="1066226"/>
                    <a:pt x="2741768" y="1066226"/>
                  </a:cubicBezTo>
                  <a:lnTo>
                    <a:pt x="13499" y="1066226"/>
                  </a:lnTo>
                  <a:cubicBezTo>
                    <a:pt x="6044" y="1066226"/>
                    <a:pt x="0" y="1060182"/>
                    <a:pt x="0" y="1052726"/>
                  </a:cubicBezTo>
                  <a:lnTo>
                    <a:pt x="0" y="13499"/>
                  </a:lnTo>
                  <a:cubicBezTo>
                    <a:pt x="0" y="6044"/>
                    <a:pt x="6044" y="0"/>
                    <a:pt x="13499" y="0"/>
                  </a:cubicBezTo>
                  <a:close/>
                </a:path>
              </a:pathLst>
            </a:custGeom>
            <a:solidFill>
              <a:srgbClr val="FFFFFF"/>
            </a:solidFill>
            <a:ln cap="rnd">
              <a:noFill/>
              <a:prstDash val="solid"/>
              <a:round/>
            </a:ln>
          </p:spPr>
        </p:sp>
        <p:sp>
          <p:nvSpPr>
            <p:cNvPr name="TextBox 8" id="8"/>
            <p:cNvSpPr txBox="true"/>
            <p:nvPr/>
          </p:nvSpPr>
          <p:spPr>
            <a:xfrm>
              <a:off x="0" y="-38100"/>
              <a:ext cx="2755267" cy="110432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6766560" y="4046751"/>
            <a:ext cx="8778240" cy="373334"/>
          </a:xfrm>
          <a:prstGeom prst="rect">
            <a:avLst/>
          </a:prstGeom>
        </p:spPr>
        <p:txBody>
          <a:bodyPr anchor="t" rtlCol="false" tIns="0" lIns="0" bIns="0" rIns="0">
            <a:spAutoFit/>
          </a:bodyPr>
          <a:lstStyle/>
          <a:p>
            <a:pPr algn="just">
              <a:lnSpc>
                <a:spcPts val="2900"/>
              </a:lnSpc>
            </a:pPr>
            <a:r>
              <a:rPr lang="en-US" sz="2000">
                <a:solidFill>
                  <a:srgbClr val="262626"/>
                </a:solidFill>
                <a:latin typeface="프리텐다드"/>
                <a:ea typeface="프리텐다드"/>
                <a:cs typeface="프리텐다드"/>
                <a:sym typeface="프리텐다드"/>
              </a:rPr>
              <a:t>풍동 실측 쿼드로터 항력  ·  ≤ 8~10 m/s 선형 (IJMAV)</a:t>
            </a:r>
          </a:p>
        </p:txBody>
      </p:sp>
      <p:sp>
        <p:nvSpPr>
          <p:cNvPr name="Freeform 10" id="10"/>
          <p:cNvSpPr/>
          <p:nvPr/>
        </p:nvSpPr>
        <p:spPr>
          <a:xfrm flipH="false" flipV="false" rot="0">
            <a:off x="2295386" y="4090115"/>
            <a:ext cx="415775" cy="415775"/>
          </a:xfrm>
          <a:custGeom>
            <a:avLst/>
            <a:gdLst/>
            <a:ahLst/>
            <a:cxnLst/>
            <a:rect r="r" b="b" t="t" l="l"/>
            <a:pathLst>
              <a:path h="415775" w="415775">
                <a:moveTo>
                  <a:pt x="0" y="0"/>
                </a:moveTo>
                <a:lnTo>
                  <a:pt x="415775" y="0"/>
                </a:lnTo>
                <a:lnTo>
                  <a:pt x="415775" y="415775"/>
                </a:lnTo>
                <a:lnTo>
                  <a:pt x="0" y="415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2895233" y="4046752"/>
            <a:ext cx="3931920" cy="448168"/>
          </a:xfrm>
          <a:prstGeom prst="rect">
            <a:avLst/>
          </a:prstGeom>
        </p:spPr>
        <p:txBody>
          <a:bodyPr anchor="t" rtlCol="false" tIns="0" lIns="0" bIns="0" rIns="0">
            <a:spAutoFit/>
          </a:bodyPr>
          <a:lstStyle/>
          <a:p>
            <a:pPr algn="l">
              <a:lnSpc>
                <a:spcPts val="3647"/>
              </a:lnSpc>
            </a:pPr>
            <a:r>
              <a:rPr lang="en-US" sz="2200" b="true">
                <a:solidFill>
                  <a:srgbClr val="262626"/>
                </a:solidFill>
                <a:latin typeface="프리텐다드 Semi-Bold"/>
                <a:ea typeface="프리텐다드 Semi-Bold"/>
                <a:cs typeface="프리텐다드 Semi-Bold"/>
                <a:sym typeface="프리텐다드 Semi-Bold"/>
              </a:rPr>
              <a:t>Hattenberger 2023</a:t>
            </a:r>
          </a:p>
        </p:txBody>
      </p:sp>
      <p:sp>
        <p:nvSpPr>
          <p:cNvPr name="AutoShape 12" id="12"/>
          <p:cNvSpPr/>
          <p:nvPr/>
        </p:nvSpPr>
        <p:spPr>
          <a:xfrm>
            <a:off x="2295386" y="4936245"/>
            <a:ext cx="13697227" cy="0"/>
          </a:xfrm>
          <a:prstGeom prst="line">
            <a:avLst/>
          </a:prstGeom>
          <a:ln cap="flat" w="19050">
            <a:solidFill>
              <a:srgbClr val="DEDEDE"/>
            </a:solidFill>
            <a:prstDash val="solid"/>
            <a:headEnd type="none" len="sm" w="sm"/>
            <a:tailEnd type="none" len="sm" w="sm"/>
          </a:ln>
        </p:spPr>
      </p:sp>
      <p:sp>
        <p:nvSpPr>
          <p:cNvPr name="TextBox 13" id="13"/>
          <p:cNvSpPr txBox="true"/>
          <p:nvPr/>
        </p:nvSpPr>
        <p:spPr>
          <a:xfrm rot="0">
            <a:off x="6766560" y="5326611"/>
            <a:ext cx="8778240" cy="373334"/>
          </a:xfrm>
          <a:prstGeom prst="rect">
            <a:avLst/>
          </a:prstGeom>
        </p:spPr>
        <p:txBody>
          <a:bodyPr anchor="t" rtlCol="false" tIns="0" lIns="0" bIns="0" rIns="0">
            <a:spAutoFit/>
          </a:bodyPr>
          <a:lstStyle/>
          <a:p>
            <a:pPr algn="just">
              <a:lnSpc>
                <a:spcPts val="2900"/>
              </a:lnSpc>
            </a:pPr>
            <a:r>
              <a:rPr lang="en-US" sz="2000">
                <a:solidFill>
                  <a:srgbClr val="262626"/>
                </a:solidFill>
                <a:latin typeface="프리텐다드"/>
                <a:ea typeface="프리텐다드"/>
                <a:cs typeface="프리텐다드"/>
                <a:sym typeface="프리텐다드"/>
              </a:rPr>
              <a:t>일정풍 · Dryden 난류 · 돌풍 · 윈드시어 모델링 (WVU)</a:t>
            </a:r>
          </a:p>
        </p:txBody>
      </p:sp>
      <p:sp>
        <p:nvSpPr>
          <p:cNvPr name="Freeform 14" id="14"/>
          <p:cNvSpPr/>
          <p:nvPr/>
        </p:nvSpPr>
        <p:spPr>
          <a:xfrm flipH="false" flipV="false" rot="0">
            <a:off x="2295386" y="5369974"/>
            <a:ext cx="415775" cy="415775"/>
          </a:xfrm>
          <a:custGeom>
            <a:avLst/>
            <a:gdLst/>
            <a:ahLst/>
            <a:cxnLst/>
            <a:rect r="r" b="b" t="t" l="l"/>
            <a:pathLst>
              <a:path h="415775" w="415775">
                <a:moveTo>
                  <a:pt x="0" y="0"/>
                </a:moveTo>
                <a:lnTo>
                  <a:pt x="415775" y="0"/>
                </a:lnTo>
                <a:lnTo>
                  <a:pt x="415775" y="415775"/>
                </a:lnTo>
                <a:lnTo>
                  <a:pt x="0" y="415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2895233" y="5326611"/>
            <a:ext cx="3931920" cy="448168"/>
          </a:xfrm>
          <a:prstGeom prst="rect">
            <a:avLst/>
          </a:prstGeom>
        </p:spPr>
        <p:txBody>
          <a:bodyPr anchor="t" rtlCol="false" tIns="0" lIns="0" bIns="0" rIns="0">
            <a:spAutoFit/>
          </a:bodyPr>
          <a:lstStyle/>
          <a:p>
            <a:pPr algn="l">
              <a:lnSpc>
                <a:spcPts val="3647"/>
              </a:lnSpc>
            </a:pPr>
            <a:r>
              <a:rPr lang="en-US" sz="2200" b="true">
                <a:solidFill>
                  <a:srgbClr val="262626"/>
                </a:solidFill>
                <a:latin typeface="프리텐다드 Semi-Bold"/>
                <a:ea typeface="프리텐다드 Semi-Bold"/>
                <a:cs typeface="프리텐다드 Semi-Bold"/>
                <a:sym typeface="프리텐다드 Semi-Bold"/>
              </a:rPr>
              <a:t>Siqueira 2017</a:t>
            </a:r>
          </a:p>
        </p:txBody>
      </p:sp>
      <p:sp>
        <p:nvSpPr>
          <p:cNvPr name="AutoShape 16" id="16"/>
          <p:cNvSpPr/>
          <p:nvPr/>
        </p:nvSpPr>
        <p:spPr>
          <a:xfrm>
            <a:off x="2295386" y="6216105"/>
            <a:ext cx="13697227" cy="0"/>
          </a:xfrm>
          <a:prstGeom prst="line">
            <a:avLst/>
          </a:prstGeom>
          <a:ln cap="flat" w="19050">
            <a:solidFill>
              <a:srgbClr val="DEDEDE"/>
            </a:solidFill>
            <a:prstDash val="solid"/>
            <a:headEnd type="none" len="sm" w="sm"/>
            <a:tailEnd type="none" len="sm" w="sm"/>
          </a:ln>
        </p:spPr>
      </p:sp>
      <p:sp>
        <p:nvSpPr>
          <p:cNvPr name="TextBox 17" id="17"/>
          <p:cNvSpPr txBox="true"/>
          <p:nvPr/>
        </p:nvSpPr>
        <p:spPr>
          <a:xfrm rot="0">
            <a:off x="6766560" y="6606471"/>
            <a:ext cx="8778240" cy="373334"/>
          </a:xfrm>
          <a:prstGeom prst="rect">
            <a:avLst/>
          </a:prstGeom>
        </p:spPr>
        <p:txBody>
          <a:bodyPr anchor="t" rtlCol="false" tIns="0" lIns="0" bIns="0" rIns="0">
            <a:spAutoFit/>
          </a:bodyPr>
          <a:lstStyle/>
          <a:p>
            <a:pPr algn="just">
              <a:lnSpc>
                <a:spcPts val="2900"/>
              </a:lnSpc>
            </a:pPr>
            <a:r>
              <a:rPr lang="en-US" sz="2000">
                <a:solidFill>
                  <a:srgbClr val="262626"/>
                </a:solidFill>
                <a:latin typeface="프리텐다드"/>
                <a:ea typeface="프리텐다드"/>
                <a:cs typeface="프리텐다드"/>
                <a:sym typeface="프리텐다드"/>
              </a:rPr>
              <a:t>드론/새 궤적 특징 구별  ·  고도 ±2 m · 5~20 m/s · α</a:t>
            </a:r>
          </a:p>
        </p:txBody>
      </p:sp>
      <p:sp>
        <p:nvSpPr>
          <p:cNvPr name="Freeform 18" id="18"/>
          <p:cNvSpPr/>
          <p:nvPr/>
        </p:nvSpPr>
        <p:spPr>
          <a:xfrm flipH="false" flipV="false" rot="0">
            <a:off x="2295386" y="6649834"/>
            <a:ext cx="415775" cy="415775"/>
          </a:xfrm>
          <a:custGeom>
            <a:avLst/>
            <a:gdLst/>
            <a:ahLst/>
            <a:cxnLst/>
            <a:rect r="r" b="b" t="t" l="l"/>
            <a:pathLst>
              <a:path h="415775" w="415775">
                <a:moveTo>
                  <a:pt x="0" y="0"/>
                </a:moveTo>
                <a:lnTo>
                  <a:pt x="415775" y="0"/>
                </a:lnTo>
                <a:lnTo>
                  <a:pt x="415775" y="415775"/>
                </a:lnTo>
                <a:lnTo>
                  <a:pt x="0" y="415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2895233" y="6606471"/>
            <a:ext cx="3931920" cy="448168"/>
          </a:xfrm>
          <a:prstGeom prst="rect">
            <a:avLst/>
          </a:prstGeom>
        </p:spPr>
        <p:txBody>
          <a:bodyPr anchor="t" rtlCol="false" tIns="0" lIns="0" bIns="0" rIns="0">
            <a:spAutoFit/>
          </a:bodyPr>
          <a:lstStyle/>
          <a:p>
            <a:pPr algn="l">
              <a:lnSpc>
                <a:spcPts val="3647"/>
              </a:lnSpc>
            </a:pPr>
            <a:r>
              <a:rPr lang="en-US" sz="2200" b="true">
                <a:solidFill>
                  <a:srgbClr val="262626"/>
                </a:solidFill>
                <a:latin typeface="프리텐다드 Semi-Bold"/>
                <a:ea typeface="프리텐다드 Semi-Bold"/>
                <a:cs typeface="프리텐다드 Semi-Bold"/>
                <a:sym typeface="프리텐다드 Semi-Bold"/>
              </a:rPr>
              <a:t>Springer NCA 2026</a:t>
            </a:r>
          </a:p>
        </p:txBody>
      </p:sp>
      <p:sp>
        <p:nvSpPr>
          <p:cNvPr name="AutoShape 20" id="20"/>
          <p:cNvSpPr/>
          <p:nvPr/>
        </p:nvSpPr>
        <p:spPr>
          <a:xfrm>
            <a:off x="2295386" y="7495964"/>
            <a:ext cx="13697227" cy="0"/>
          </a:xfrm>
          <a:prstGeom prst="line">
            <a:avLst/>
          </a:prstGeom>
          <a:ln cap="flat" w="19050">
            <a:solidFill>
              <a:srgbClr val="DEDEDE"/>
            </a:solidFill>
            <a:prstDash val="solid"/>
            <a:headEnd type="none" len="sm" w="sm"/>
            <a:tailEnd type="none" len="sm" w="sm"/>
          </a:ln>
        </p:spPr>
      </p:sp>
      <p:sp>
        <p:nvSpPr>
          <p:cNvPr name="TextBox 21" id="21"/>
          <p:cNvSpPr txBox="true"/>
          <p:nvPr/>
        </p:nvSpPr>
        <p:spPr>
          <a:xfrm rot="0">
            <a:off x="6766560" y="7886330"/>
            <a:ext cx="8778240" cy="373334"/>
          </a:xfrm>
          <a:prstGeom prst="rect">
            <a:avLst/>
          </a:prstGeom>
        </p:spPr>
        <p:txBody>
          <a:bodyPr anchor="t" rtlCol="false" tIns="0" lIns="0" bIns="0" rIns="0">
            <a:spAutoFit/>
          </a:bodyPr>
          <a:lstStyle/>
          <a:p>
            <a:pPr algn="just">
              <a:lnSpc>
                <a:spcPts val="2900"/>
              </a:lnSpc>
            </a:pPr>
            <a:r>
              <a:rPr lang="en-US" sz="2000">
                <a:solidFill>
                  <a:srgbClr val="262626"/>
                </a:solidFill>
                <a:latin typeface="프리텐다드"/>
                <a:ea typeface="프리텐다드"/>
                <a:cs typeface="프리텐다드"/>
                <a:sym typeface="프리텐다드"/>
              </a:rPr>
              <a:t>2차 항력 ½ρC_dA · 축별 단면적  ·  강풍 &gt; 추력 한계</a:t>
            </a:r>
          </a:p>
        </p:txBody>
      </p:sp>
      <p:sp>
        <p:nvSpPr>
          <p:cNvPr name="Freeform 22" id="22"/>
          <p:cNvSpPr/>
          <p:nvPr/>
        </p:nvSpPr>
        <p:spPr>
          <a:xfrm flipH="false" flipV="false" rot="0">
            <a:off x="2295386" y="7929693"/>
            <a:ext cx="415775" cy="415775"/>
          </a:xfrm>
          <a:custGeom>
            <a:avLst/>
            <a:gdLst/>
            <a:ahLst/>
            <a:cxnLst/>
            <a:rect r="r" b="b" t="t" l="l"/>
            <a:pathLst>
              <a:path h="415775" w="415775">
                <a:moveTo>
                  <a:pt x="0" y="0"/>
                </a:moveTo>
                <a:lnTo>
                  <a:pt x="415775" y="0"/>
                </a:lnTo>
                <a:lnTo>
                  <a:pt x="415775" y="415775"/>
                </a:lnTo>
                <a:lnTo>
                  <a:pt x="0" y="415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2895233" y="7886330"/>
            <a:ext cx="3931920" cy="448168"/>
          </a:xfrm>
          <a:prstGeom prst="rect">
            <a:avLst/>
          </a:prstGeom>
        </p:spPr>
        <p:txBody>
          <a:bodyPr anchor="t" rtlCol="false" tIns="0" lIns="0" bIns="0" rIns="0">
            <a:spAutoFit/>
          </a:bodyPr>
          <a:lstStyle/>
          <a:p>
            <a:pPr algn="l">
              <a:lnSpc>
                <a:spcPts val="3647"/>
              </a:lnSpc>
            </a:pPr>
            <a:r>
              <a:rPr lang="en-US" sz="2200" b="true">
                <a:solidFill>
                  <a:srgbClr val="262626"/>
                </a:solidFill>
                <a:latin typeface="프리텐다드 Semi-Bold"/>
                <a:ea typeface="프리텐다드 Semi-Bold"/>
                <a:cs typeface="프리텐다드 Semi-Bold"/>
                <a:sym typeface="프리텐다드 Semi-Bold"/>
              </a:rPr>
              <a:t>Cole 외 2019</a:t>
            </a:r>
          </a:p>
        </p:txBody>
      </p:sp>
      <p:sp>
        <p:nvSpPr>
          <p:cNvPr name="Freeform 24" id="24"/>
          <p:cNvSpPr/>
          <p:nvPr/>
        </p:nvSpPr>
        <p:spPr>
          <a:xfrm flipH="true" flipV="false" rot="0">
            <a:off x="15812799" y="4148779"/>
            <a:ext cx="179815" cy="298447"/>
          </a:xfrm>
          <a:custGeom>
            <a:avLst/>
            <a:gdLst/>
            <a:ahLst/>
            <a:cxnLst/>
            <a:rect r="r" b="b" t="t" l="l"/>
            <a:pathLst>
              <a:path h="298447" w="179815">
                <a:moveTo>
                  <a:pt x="179815" y="0"/>
                </a:moveTo>
                <a:lnTo>
                  <a:pt x="0" y="0"/>
                </a:lnTo>
                <a:lnTo>
                  <a:pt x="0" y="298447"/>
                </a:lnTo>
                <a:lnTo>
                  <a:pt x="179815" y="298447"/>
                </a:lnTo>
                <a:lnTo>
                  <a:pt x="17981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true" flipV="false" rot="0">
            <a:off x="15812799" y="5428638"/>
            <a:ext cx="179815" cy="298447"/>
          </a:xfrm>
          <a:custGeom>
            <a:avLst/>
            <a:gdLst/>
            <a:ahLst/>
            <a:cxnLst/>
            <a:rect r="r" b="b" t="t" l="l"/>
            <a:pathLst>
              <a:path h="298447" w="179815">
                <a:moveTo>
                  <a:pt x="179815" y="0"/>
                </a:moveTo>
                <a:lnTo>
                  <a:pt x="0" y="0"/>
                </a:lnTo>
                <a:lnTo>
                  <a:pt x="0" y="298448"/>
                </a:lnTo>
                <a:lnTo>
                  <a:pt x="179815" y="298448"/>
                </a:lnTo>
                <a:lnTo>
                  <a:pt x="17981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true" flipV="false" rot="0">
            <a:off x="15812799" y="6708497"/>
            <a:ext cx="179815" cy="298447"/>
          </a:xfrm>
          <a:custGeom>
            <a:avLst/>
            <a:gdLst/>
            <a:ahLst/>
            <a:cxnLst/>
            <a:rect r="r" b="b" t="t" l="l"/>
            <a:pathLst>
              <a:path h="298447" w="179815">
                <a:moveTo>
                  <a:pt x="179815" y="0"/>
                </a:moveTo>
                <a:lnTo>
                  <a:pt x="0" y="0"/>
                </a:lnTo>
                <a:lnTo>
                  <a:pt x="0" y="298448"/>
                </a:lnTo>
                <a:lnTo>
                  <a:pt x="179815" y="298448"/>
                </a:lnTo>
                <a:lnTo>
                  <a:pt x="17981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true" flipV="false" rot="0">
            <a:off x="15812799" y="7988357"/>
            <a:ext cx="179815" cy="298447"/>
          </a:xfrm>
          <a:custGeom>
            <a:avLst/>
            <a:gdLst/>
            <a:ahLst/>
            <a:cxnLst/>
            <a:rect r="r" b="b" t="t" l="l"/>
            <a:pathLst>
              <a:path h="298447" w="179815">
                <a:moveTo>
                  <a:pt x="179815" y="0"/>
                </a:moveTo>
                <a:lnTo>
                  <a:pt x="0" y="0"/>
                </a:lnTo>
                <a:lnTo>
                  <a:pt x="0" y="298447"/>
                </a:lnTo>
                <a:lnTo>
                  <a:pt x="179815" y="298447"/>
                </a:lnTo>
                <a:lnTo>
                  <a:pt x="17981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논문 선정 이유</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04</a:t>
            </a:r>
          </a:p>
        </p:txBody>
      </p:sp>
      <p:grpSp>
        <p:nvGrpSpPr>
          <p:cNvPr name="Group 6" id="6"/>
          <p:cNvGrpSpPr/>
          <p:nvPr/>
        </p:nvGrpSpPr>
        <p:grpSpPr>
          <a:xfrm rot="0">
            <a:off x="1401645" y="3385242"/>
            <a:ext cx="7572843" cy="2476500"/>
            <a:chOff x="0" y="0"/>
            <a:chExt cx="1331095" cy="435300"/>
          </a:xfrm>
        </p:grpSpPr>
        <p:sp>
          <p:nvSpPr>
            <p:cNvPr name="Freeform 7" id="7"/>
            <p:cNvSpPr/>
            <p:nvPr/>
          </p:nvSpPr>
          <p:spPr>
            <a:xfrm flipH="false" flipV="false" rot="0">
              <a:off x="0" y="0"/>
              <a:ext cx="1331095" cy="435300"/>
            </a:xfrm>
            <a:custGeom>
              <a:avLst/>
              <a:gdLst/>
              <a:ahLst/>
              <a:cxnLst/>
              <a:rect r="r" b="b" t="t" l="l"/>
              <a:pathLst>
                <a:path h="435300" w="1331095">
                  <a:moveTo>
                    <a:pt x="27603" y="0"/>
                  </a:moveTo>
                  <a:lnTo>
                    <a:pt x="1303492" y="0"/>
                  </a:lnTo>
                  <a:cubicBezTo>
                    <a:pt x="1318737" y="0"/>
                    <a:pt x="1331095" y="12358"/>
                    <a:pt x="1331095" y="27603"/>
                  </a:cubicBezTo>
                  <a:lnTo>
                    <a:pt x="1331095" y="407697"/>
                  </a:lnTo>
                  <a:cubicBezTo>
                    <a:pt x="1331095" y="422942"/>
                    <a:pt x="1318737" y="435300"/>
                    <a:pt x="1303492" y="435300"/>
                  </a:cubicBezTo>
                  <a:lnTo>
                    <a:pt x="27603" y="435300"/>
                  </a:lnTo>
                  <a:cubicBezTo>
                    <a:pt x="12358" y="435300"/>
                    <a:pt x="0" y="422942"/>
                    <a:pt x="0" y="407697"/>
                  </a:cubicBezTo>
                  <a:lnTo>
                    <a:pt x="0" y="27603"/>
                  </a:lnTo>
                  <a:cubicBezTo>
                    <a:pt x="0" y="12358"/>
                    <a:pt x="12358" y="0"/>
                    <a:pt x="27603" y="0"/>
                  </a:cubicBezTo>
                  <a:close/>
                </a:path>
              </a:pathLst>
            </a:custGeom>
            <a:solidFill>
              <a:srgbClr val="FFFFFF"/>
            </a:solidFill>
            <a:ln cap="rnd">
              <a:noFill/>
              <a:prstDash val="solid"/>
              <a:round/>
            </a:ln>
          </p:spPr>
        </p:sp>
        <p:sp>
          <p:nvSpPr>
            <p:cNvPr name="TextBox 8" id="8"/>
            <p:cNvSpPr txBox="true"/>
            <p:nvPr/>
          </p:nvSpPr>
          <p:spPr>
            <a:xfrm>
              <a:off x="0" y="-38100"/>
              <a:ext cx="1331095" cy="4734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2642738" y="3873263"/>
            <a:ext cx="5394960" cy="440602"/>
          </a:xfrm>
          <a:prstGeom prst="rect">
            <a:avLst/>
          </a:prstGeom>
        </p:spPr>
        <p:txBody>
          <a:bodyPr anchor="t" rtlCol="false" tIns="0" lIns="0" bIns="0" rIns="0">
            <a:spAutoFit/>
          </a:bodyPr>
          <a:lstStyle/>
          <a:p>
            <a:pPr algn="l">
              <a:lnSpc>
                <a:spcPts val="3692"/>
              </a:lnSpc>
            </a:pPr>
            <a:r>
              <a:rPr lang="en-US" sz="2637" b="true">
                <a:solidFill>
                  <a:srgbClr val="262626"/>
                </a:solidFill>
                <a:latin typeface="프리텐다드 Medium"/>
                <a:ea typeface="프리텐다드 Medium"/>
                <a:cs typeface="프리텐다드 Medium"/>
                <a:sym typeface="프리텐다드 Medium"/>
              </a:rPr>
              <a:t>항력 모델의 근거</a:t>
            </a:r>
          </a:p>
        </p:txBody>
      </p:sp>
      <p:sp>
        <p:nvSpPr>
          <p:cNvPr name="TextBox 10" id="10"/>
          <p:cNvSpPr txBox="true"/>
          <p:nvPr/>
        </p:nvSpPr>
        <p:spPr>
          <a:xfrm rot="0">
            <a:off x="2642738" y="4613946"/>
            <a:ext cx="5831707" cy="785467"/>
          </a:xfrm>
          <a:prstGeom prst="rect">
            <a:avLst/>
          </a:prstGeom>
        </p:spPr>
        <p:txBody>
          <a:bodyPr anchor="t" rtlCol="false" tIns="0" lIns="0" bIns="0" rIns="0">
            <a:spAutoFit/>
          </a:bodyPr>
          <a:lstStyle/>
          <a:p>
            <a:pPr algn="l">
              <a:lnSpc>
                <a:spcPts val="3160"/>
              </a:lnSpc>
            </a:pPr>
            <a:r>
              <a:rPr lang="en-US" sz="2000">
                <a:solidFill>
                  <a:srgbClr val="262626"/>
                </a:solidFill>
                <a:latin typeface="프리텐다드"/>
                <a:ea typeface="프리텐다드"/>
                <a:cs typeface="프리텐다드"/>
                <a:sym typeface="프리텐다드"/>
              </a:rPr>
              <a:t>실측 항력  →  모델 신뢰도</a:t>
            </a:r>
          </a:p>
        </p:txBody>
      </p:sp>
      <p:sp>
        <p:nvSpPr>
          <p:cNvPr name="AutoShape 11" id="11"/>
          <p:cNvSpPr/>
          <p:nvPr/>
        </p:nvSpPr>
        <p:spPr>
          <a:xfrm>
            <a:off x="2642738" y="4501046"/>
            <a:ext cx="5831707" cy="0"/>
          </a:xfrm>
          <a:prstGeom prst="line">
            <a:avLst/>
          </a:prstGeom>
          <a:ln cap="flat" w="19050">
            <a:solidFill>
              <a:srgbClr val="DEDEDE"/>
            </a:solidFill>
            <a:prstDash val="solid"/>
            <a:headEnd type="none" len="sm" w="sm"/>
            <a:tailEnd type="none" len="sm" w="sm"/>
          </a:ln>
        </p:spPr>
      </p:sp>
      <p:grpSp>
        <p:nvGrpSpPr>
          <p:cNvPr name="Group 12" id="12"/>
          <p:cNvGrpSpPr/>
          <p:nvPr/>
        </p:nvGrpSpPr>
        <p:grpSpPr>
          <a:xfrm rot="0">
            <a:off x="1734964" y="3802334"/>
            <a:ext cx="647990" cy="631957"/>
            <a:chOff x="0" y="0"/>
            <a:chExt cx="863986" cy="842609"/>
          </a:xfrm>
        </p:grpSpPr>
        <p:grpSp>
          <p:nvGrpSpPr>
            <p:cNvPr name="Group 13" id="13"/>
            <p:cNvGrpSpPr/>
            <p:nvPr/>
          </p:nvGrpSpPr>
          <p:grpSpPr>
            <a:xfrm rot="0">
              <a:off x="0" y="0"/>
              <a:ext cx="863986" cy="842609"/>
              <a:chOff x="0" y="0"/>
              <a:chExt cx="682823" cy="665929"/>
            </a:xfrm>
          </p:grpSpPr>
          <p:sp>
            <p:nvSpPr>
              <p:cNvPr name="Freeform 14" id="14"/>
              <p:cNvSpPr/>
              <p:nvPr/>
            </p:nvSpPr>
            <p:spPr>
              <a:xfrm flipH="false" flipV="false" rot="0">
                <a:off x="0" y="0"/>
                <a:ext cx="682823" cy="665929"/>
              </a:xfrm>
              <a:custGeom>
                <a:avLst/>
                <a:gdLst/>
                <a:ahLst/>
                <a:cxnLst/>
                <a:rect r="r" b="b" t="t" l="l"/>
                <a:pathLst>
                  <a:path h="665929" w="682823">
                    <a:moveTo>
                      <a:pt x="183579" y="0"/>
                    </a:moveTo>
                    <a:lnTo>
                      <a:pt x="499244" y="0"/>
                    </a:lnTo>
                    <a:cubicBezTo>
                      <a:pt x="547932" y="0"/>
                      <a:pt x="594626" y="19341"/>
                      <a:pt x="629054" y="53769"/>
                    </a:cubicBezTo>
                    <a:cubicBezTo>
                      <a:pt x="663482" y="88197"/>
                      <a:pt x="682823" y="134891"/>
                      <a:pt x="682823" y="183579"/>
                    </a:cubicBezTo>
                    <a:lnTo>
                      <a:pt x="682823" y="482350"/>
                    </a:lnTo>
                    <a:cubicBezTo>
                      <a:pt x="682823" y="583738"/>
                      <a:pt x="600632" y="665929"/>
                      <a:pt x="499244" y="665929"/>
                    </a:cubicBezTo>
                    <a:lnTo>
                      <a:pt x="183579" y="665929"/>
                    </a:lnTo>
                    <a:cubicBezTo>
                      <a:pt x="82191" y="665929"/>
                      <a:pt x="0" y="583738"/>
                      <a:pt x="0" y="482350"/>
                    </a:cubicBezTo>
                    <a:lnTo>
                      <a:pt x="0" y="183579"/>
                    </a:lnTo>
                    <a:cubicBezTo>
                      <a:pt x="0" y="82191"/>
                      <a:pt x="82191" y="0"/>
                      <a:pt x="183579" y="0"/>
                    </a:cubicBezTo>
                    <a:close/>
                  </a:path>
                </a:pathLst>
              </a:custGeom>
              <a:solidFill>
                <a:srgbClr val="262626"/>
              </a:solidFill>
            </p:spPr>
          </p:sp>
          <p:sp>
            <p:nvSpPr>
              <p:cNvPr name="TextBox 15" id="15"/>
              <p:cNvSpPr txBox="true"/>
              <p:nvPr/>
            </p:nvSpPr>
            <p:spPr>
              <a:xfrm>
                <a:off x="0" y="-47625"/>
                <a:ext cx="682823" cy="713554"/>
              </a:xfrm>
              <a:prstGeom prst="rect">
                <a:avLst/>
              </a:prstGeom>
            </p:spPr>
            <p:txBody>
              <a:bodyPr anchor="ctr" rtlCol="false" tIns="50800" lIns="50800" bIns="50800" rIns="50800"/>
              <a:lstStyle/>
              <a:p>
                <a:pPr algn="ctr">
                  <a:lnSpc>
                    <a:spcPts val="2940"/>
                  </a:lnSpc>
                </a:pPr>
              </a:p>
            </p:txBody>
          </p:sp>
        </p:grpSp>
        <p:sp>
          <p:nvSpPr>
            <p:cNvPr name="TextBox 16" id="16"/>
            <p:cNvSpPr txBox="true"/>
            <p:nvPr/>
          </p:nvSpPr>
          <p:spPr>
            <a:xfrm rot="0">
              <a:off x="102367" y="130133"/>
              <a:ext cx="659253" cy="525194"/>
            </a:xfrm>
            <a:prstGeom prst="rect">
              <a:avLst/>
            </a:prstGeom>
          </p:spPr>
          <p:txBody>
            <a:bodyPr anchor="t" rtlCol="false" tIns="0" lIns="0" bIns="0" rIns="0">
              <a:spAutoFit/>
            </a:bodyPr>
            <a:lstStyle/>
            <a:p>
              <a:pPr algn="ctr">
                <a:lnSpc>
                  <a:spcPts val="3226"/>
                </a:lnSpc>
              </a:pPr>
              <a:r>
                <a:rPr lang="en-US" b="true" sz="2304" spc="168">
                  <a:solidFill>
                    <a:srgbClr val="FFFFFF"/>
                  </a:solidFill>
                  <a:latin typeface="프리텐다드 Medium"/>
                  <a:ea typeface="프리텐다드 Medium"/>
                  <a:cs typeface="프리텐다드 Medium"/>
                  <a:sym typeface="프리텐다드 Medium"/>
                </a:rPr>
                <a:t>01</a:t>
              </a:r>
            </a:p>
          </p:txBody>
        </p:sp>
      </p:grpSp>
      <p:sp>
        <p:nvSpPr>
          <p:cNvPr name="Freeform 17" id="17"/>
          <p:cNvSpPr/>
          <p:nvPr/>
        </p:nvSpPr>
        <p:spPr>
          <a:xfrm flipH="true" flipV="false" rot="0">
            <a:off x="8292417" y="3966317"/>
            <a:ext cx="182027" cy="302119"/>
          </a:xfrm>
          <a:custGeom>
            <a:avLst/>
            <a:gdLst/>
            <a:ahLst/>
            <a:cxnLst/>
            <a:rect r="r" b="b" t="t" l="l"/>
            <a:pathLst>
              <a:path h="302119" w="182027">
                <a:moveTo>
                  <a:pt x="182027" y="0"/>
                </a:moveTo>
                <a:lnTo>
                  <a:pt x="0" y="0"/>
                </a:lnTo>
                <a:lnTo>
                  <a:pt x="0" y="302120"/>
                </a:lnTo>
                <a:lnTo>
                  <a:pt x="182027" y="302120"/>
                </a:lnTo>
                <a:lnTo>
                  <a:pt x="182027"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8" id="18"/>
          <p:cNvGrpSpPr/>
          <p:nvPr/>
        </p:nvGrpSpPr>
        <p:grpSpPr>
          <a:xfrm rot="0">
            <a:off x="1401645" y="6185592"/>
            <a:ext cx="7572843" cy="2476500"/>
            <a:chOff x="0" y="0"/>
            <a:chExt cx="1331095" cy="435300"/>
          </a:xfrm>
        </p:grpSpPr>
        <p:sp>
          <p:nvSpPr>
            <p:cNvPr name="Freeform 19" id="19"/>
            <p:cNvSpPr/>
            <p:nvPr/>
          </p:nvSpPr>
          <p:spPr>
            <a:xfrm flipH="false" flipV="false" rot="0">
              <a:off x="0" y="0"/>
              <a:ext cx="1331095" cy="435300"/>
            </a:xfrm>
            <a:custGeom>
              <a:avLst/>
              <a:gdLst/>
              <a:ahLst/>
              <a:cxnLst/>
              <a:rect r="r" b="b" t="t" l="l"/>
              <a:pathLst>
                <a:path h="435300" w="1331095">
                  <a:moveTo>
                    <a:pt x="27603" y="0"/>
                  </a:moveTo>
                  <a:lnTo>
                    <a:pt x="1303492" y="0"/>
                  </a:lnTo>
                  <a:cubicBezTo>
                    <a:pt x="1318737" y="0"/>
                    <a:pt x="1331095" y="12358"/>
                    <a:pt x="1331095" y="27603"/>
                  </a:cubicBezTo>
                  <a:lnTo>
                    <a:pt x="1331095" y="407697"/>
                  </a:lnTo>
                  <a:cubicBezTo>
                    <a:pt x="1331095" y="422942"/>
                    <a:pt x="1318737" y="435300"/>
                    <a:pt x="1303492" y="435300"/>
                  </a:cubicBezTo>
                  <a:lnTo>
                    <a:pt x="27603" y="435300"/>
                  </a:lnTo>
                  <a:cubicBezTo>
                    <a:pt x="12358" y="435300"/>
                    <a:pt x="0" y="422942"/>
                    <a:pt x="0" y="407697"/>
                  </a:cubicBezTo>
                  <a:lnTo>
                    <a:pt x="0" y="27603"/>
                  </a:lnTo>
                  <a:cubicBezTo>
                    <a:pt x="0" y="12358"/>
                    <a:pt x="12358" y="0"/>
                    <a:pt x="27603" y="0"/>
                  </a:cubicBezTo>
                  <a:close/>
                </a:path>
              </a:pathLst>
            </a:custGeom>
            <a:solidFill>
              <a:srgbClr val="FFFFFF"/>
            </a:solidFill>
            <a:ln cap="rnd">
              <a:noFill/>
              <a:prstDash val="solid"/>
              <a:round/>
            </a:ln>
          </p:spPr>
        </p:sp>
        <p:sp>
          <p:nvSpPr>
            <p:cNvPr name="TextBox 20" id="20"/>
            <p:cNvSpPr txBox="true"/>
            <p:nvPr/>
          </p:nvSpPr>
          <p:spPr>
            <a:xfrm>
              <a:off x="0" y="-38100"/>
              <a:ext cx="1331095" cy="4734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1" id="21"/>
          <p:cNvSpPr txBox="true"/>
          <p:nvPr/>
        </p:nvSpPr>
        <p:spPr>
          <a:xfrm rot="0">
            <a:off x="2642738" y="6673613"/>
            <a:ext cx="5394960" cy="440602"/>
          </a:xfrm>
          <a:prstGeom prst="rect">
            <a:avLst/>
          </a:prstGeom>
        </p:spPr>
        <p:txBody>
          <a:bodyPr anchor="t" rtlCol="false" tIns="0" lIns="0" bIns="0" rIns="0">
            <a:spAutoFit/>
          </a:bodyPr>
          <a:lstStyle/>
          <a:p>
            <a:pPr algn="l">
              <a:lnSpc>
                <a:spcPts val="3692"/>
              </a:lnSpc>
            </a:pPr>
            <a:r>
              <a:rPr lang="en-US" sz="2637" b="true">
                <a:solidFill>
                  <a:srgbClr val="262626"/>
                </a:solidFill>
                <a:latin typeface="프리텐다드 Medium"/>
                <a:ea typeface="프리텐다드 Medium"/>
                <a:cs typeface="프리텐다드 Medium"/>
                <a:sym typeface="프리텐다드 Medium"/>
              </a:rPr>
              <a:t>Step 2 분류와 연계</a:t>
            </a:r>
          </a:p>
        </p:txBody>
      </p:sp>
      <p:sp>
        <p:nvSpPr>
          <p:cNvPr name="TextBox 22" id="22"/>
          <p:cNvSpPr txBox="true"/>
          <p:nvPr/>
        </p:nvSpPr>
        <p:spPr>
          <a:xfrm rot="0">
            <a:off x="2642738" y="7414296"/>
            <a:ext cx="5831707" cy="785467"/>
          </a:xfrm>
          <a:prstGeom prst="rect">
            <a:avLst/>
          </a:prstGeom>
        </p:spPr>
        <p:txBody>
          <a:bodyPr anchor="t" rtlCol="false" tIns="0" lIns="0" bIns="0" rIns="0">
            <a:spAutoFit/>
          </a:bodyPr>
          <a:lstStyle/>
          <a:p>
            <a:pPr algn="l">
              <a:lnSpc>
                <a:spcPts val="3160"/>
              </a:lnSpc>
            </a:pPr>
            <a:r>
              <a:rPr lang="en-US" sz="2000">
                <a:solidFill>
                  <a:srgbClr val="262626"/>
                </a:solidFill>
                <a:latin typeface="프리텐다드"/>
                <a:ea typeface="프리텐다드"/>
                <a:cs typeface="프리텐다드"/>
                <a:sym typeface="프리텐다드"/>
              </a:rPr>
              <a:t>고도유지 · α  →  분류 특징 사전 검증</a:t>
            </a:r>
          </a:p>
        </p:txBody>
      </p:sp>
      <p:sp>
        <p:nvSpPr>
          <p:cNvPr name="AutoShape 23" id="23"/>
          <p:cNvSpPr/>
          <p:nvPr/>
        </p:nvSpPr>
        <p:spPr>
          <a:xfrm>
            <a:off x="2642738" y="7301396"/>
            <a:ext cx="5831707" cy="0"/>
          </a:xfrm>
          <a:prstGeom prst="line">
            <a:avLst/>
          </a:prstGeom>
          <a:ln cap="flat" w="19050">
            <a:solidFill>
              <a:srgbClr val="DEDEDE"/>
            </a:solidFill>
            <a:prstDash val="solid"/>
            <a:headEnd type="none" len="sm" w="sm"/>
            <a:tailEnd type="none" len="sm" w="sm"/>
          </a:ln>
        </p:spPr>
      </p:sp>
      <p:grpSp>
        <p:nvGrpSpPr>
          <p:cNvPr name="Group 24" id="24"/>
          <p:cNvGrpSpPr/>
          <p:nvPr/>
        </p:nvGrpSpPr>
        <p:grpSpPr>
          <a:xfrm rot="0">
            <a:off x="1734964" y="6602684"/>
            <a:ext cx="647990" cy="631957"/>
            <a:chOff x="0" y="0"/>
            <a:chExt cx="863986" cy="842609"/>
          </a:xfrm>
        </p:grpSpPr>
        <p:grpSp>
          <p:nvGrpSpPr>
            <p:cNvPr name="Group 25" id="25"/>
            <p:cNvGrpSpPr/>
            <p:nvPr/>
          </p:nvGrpSpPr>
          <p:grpSpPr>
            <a:xfrm rot="0">
              <a:off x="0" y="0"/>
              <a:ext cx="863986" cy="842609"/>
              <a:chOff x="0" y="0"/>
              <a:chExt cx="682823" cy="665929"/>
            </a:xfrm>
          </p:grpSpPr>
          <p:sp>
            <p:nvSpPr>
              <p:cNvPr name="Freeform 26" id="26"/>
              <p:cNvSpPr/>
              <p:nvPr/>
            </p:nvSpPr>
            <p:spPr>
              <a:xfrm flipH="false" flipV="false" rot="0">
                <a:off x="0" y="0"/>
                <a:ext cx="682823" cy="665929"/>
              </a:xfrm>
              <a:custGeom>
                <a:avLst/>
                <a:gdLst/>
                <a:ahLst/>
                <a:cxnLst/>
                <a:rect r="r" b="b" t="t" l="l"/>
                <a:pathLst>
                  <a:path h="665929" w="682823">
                    <a:moveTo>
                      <a:pt x="183579" y="0"/>
                    </a:moveTo>
                    <a:lnTo>
                      <a:pt x="499244" y="0"/>
                    </a:lnTo>
                    <a:cubicBezTo>
                      <a:pt x="547932" y="0"/>
                      <a:pt x="594626" y="19341"/>
                      <a:pt x="629054" y="53769"/>
                    </a:cubicBezTo>
                    <a:cubicBezTo>
                      <a:pt x="663482" y="88197"/>
                      <a:pt x="682823" y="134891"/>
                      <a:pt x="682823" y="183579"/>
                    </a:cubicBezTo>
                    <a:lnTo>
                      <a:pt x="682823" y="482350"/>
                    </a:lnTo>
                    <a:cubicBezTo>
                      <a:pt x="682823" y="583738"/>
                      <a:pt x="600632" y="665929"/>
                      <a:pt x="499244" y="665929"/>
                    </a:cubicBezTo>
                    <a:lnTo>
                      <a:pt x="183579" y="665929"/>
                    </a:lnTo>
                    <a:cubicBezTo>
                      <a:pt x="82191" y="665929"/>
                      <a:pt x="0" y="583738"/>
                      <a:pt x="0" y="482350"/>
                    </a:cubicBezTo>
                    <a:lnTo>
                      <a:pt x="0" y="183579"/>
                    </a:lnTo>
                    <a:cubicBezTo>
                      <a:pt x="0" y="82191"/>
                      <a:pt x="82191" y="0"/>
                      <a:pt x="183579" y="0"/>
                    </a:cubicBezTo>
                    <a:close/>
                  </a:path>
                </a:pathLst>
              </a:custGeom>
              <a:solidFill>
                <a:srgbClr val="262626"/>
              </a:solidFill>
            </p:spPr>
          </p:sp>
          <p:sp>
            <p:nvSpPr>
              <p:cNvPr name="TextBox 27" id="27"/>
              <p:cNvSpPr txBox="true"/>
              <p:nvPr/>
            </p:nvSpPr>
            <p:spPr>
              <a:xfrm>
                <a:off x="0" y="-47625"/>
                <a:ext cx="682823" cy="713554"/>
              </a:xfrm>
              <a:prstGeom prst="rect">
                <a:avLst/>
              </a:prstGeom>
            </p:spPr>
            <p:txBody>
              <a:bodyPr anchor="ctr" rtlCol="false" tIns="50800" lIns="50800" bIns="50800" rIns="50800"/>
              <a:lstStyle/>
              <a:p>
                <a:pPr algn="ctr">
                  <a:lnSpc>
                    <a:spcPts val="2940"/>
                  </a:lnSpc>
                </a:pPr>
              </a:p>
            </p:txBody>
          </p:sp>
        </p:grpSp>
        <p:sp>
          <p:nvSpPr>
            <p:cNvPr name="TextBox 28" id="28"/>
            <p:cNvSpPr txBox="true"/>
            <p:nvPr/>
          </p:nvSpPr>
          <p:spPr>
            <a:xfrm rot="0">
              <a:off x="102367" y="130133"/>
              <a:ext cx="659253" cy="525194"/>
            </a:xfrm>
            <a:prstGeom prst="rect">
              <a:avLst/>
            </a:prstGeom>
          </p:spPr>
          <p:txBody>
            <a:bodyPr anchor="t" rtlCol="false" tIns="0" lIns="0" bIns="0" rIns="0">
              <a:spAutoFit/>
            </a:bodyPr>
            <a:lstStyle/>
            <a:p>
              <a:pPr algn="ctr">
                <a:lnSpc>
                  <a:spcPts val="3226"/>
                </a:lnSpc>
              </a:pPr>
              <a:r>
                <a:rPr lang="en-US" b="true" sz="2304" spc="168">
                  <a:solidFill>
                    <a:srgbClr val="FFFFFF"/>
                  </a:solidFill>
                  <a:latin typeface="프리텐다드 Medium"/>
                  <a:ea typeface="프리텐다드 Medium"/>
                  <a:cs typeface="프리텐다드 Medium"/>
                  <a:sym typeface="프리텐다드 Medium"/>
                </a:rPr>
                <a:t>03</a:t>
              </a:r>
            </a:p>
          </p:txBody>
        </p:sp>
      </p:grpSp>
      <p:sp>
        <p:nvSpPr>
          <p:cNvPr name="Freeform 29" id="29"/>
          <p:cNvSpPr/>
          <p:nvPr/>
        </p:nvSpPr>
        <p:spPr>
          <a:xfrm flipH="true" flipV="false" rot="0">
            <a:off x="8292417" y="6766667"/>
            <a:ext cx="182027" cy="302119"/>
          </a:xfrm>
          <a:custGeom>
            <a:avLst/>
            <a:gdLst/>
            <a:ahLst/>
            <a:cxnLst/>
            <a:rect r="r" b="b" t="t" l="l"/>
            <a:pathLst>
              <a:path h="302119" w="182027">
                <a:moveTo>
                  <a:pt x="182027" y="0"/>
                </a:moveTo>
                <a:lnTo>
                  <a:pt x="0" y="0"/>
                </a:lnTo>
                <a:lnTo>
                  <a:pt x="0" y="302120"/>
                </a:lnTo>
                <a:lnTo>
                  <a:pt x="182027" y="302120"/>
                </a:lnTo>
                <a:lnTo>
                  <a:pt x="182027"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30" id="30"/>
          <p:cNvGrpSpPr/>
          <p:nvPr/>
        </p:nvGrpSpPr>
        <p:grpSpPr>
          <a:xfrm rot="0">
            <a:off x="9313512" y="3385242"/>
            <a:ext cx="7572843" cy="2476500"/>
            <a:chOff x="0" y="0"/>
            <a:chExt cx="1331095" cy="435300"/>
          </a:xfrm>
        </p:grpSpPr>
        <p:sp>
          <p:nvSpPr>
            <p:cNvPr name="Freeform 31" id="31"/>
            <p:cNvSpPr/>
            <p:nvPr/>
          </p:nvSpPr>
          <p:spPr>
            <a:xfrm flipH="false" flipV="false" rot="0">
              <a:off x="0" y="0"/>
              <a:ext cx="1331095" cy="435300"/>
            </a:xfrm>
            <a:custGeom>
              <a:avLst/>
              <a:gdLst/>
              <a:ahLst/>
              <a:cxnLst/>
              <a:rect r="r" b="b" t="t" l="l"/>
              <a:pathLst>
                <a:path h="435300" w="1331095">
                  <a:moveTo>
                    <a:pt x="27603" y="0"/>
                  </a:moveTo>
                  <a:lnTo>
                    <a:pt x="1303492" y="0"/>
                  </a:lnTo>
                  <a:cubicBezTo>
                    <a:pt x="1318737" y="0"/>
                    <a:pt x="1331095" y="12358"/>
                    <a:pt x="1331095" y="27603"/>
                  </a:cubicBezTo>
                  <a:lnTo>
                    <a:pt x="1331095" y="407697"/>
                  </a:lnTo>
                  <a:cubicBezTo>
                    <a:pt x="1331095" y="422942"/>
                    <a:pt x="1318737" y="435300"/>
                    <a:pt x="1303492" y="435300"/>
                  </a:cubicBezTo>
                  <a:lnTo>
                    <a:pt x="27603" y="435300"/>
                  </a:lnTo>
                  <a:cubicBezTo>
                    <a:pt x="12358" y="435300"/>
                    <a:pt x="0" y="422942"/>
                    <a:pt x="0" y="407697"/>
                  </a:cubicBezTo>
                  <a:lnTo>
                    <a:pt x="0" y="27603"/>
                  </a:lnTo>
                  <a:cubicBezTo>
                    <a:pt x="0" y="12358"/>
                    <a:pt x="12358" y="0"/>
                    <a:pt x="27603" y="0"/>
                  </a:cubicBezTo>
                  <a:close/>
                </a:path>
              </a:pathLst>
            </a:custGeom>
            <a:solidFill>
              <a:srgbClr val="FFFFFF"/>
            </a:solidFill>
            <a:ln cap="rnd">
              <a:noFill/>
              <a:prstDash val="solid"/>
              <a:round/>
            </a:ln>
          </p:spPr>
        </p:sp>
        <p:sp>
          <p:nvSpPr>
            <p:cNvPr name="TextBox 32" id="32"/>
            <p:cNvSpPr txBox="true"/>
            <p:nvPr/>
          </p:nvSpPr>
          <p:spPr>
            <a:xfrm>
              <a:off x="0" y="-38100"/>
              <a:ext cx="1331095" cy="4734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3" id="33"/>
          <p:cNvSpPr txBox="true"/>
          <p:nvPr/>
        </p:nvSpPr>
        <p:spPr>
          <a:xfrm rot="0">
            <a:off x="10554604" y="3873263"/>
            <a:ext cx="5394960" cy="440602"/>
          </a:xfrm>
          <a:prstGeom prst="rect">
            <a:avLst/>
          </a:prstGeom>
        </p:spPr>
        <p:txBody>
          <a:bodyPr anchor="t" rtlCol="false" tIns="0" lIns="0" bIns="0" rIns="0">
            <a:spAutoFit/>
          </a:bodyPr>
          <a:lstStyle/>
          <a:p>
            <a:pPr algn="l">
              <a:lnSpc>
                <a:spcPts val="3692"/>
              </a:lnSpc>
            </a:pPr>
            <a:r>
              <a:rPr lang="en-US" sz="2637" b="true">
                <a:solidFill>
                  <a:srgbClr val="262626"/>
                </a:solidFill>
                <a:latin typeface="프리텐다드 Medium"/>
                <a:ea typeface="프리텐다드 Medium"/>
                <a:cs typeface="프리텐다드 Medium"/>
                <a:sym typeface="프리텐다드 Medium"/>
              </a:rPr>
              <a:t>풍 외란 시나리오</a:t>
            </a:r>
          </a:p>
        </p:txBody>
      </p:sp>
      <p:sp>
        <p:nvSpPr>
          <p:cNvPr name="TextBox 34" id="34"/>
          <p:cNvSpPr txBox="true"/>
          <p:nvPr/>
        </p:nvSpPr>
        <p:spPr>
          <a:xfrm rot="0">
            <a:off x="10554604" y="4613946"/>
            <a:ext cx="5831707" cy="785467"/>
          </a:xfrm>
          <a:prstGeom prst="rect">
            <a:avLst/>
          </a:prstGeom>
        </p:spPr>
        <p:txBody>
          <a:bodyPr anchor="t" rtlCol="false" tIns="0" lIns="0" bIns="0" rIns="0">
            <a:spAutoFit/>
          </a:bodyPr>
          <a:lstStyle/>
          <a:p>
            <a:pPr algn="l">
              <a:lnSpc>
                <a:spcPts val="3160"/>
              </a:lnSpc>
            </a:pPr>
            <a:r>
              <a:rPr lang="en-US" sz="2000">
                <a:solidFill>
                  <a:srgbClr val="262626"/>
                </a:solidFill>
                <a:latin typeface="프리텐다드"/>
                <a:ea typeface="프리텐다드"/>
                <a:cs typeface="프리텐다드"/>
                <a:sym typeface="프리텐다드"/>
              </a:rPr>
              <a:t>일정풍 + 돌풍 분리  →  무풍 · 약풍 · 강풍</a:t>
            </a:r>
          </a:p>
        </p:txBody>
      </p:sp>
      <p:sp>
        <p:nvSpPr>
          <p:cNvPr name="AutoShape 35" id="35"/>
          <p:cNvSpPr/>
          <p:nvPr/>
        </p:nvSpPr>
        <p:spPr>
          <a:xfrm>
            <a:off x="10554604" y="4501046"/>
            <a:ext cx="5831707" cy="0"/>
          </a:xfrm>
          <a:prstGeom prst="line">
            <a:avLst/>
          </a:prstGeom>
          <a:ln cap="flat" w="19050">
            <a:solidFill>
              <a:srgbClr val="DEDEDE"/>
            </a:solidFill>
            <a:prstDash val="solid"/>
            <a:headEnd type="none" len="sm" w="sm"/>
            <a:tailEnd type="none" len="sm" w="sm"/>
          </a:ln>
        </p:spPr>
      </p:sp>
      <p:grpSp>
        <p:nvGrpSpPr>
          <p:cNvPr name="Group 36" id="36"/>
          <p:cNvGrpSpPr/>
          <p:nvPr/>
        </p:nvGrpSpPr>
        <p:grpSpPr>
          <a:xfrm rot="0">
            <a:off x="9646830" y="3802334"/>
            <a:ext cx="647990" cy="631957"/>
            <a:chOff x="0" y="0"/>
            <a:chExt cx="863986" cy="842609"/>
          </a:xfrm>
        </p:grpSpPr>
        <p:grpSp>
          <p:nvGrpSpPr>
            <p:cNvPr name="Group 37" id="37"/>
            <p:cNvGrpSpPr/>
            <p:nvPr/>
          </p:nvGrpSpPr>
          <p:grpSpPr>
            <a:xfrm rot="0">
              <a:off x="0" y="0"/>
              <a:ext cx="863986" cy="842609"/>
              <a:chOff x="0" y="0"/>
              <a:chExt cx="682823" cy="665929"/>
            </a:xfrm>
          </p:grpSpPr>
          <p:sp>
            <p:nvSpPr>
              <p:cNvPr name="Freeform 38" id="38"/>
              <p:cNvSpPr/>
              <p:nvPr/>
            </p:nvSpPr>
            <p:spPr>
              <a:xfrm flipH="false" flipV="false" rot="0">
                <a:off x="0" y="0"/>
                <a:ext cx="682823" cy="665929"/>
              </a:xfrm>
              <a:custGeom>
                <a:avLst/>
                <a:gdLst/>
                <a:ahLst/>
                <a:cxnLst/>
                <a:rect r="r" b="b" t="t" l="l"/>
                <a:pathLst>
                  <a:path h="665929" w="682823">
                    <a:moveTo>
                      <a:pt x="183579" y="0"/>
                    </a:moveTo>
                    <a:lnTo>
                      <a:pt x="499244" y="0"/>
                    </a:lnTo>
                    <a:cubicBezTo>
                      <a:pt x="547932" y="0"/>
                      <a:pt x="594626" y="19341"/>
                      <a:pt x="629054" y="53769"/>
                    </a:cubicBezTo>
                    <a:cubicBezTo>
                      <a:pt x="663482" y="88197"/>
                      <a:pt x="682823" y="134891"/>
                      <a:pt x="682823" y="183579"/>
                    </a:cubicBezTo>
                    <a:lnTo>
                      <a:pt x="682823" y="482350"/>
                    </a:lnTo>
                    <a:cubicBezTo>
                      <a:pt x="682823" y="583738"/>
                      <a:pt x="600632" y="665929"/>
                      <a:pt x="499244" y="665929"/>
                    </a:cubicBezTo>
                    <a:lnTo>
                      <a:pt x="183579" y="665929"/>
                    </a:lnTo>
                    <a:cubicBezTo>
                      <a:pt x="82191" y="665929"/>
                      <a:pt x="0" y="583738"/>
                      <a:pt x="0" y="482350"/>
                    </a:cubicBezTo>
                    <a:lnTo>
                      <a:pt x="0" y="183579"/>
                    </a:lnTo>
                    <a:cubicBezTo>
                      <a:pt x="0" y="82191"/>
                      <a:pt x="82191" y="0"/>
                      <a:pt x="183579" y="0"/>
                    </a:cubicBezTo>
                    <a:close/>
                  </a:path>
                </a:pathLst>
              </a:custGeom>
              <a:solidFill>
                <a:srgbClr val="262626"/>
              </a:solidFill>
            </p:spPr>
          </p:sp>
          <p:sp>
            <p:nvSpPr>
              <p:cNvPr name="TextBox 39" id="39"/>
              <p:cNvSpPr txBox="true"/>
              <p:nvPr/>
            </p:nvSpPr>
            <p:spPr>
              <a:xfrm>
                <a:off x="0" y="-47625"/>
                <a:ext cx="682823" cy="713554"/>
              </a:xfrm>
              <a:prstGeom prst="rect">
                <a:avLst/>
              </a:prstGeom>
            </p:spPr>
            <p:txBody>
              <a:bodyPr anchor="ctr" rtlCol="false" tIns="50800" lIns="50800" bIns="50800" rIns="50800"/>
              <a:lstStyle/>
              <a:p>
                <a:pPr algn="ctr">
                  <a:lnSpc>
                    <a:spcPts val="2940"/>
                  </a:lnSpc>
                </a:pPr>
              </a:p>
            </p:txBody>
          </p:sp>
        </p:grpSp>
        <p:sp>
          <p:nvSpPr>
            <p:cNvPr name="TextBox 40" id="40"/>
            <p:cNvSpPr txBox="true"/>
            <p:nvPr/>
          </p:nvSpPr>
          <p:spPr>
            <a:xfrm rot="0">
              <a:off x="102367" y="130133"/>
              <a:ext cx="659253" cy="525194"/>
            </a:xfrm>
            <a:prstGeom prst="rect">
              <a:avLst/>
            </a:prstGeom>
          </p:spPr>
          <p:txBody>
            <a:bodyPr anchor="t" rtlCol="false" tIns="0" lIns="0" bIns="0" rIns="0">
              <a:spAutoFit/>
            </a:bodyPr>
            <a:lstStyle/>
            <a:p>
              <a:pPr algn="ctr">
                <a:lnSpc>
                  <a:spcPts val="3226"/>
                </a:lnSpc>
              </a:pPr>
              <a:r>
                <a:rPr lang="en-US" b="true" sz="2304" spc="168">
                  <a:solidFill>
                    <a:srgbClr val="FFFFFF"/>
                  </a:solidFill>
                  <a:latin typeface="프리텐다드 Medium"/>
                  <a:ea typeface="프리텐다드 Medium"/>
                  <a:cs typeface="프리텐다드 Medium"/>
                  <a:sym typeface="프리텐다드 Medium"/>
                </a:rPr>
                <a:t>02</a:t>
              </a:r>
            </a:p>
          </p:txBody>
        </p:sp>
      </p:grpSp>
      <p:sp>
        <p:nvSpPr>
          <p:cNvPr name="Freeform 41" id="41"/>
          <p:cNvSpPr/>
          <p:nvPr/>
        </p:nvSpPr>
        <p:spPr>
          <a:xfrm flipH="true" flipV="false" rot="0">
            <a:off x="16204283" y="3966317"/>
            <a:ext cx="182027" cy="302119"/>
          </a:xfrm>
          <a:custGeom>
            <a:avLst/>
            <a:gdLst/>
            <a:ahLst/>
            <a:cxnLst/>
            <a:rect r="r" b="b" t="t" l="l"/>
            <a:pathLst>
              <a:path h="302119" w="182027">
                <a:moveTo>
                  <a:pt x="182027" y="0"/>
                </a:moveTo>
                <a:lnTo>
                  <a:pt x="0" y="0"/>
                </a:lnTo>
                <a:lnTo>
                  <a:pt x="0" y="302120"/>
                </a:lnTo>
                <a:lnTo>
                  <a:pt x="182027" y="302120"/>
                </a:lnTo>
                <a:lnTo>
                  <a:pt x="182027"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2" id="42"/>
          <p:cNvGrpSpPr/>
          <p:nvPr/>
        </p:nvGrpSpPr>
        <p:grpSpPr>
          <a:xfrm rot="0">
            <a:off x="9313512" y="6185592"/>
            <a:ext cx="7572843" cy="2476500"/>
            <a:chOff x="0" y="0"/>
            <a:chExt cx="1331095" cy="435300"/>
          </a:xfrm>
        </p:grpSpPr>
        <p:sp>
          <p:nvSpPr>
            <p:cNvPr name="Freeform 43" id="43"/>
            <p:cNvSpPr/>
            <p:nvPr/>
          </p:nvSpPr>
          <p:spPr>
            <a:xfrm flipH="false" flipV="false" rot="0">
              <a:off x="0" y="0"/>
              <a:ext cx="1331095" cy="435300"/>
            </a:xfrm>
            <a:custGeom>
              <a:avLst/>
              <a:gdLst/>
              <a:ahLst/>
              <a:cxnLst/>
              <a:rect r="r" b="b" t="t" l="l"/>
              <a:pathLst>
                <a:path h="435300" w="1331095">
                  <a:moveTo>
                    <a:pt x="27603" y="0"/>
                  </a:moveTo>
                  <a:lnTo>
                    <a:pt x="1303492" y="0"/>
                  </a:lnTo>
                  <a:cubicBezTo>
                    <a:pt x="1318737" y="0"/>
                    <a:pt x="1331095" y="12358"/>
                    <a:pt x="1331095" y="27603"/>
                  </a:cubicBezTo>
                  <a:lnTo>
                    <a:pt x="1331095" y="407697"/>
                  </a:lnTo>
                  <a:cubicBezTo>
                    <a:pt x="1331095" y="422942"/>
                    <a:pt x="1318737" y="435300"/>
                    <a:pt x="1303492" y="435300"/>
                  </a:cubicBezTo>
                  <a:lnTo>
                    <a:pt x="27603" y="435300"/>
                  </a:lnTo>
                  <a:cubicBezTo>
                    <a:pt x="12358" y="435300"/>
                    <a:pt x="0" y="422942"/>
                    <a:pt x="0" y="407697"/>
                  </a:cubicBezTo>
                  <a:lnTo>
                    <a:pt x="0" y="27603"/>
                  </a:lnTo>
                  <a:cubicBezTo>
                    <a:pt x="0" y="12358"/>
                    <a:pt x="12358" y="0"/>
                    <a:pt x="27603" y="0"/>
                  </a:cubicBezTo>
                  <a:close/>
                </a:path>
              </a:pathLst>
            </a:custGeom>
            <a:solidFill>
              <a:srgbClr val="FFFFFF"/>
            </a:solidFill>
            <a:ln cap="rnd">
              <a:noFill/>
              <a:prstDash val="solid"/>
              <a:round/>
            </a:ln>
          </p:spPr>
        </p:sp>
        <p:sp>
          <p:nvSpPr>
            <p:cNvPr name="TextBox 44" id="44"/>
            <p:cNvSpPr txBox="true"/>
            <p:nvPr/>
          </p:nvSpPr>
          <p:spPr>
            <a:xfrm>
              <a:off x="0" y="-38100"/>
              <a:ext cx="1331095" cy="4734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45" id="45"/>
          <p:cNvSpPr txBox="true"/>
          <p:nvPr/>
        </p:nvSpPr>
        <p:spPr>
          <a:xfrm rot="0">
            <a:off x="10554604" y="6673613"/>
            <a:ext cx="5394960" cy="440602"/>
          </a:xfrm>
          <a:prstGeom prst="rect">
            <a:avLst/>
          </a:prstGeom>
        </p:spPr>
        <p:txBody>
          <a:bodyPr anchor="t" rtlCol="false" tIns="0" lIns="0" bIns="0" rIns="0">
            <a:spAutoFit/>
          </a:bodyPr>
          <a:lstStyle/>
          <a:p>
            <a:pPr algn="l">
              <a:lnSpc>
                <a:spcPts val="3692"/>
              </a:lnSpc>
            </a:pPr>
            <a:r>
              <a:rPr lang="en-US" sz="2637" b="true">
                <a:solidFill>
                  <a:srgbClr val="262626"/>
                </a:solidFill>
                <a:latin typeface="프리텐다드 Medium"/>
                <a:ea typeface="프리텐다드 Medium"/>
                <a:cs typeface="프리텐다드 Medium"/>
                <a:sym typeface="프리텐다드 Medium"/>
              </a:rPr>
              <a:t>강풍 거동 해석</a:t>
            </a:r>
          </a:p>
        </p:txBody>
      </p:sp>
      <p:sp>
        <p:nvSpPr>
          <p:cNvPr name="TextBox 46" id="46"/>
          <p:cNvSpPr txBox="true"/>
          <p:nvPr/>
        </p:nvSpPr>
        <p:spPr>
          <a:xfrm rot="0">
            <a:off x="10554604" y="7414296"/>
            <a:ext cx="5831707" cy="785467"/>
          </a:xfrm>
          <a:prstGeom prst="rect">
            <a:avLst/>
          </a:prstGeom>
        </p:spPr>
        <p:txBody>
          <a:bodyPr anchor="t" rtlCol="false" tIns="0" lIns="0" bIns="0" rIns="0">
            <a:spAutoFit/>
          </a:bodyPr>
          <a:lstStyle/>
          <a:p>
            <a:pPr algn="l">
              <a:lnSpc>
                <a:spcPts val="3160"/>
              </a:lnSpc>
            </a:pPr>
            <a:r>
              <a:rPr lang="en-US" sz="2000">
                <a:solidFill>
                  <a:srgbClr val="262626"/>
                </a:solidFill>
                <a:latin typeface="프리텐다드"/>
                <a:ea typeface="프리텐다드"/>
                <a:cs typeface="프리텐다드"/>
                <a:sym typeface="프리텐다드"/>
              </a:rPr>
              <a:t>항력 &gt; 추력 한계  →  강풍 결과 해석</a:t>
            </a:r>
          </a:p>
        </p:txBody>
      </p:sp>
      <p:sp>
        <p:nvSpPr>
          <p:cNvPr name="AutoShape 47" id="47"/>
          <p:cNvSpPr/>
          <p:nvPr/>
        </p:nvSpPr>
        <p:spPr>
          <a:xfrm>
            <a:off x="10554604" y="7301396"/>
            <a:ext cx="5831707" cy="0"/>
          </a:xfrm>
          <a:prstGeom prst="line">
            <a:avLst/>
          </a:prstGeom>
          <a:ln cap="flat" w="19050">
            <a:solidFill>
              <a:srgbClr val="DEDEDE"/>
            </a:solidFill>
            <a:prstDash val="solid"/>
            <a:headEnd type="none" len="sm" w="sm"/>
            <a:tailEnd type="none" len="sm" w="sm"/>
          </a:ln>
        </p:spPr>
      </p:sp>
      <p:grpSp>
        <p:nvGrpSpPr>
          <p:cNvPr name="Group 48" id="48"/>
          <p:cNvGrpSpPr/>
          <p:nvPr/>
        </p:nvGrpSpPr>
        <p:grpSpPr>
          <a:xfrm rot="0">
            <a:off x="9646830" y="6602684"/>
            <a:ext cx="647990" cy="631957"/>
            <a:chOff x="0" y="0"/>
            <a:chExt cx="863986" cy="842609"/>
          </a:xfrm>
        </p:grpSpPr>
        <p:grpSp>
          <p:nvGrpSpPr>
            <p:cNvPr name="Group 49" id="49"/>
            <p:cNvGrpSpPr/>
            <p:nvPr/>
          </p:nvGrpSpPr>
          <p:grpSpPr>
            <a:xfrm rot="0">
              <a:off x="0" y="0"/>
              <a:ext cx="863986" cy="842609"/>
              <a:chOff x="0" y="0"/>
              <a:chExt cx="682823" cy="665929"/>
            </a:xfrm>
          </p:grpSpPr>
          <p:sp>
            <p:nvSpPr>
              <p:cNvPr name="Freeform 50" id="50"/>
              <p:cNvSpPr/>
              <p:nvPr/>
            </p:nvSpPr>
            <p:spPr>
              <a:xfrm flipH="false" flipV="false" rot="0">
                <a:off x="0" y="0"/>
                <a:ext cx="682823" cy="665929"/>
              </a:xfrm>
              <a:custGeom>
                <a:avLst/>
                <a:gdLst/>
                <a:ahLst/>
                <a:cxnLst/>
                <a:rect r="r" b="b" t="t" l="l"/>
                <a:pathLst>
                  <a:path h="665929" w="682823">
                    <a:moveTo>
                      <a:pt x="183579" y="0"/>
                    </a:moveTo>
                    <a:lnTo>
                      <a:pt x="499244" y="0"/>
                    </a:lnTo>
                    <a:cubicBezTo>
                      <a:pt x="547932" y="0"/>
                      <a:pt x="594626" y="19341"/>
                      <a:pt x="629054" y="53769"/>
                    </a:cubicBezTo>
                    <a:cubicBezTo>
                      <a:pt x="663482" y="88197"/>
                      <a:pt x="682823" y="134891"/>
                      <a:pt x="682823" y="183579"/>
                    </a:cubicBezTo>
                    <a:lnTo>
                      <a:pt x="682823" y="482350"/>
                    </a:lnTo>
                    <a:cubicBezTo>
                      <a:pt x="682823" y="583738"/>
                      <a:pt x="600632" y="665929"/>
                      <a:pt x="499244" y="665929"/>
                    </a:cubicBezTo>
                    <a:lnTo>
                      <a:pt x="183579" y="665929"/>
                    </a:lnTo>
                    <a:cubicBezTo>
                      <a:pt x="82191" y="665929"/>
                      <a:pt x="0" y="583738"/>
                      <a:pt x="0" y="482350"/>
                    </a:cubicBezTo>
                    <a:lnTo>
                      <a:pt x="0" y="183579"/>
                    </a:lnTo>
                    <a:cubicBezTo>
                      <a:pt x="0" y="82191"/>
                      <a:pt x="82191" y="0"/>
                      <a:pt x="183579" y="0"/>
                    </a:cubicBezTo>
                    <a:close/>
                  </a:path>
                </a:pathLst>
              </a:custGeom>
              <a:solidFill>
                <a:srgbClr val="262626"/>
              </a:solidFill>
            </p:spPr>
          </p:sp>
          <p:sp>
            <p:nvSpPr>
              <p:cNvPr name="TextBox 51" id="51"/>
              <p:cNvSpPr txBox="true"/>
              <p:nvPr/>
            </p:nvSpPr>
            <p:spPr>
              <a:xfrm>
                <a:off x="0" y="-47625"/>
                <a:ext cx="682823" cy="713554"/>
              </a:xfrm>
              <a:prstGeom prst="rect">
                <a:avLst/>
              </a:prstGeom>
            </p:spPr>
            <p:txBody>
              <a:bodyPr anchor="ctr" rtlCol="false" tIns="50800" lIns="50800" bIns="50800" rIns="50800"/>
              <a:lstStyle/>
              <a:p>
                <a:pPr algn="ctr">
                  <a:lnSpc>
                    <a:spcPts val="2940"/>
                  </a:lnSpc>
                </a:pPr>
              </a:p>
            </p:txBody>
          </p:sp>
        </p:grpSp>
        <p:sp>
          <p:nvSpPr>
            <p:cNvPr name="TextBox 52" id="52"/>
            <p:cNvSpPr txBox="true"/>
            <p:nvPr/>
          </p:nvSpPr>
          <p:spPr>
            <a:xfrm rot="0">
              <a:off x="102367" y="130133"/>
              <a:ext cx="659253" cy="525194"/>
            </a:xfrm>
            <a:prstGeom prst="rect">
              <a:avLst/>
            </a:prstGeom>
          </p:spPr>
          <p:txBody>
            <a:bodyPr anchor="t" rtlCol="false" tIns="0" lIns="0" bIns="0" rIns="0">
              <a:spAutoFit/>
            </a:bodyPr>
            <a:lstStyle/>
            <a:p>
              <a:pPr algn="ctr">
                <a:lnSpc>
                  <a:spcPts val="3226"/>
                </a:lnSpc>
              </a:pPr>
              <a:r>
                <a:rPr lang="en-US" b="true" sz="2304" spc="168">
                  <a:solidFill>
                    <a:srgbClr val="FFFFFF"/>
                  </a:solidFill>
                  <a:latin typeface="프리텐다드 Medium"/>
                  <a:ea typeface="프리텐다드 Medium"/>
                  <a:cs typeface="프리텐다드 Medium"/>
                  <a:sym typeface="프리텐다드 Medium"/>
                </a:rPr>
                <a:t>04</a:t>
              </a:r>
            </a:p>
          </p:txBody>
        </p:sp>
      </p:grpSp>
      <p:sp>
        <p:nvSpPr>
          <p:cNvPr name="Freeform 53" id="53"/>
          <p:cNvSpPr/>
          <p:nvPr/>
        </p:nvSpPr>
        <p:spPr>
          <a:xfrm flipH="true" flipV="false" rot="0">
            <a:off x="16204283" y="6766667"/>
            <a:ext cx="182027" cy="302119"/>
          </a:xfrm>
          <a:custGeom>
            <a:avLst/>
            <a:gdLst/>
            <a:ahLst/>
            <a:cxnLst/>
            <a:rect r="r" b="b" t="t" l="l"/>
            <a:pathLst>
              <a:path h="302119" w="182027">
                <a:moveTo>
                  <a:pt x="182027" y="0"/>
                </a:moveTo>
                <a:lnTo>
                  <a:pt x="0" y="0"/>
                </a:lnTo>
                <a:lnTo>
                  <a:pt x="0" y="302120"/>
                </a:lnTo>
                <a:lnTo>
                  <a:pt x="182027" y="302120"/>
                </a:lnTo>
                <a:lnTo>
                  <a:pt x="182027"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시나리오 설정</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05</a:t>
            </a:r>
          </a:p>
        </p:txBody>
      </p:sp>
      <p:grpSp>
        <p:nvGrpSpPr>
          <p:cNvPr name="Group 6" id="6"/>
          <p:cNvGrpSpPr/>
          <p:nvPr/>
        </p:nvGrpSpPr>
        <p:grpSpPr>
          <a:xfrm rot="0">
            <a:off x="1401645" y="3385242"/>
            <a:ext cx="7572843" cy="2476500"/>
            <a:chOff x="0" y="0"/>
            <a:chExt cx="1331095" cy="435300"/>
          </a:xfrm>
        </p:grpSpPr>
        <p:sp>
          <p:nvSpPr>
            <p:cNvPr name="Freeform 7" id="7"/>
            <p:cNvSpPr/>
            <p:nvPr/>
          </p:nvSpPr>
          <p:spPr>
            <a:xfrm flipH="false" flipV="false" rot="0">
              <a:off x="0" y="0"/>
              <a:ext cx="1331095" cy="435300"/>
            </a:xfrm>
            <a:custGeom>
              <a:avLst/>
              <a:gdLst/>
              <a:ahLst/>
              <a:cxnLst/>
              <a:rect r="r" b="b" t="t" l="l"/>
              <a:pathLst>
                <a:path h="435300" w="1331095">
                  <a:moveTo>
                    <a:pt x="27603" y="0"/>
                  </a:moveTo>
                  <a:lnTo>
                    <a:pt x="1303492" y="0"/>
                  </a:lnTo>
                  <a:cubicBezTo>
                    <a:pt x="1318737" y="0"/>
                    <a:pt x="1331095" y="12358"/>
                    <a:pt x="1331095" y="27603"/>
                  </a:cubicBezTo>
                  <a:lnTo>
                    <a:pt x="1331095" y="407697"/>
                  </a:lnTo>
                  <a:cubicBezTo>
                    <a:pt x="1331095" y="422942"/>
                    <a:pt x="1318737" y="435300"/>
                    <a:pt x="1303492" y="435300"/>
                  </a:cubicBezTo>
                  <a:lnTo>
                    <a:pt x="27603" y="435300"/>
                  </a:lnTo>
                  <a:cubicBezTo>
                    <a:pt x="12358" y="435300"/>
                    <a:pt x="0" y="422942"/>
                    <a:pt x="0" y="407697"/>
                  </a:cubicBezTo>
                  <a:lnTo>
                    <a:pt x="0" y="27603"/>
                  </a:lnTo>
                  <a:cubicBezTo>
                    <a:pt x="0" y="12358"/>
                    <a:pt x="12358" y="0"/>
                    <a:pt x="27603" y="0"/>
                  </a:cubicBezTo>
                  <a:close/>
                </a:path>
              </a:pathLst>
            </a:custGeom>
            <a:solidFill>
              <a:srgbClr val="FFFFFF"/>
            </a:solidFill>
            <a:ln cap="rnd">
              <a:noFill/>
              <a:prstDash val="solid"/>
              <a:round/>
            </a:ln>
          </p:spPr>
        </p:sp>
        <p:sp>
          <p:nvSpPr>
            <p:cNvPr name="TextBox 8" id="8"/>
            <p:cNvSpPr txBox="true"/>
            <p:nvPr/>
          </p:nvSpPr>
          <p:spPr>
            <a:xfrm>
              <a:off x="0" y="-38100"/>
              <a:ext cx="1331095" cy="4734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2642738" y="3873263"/>
            <a:ext cx="5394960" cy="440602"/>
          </a:xfrm>
          <a:prstGeom prst="rect">
            <a:avLst/>
          </a:prstGeom>
        </p:spPr>
        <p:txBody>
          <a:bodyPr anchor="t" rtlCol="false" tIns="0" lIns="0" bIns="0" rIns="0">
            <a:spAutoFit/>
          </a:bodyPr>
          <a:lstStyle/>
          <a:p>
            <a:pPr algn="l">
              <a:lnSpc>
                <a:spcPts val="3692"/>
              </a:lnSpc>
            </a:pPr>
            <a:r>
              <a:rPr lang="en-US" sz="2637" b="true">
                <a:solidFill>
                  <a:srgbClr val="262626"/>
                </a:solidFill>
                <a:latin typeface="프리텐다드 Medium"/>
                <a:ea typeface="프리텐다드 Medium"/>
                <a:cs typeface="프리텐다드 Medium"/>
                <a:sym typeface="프리텐다드 Medium"/>
              </a:rPr>
              <a:t>직선 / 무풍</a:t>
            </a:r>
          </a:p>
        </p:txBody>
      </p:sp>
      <p:sp>
        <p:nvSpPr>
          <p:cNvPr name="TextBox 10" id="10"/>
          <p:cNvSpPr txBox="true"/>
          <p:nvPr/>
        </p:nvSpPr>
        <p:spPr>
          <a:xfrm rot="0">
            <a:off x="2642738" y="4613946"/>
            <a:ext cx="5831707" cy="785467"/>
          </a:xfrm>
          <a:prstGeom prst="rect">
            <a:avLst/>
          </a:prstGeom>
        </p:spPr>
        <p:txBody>
          <a:bodyPr anchor="t" rtlCol="false" tIns="0" lIns="0" bIns="0" rIns="0">
            <a:spAutoFit/>
          </a:bodyPr>
          <a:lstStyle/>
          <a:p>
            <a:pPr algn="l">
              <a:lnSpc>
                <a:spcPts val="3160"/>
              </a:lnSpc>
            </a:pPr>
            <a:r>
              <a:rPr lang="en-US" sz="2000">
                <a:solidFill>
                  <a:srgbClr val="262626"/>
                </a:solidFill>
                <a:latin typeface="프리텐다드"/>
                <a:ea typeface="프리텐다드"/>
                <a:cs typeface="프리텐다드"/>
                <a:sym typeface="프리텐다드"/>
              </a:rPr>
              <a:t>풍속 0  ·  추력 5 N  ·  대기속도 약 15 m/s</a:t>
            </a:r>
          </a:p>
        </p:txBody>
      </p:sp>
      <p:sp>
        <p:nvSpPr>
          <p:cNvPr name="AutoShape 11" id="11"/>
          <p:cNvSpPr/>
          <p:nvPr/>
        </p:nvSpPr>
        <p:spPr>
          <a:xfrm>
            <a:off x="2642738" y="4501046"/>
            <a:ext cx="5831707" cy="0"/>
          </a:xfrm>
          <a:prstGeom prst="line">
            <a:avLst/>
          </a:prstGeom>
          <a:ln cap="flat" w="19050">
            <a:solidFill>
              <a:srgbClr val="DEDEDE"/>
            </a:solidFill>
            <a:prstDash val="solid"/>
            <a:headEnd type="none" len="sm" w="sm"/>
            <a:tailEnd type="none" len="sm" w="sm"/>
          </a:ln>
        </p:spPr>
      </p:sp>
      <p:grpSp>
        <p:nvGrpSpPr>
          <p:cNvPr name="Group 12" id="12"/>
          <p:cNvGrpSpPr/>
          <p:nvPr/>
        </p:nvGrpSpPr>
        <p:grpSpPr>
          <a:xfrm rot="0">
            <a:off x="1734964" y="3802334"/>
            <a:ext cx="647990" cy="631957"/>
            <a:chOff x="0" y="0"/>
            <a:chExt cx="863986" cy="842609"/>
          </a:xfrm>
        </p:grpSpPr>
        <p:grpSp>
          <p:nvGrpSpPr>
            <p:cNvPr name="Group 13" id="13"/>
            <p:cNvGrpSpPr/>
            <p:nvPr/>
          </p:nvGrpSpPr>
          <p:grpSpPr>
            <a:xfrm rot="0">
              <a:off x="0" y="0"/>
              <a:ext cx="863986" cy="842609"/>
              <a:chOff x="0" y="0"/>
              <a:chExt cx="682823" cy="665929"/>
            </a:xfrm>
          </p:grpSpPr>
          <p:sp>
            <p:nvSpPr>
              <p:cNvPr name="Freeform 14" id="14"/>
              <p:cNvSpPr/>
              <p:nvPr/>
            </p:nvSpPr>
            <p:spPr>
              <a:xfrm flipH="false" flipV="false" rot="0">
                <a:off x="0" y="0"/>
                <a:ext cx="682823" cy="665929"/>
              </a:xfrm>
              <a:custGeom>
                <a:avLst/>
                <a:gdLst/>
                <a:ahLst/>
                <a:cxnLst/>
                <a:rect r="r" b="b" t="t" l="l"/>
                <a:pathLst>
                  <a:path h="665929" w="682823">
                    <a:moveTo>
                      <a:pt x="183579" y="0"/>
                    </a:moveTo>
                    <a:lnTo>
                      <a:pt x="499244" y="0"/>
                    </a:lnTo>
                    <a:cubicBezTo>
                      <a:pt x="547932" y="0"/>
                      <a:pt x="594626" y="19341"/>
                      <a:pt x="629054" y="53769"/>
                    </a:cubicBezTo>
                    <a:cubicBezTo>
                      <a:pt x="663482" y="88197"/>
                      <a:pt x="682823" y="134891"/>
                      <a:pt x="682823" y="183579"/>
                    </a:cubicBezTo>
                    <a:lnTo>
                      <a:pt x="682823" y="482350"/>
                    </a:lnTo>
                    <a:cubicBezTo>
                      <a:pt x="682823" y="583738"/>
                      <a:pt x="600632" y="665929"/>
                      <a:pt x="499244" y="665929"/>
                    </a:cubicBezTo>
                    <a:lnTo>
                      <a:pt x="183579" y="665929"/>
                    </a:lnTo>
                    <a:cubicBezTo>
                      <a:pt x="82191" y="665929"/>
                      <a:pt x="0" y="583738"/>
                      <a:pt x="0" y="482350"/>
                    </a:cubicBezTo>
                    <a:lnTo>
                      <a:pt x="0" y="183579"/>
                    </a:lnTo>
                    <a:cubicBezTo>
                      <a:pt x="0" y="82191"/>
                      <a:pt x="82191" y="0"/>
                      <a:pt x="183579" y="0"/>
                    </a:cubicBezTo>
                    <a:close/>
                  </a:path>
                </a:pathLst>
              </a:custGeom>
              <a:solidFill>
                <a:srgbClr val="262626"/>
              </a:solidFill>
            </p:spPr>
          </p:sp>
          <p:sp>
            <p:nvSpPr>
              <p:cNvPr name="TextBox 15" id="15"/>
              <p:cNvSpPr txBox="true"/>
              <p:nvPr/>
            </p:nvSpPr>
            <p:spPr>
              <a:xfrm>
                <a:off x="0" y="-47625"/>
                <a:ext cx="682823" cy="713554"/>
              </a:xfrm>
              <a:prstGeom prst="rect">
                <a:avLst/>
              </a:prstGeom>
            </p:spPr>
            <p:txBody>
              <a:bodyPr anchor="ctr" rtlCol="false" tIns="50800" lIns="50800" bIns="50800" rIns="50800"/>
              <a:lstStyle/>
              <a:p>
                <a:pPr algn="ctr">
                  <a:lnSpc>
                    <a:spcPts val="2940"/>
                  </a:lnSpc>
                </a:pPr>
              </a:p>
            </p:txBody>
          </p:sp>
        </p:grpSp>
        <p:sp>
          <p:nvSpPr>
            <p:cNvPr name="TextBox 16" id="16"/>
            <p:cNvSpPr txBox="true"/>
            <p:nvPr/>
          </p:nvSpPr>
          <p:spPr>
            <a:xfrm rot="0">
              <a:off x="102367" y="130133"/>
              <a:ext cx="659253" cy="525194"/>
            </a:xfrm>
            <a:prstGeom prst="rect">
              <a:avLst/>
            </a:prstGeom>
          </p:spPr>
          <p:txBody>
            <a:bodyPr anchor="t" rtlCol="false" tIns="0" lIns="0" bIns="0" rIns="0">
              <a:spAutoFit/>
            </a:bodyPr>
            <a:lstStyle/>
            <a:p>
              <a:pPr algn="ctr">
                <a:lnSpc>
                  <a:spcPts val="3226"/>
                </a:lnSpc>
              </a:pPr>
              <a:r>
                <a:rPr lang="en-US" b="true" sz="2304" spc="168">
                  <a:solidFill>
                    <a:srgbClr val="FFFFFF"/>
                  </a:solidFill>
                  <a:latin typeface="프리텐다드 Medium"/>
                  <a:ea typeface="프리텐다드 Medium"/>
                  <a:cs typeface="프리텐다드 Medium"/>
                  <a:sym typeface="프리텐다드 Medium"/>
                </a:rPr>
                <a:t>S1</a:t>
              </a:r>
            </a:p>
          </p:txBody>
        </p:sp>
      </p:grpSp>
      <p:sp>
        <p:nvSpPr>
          <p:cNvPr name="Freeform 17" id="17"/>
          <p:cNvSpPr/>
          <p:nvPr/>
        </p:nvSpPr>
        <p:spPr>
          <a:xfrm flipH="true" flipV="false" rot="0">
            <a:off x="8292417" y="3966317"/>
            <a:ext cx="182027" cy="302119"/>
          </a:xfrm>
          <a:custGeom>
            <a:avLst/>
            <a:gdLst/>
            <a:ahLst/>
            <a:cxnLst/>
            <a:rect r="r" b="b" t="t" l="l"/>
            <a:pathLst>
              <a:path h="302119" w="182027">
                <a:moveTo>
                  <a:pt x="182027" y="0"/>
                </a:moveTo>
                <a:lnTo>
                  <a:pt x="0" y="0"/>
                </a:lnTo>
                <a:lnTo>
                  <a:pt x="0" y="302120"/>
                </a:lnTo>
                <a:lnTo>
                  <a:pt x="182027" y="302120"/>
                </a:lnTo>
                <a:lnTo>
                  <a:pt x="182027"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8" id="18"/>
          <p:cNvGrpSpPr/>
          <p:nvPr/>
        </p:nvGrpSpPr>
        <p:grpSpPr>
          <a:xfrm rot="0">
            <a:off x="1401645" y="6185592"/>
            <a:ext cx="7572843" cy="2476500"/>
            <a:chOff x="0" y="0"/>
            <a:chExt cx="1331095" cy="435300"/>
          </a:xfrm>
        </p:grpSpPr>
        <p:sp>
          <p:nvSpPr>
            <p:cNvPr name="Freeform 19" id="19"/>
            <p:cNvSpPr/>
            <p:nvPr/>
          </p:nvSpPr>
          <p:spPr>
            <a:xfrm flipH="false" flipV="false" rot="0">
              <a:off x="0" y="0"/>
              <a:ext cx="1331095" cy="435300"/>
            </a:xfrm>
            <a:custGeom>
              <a:avLst/>
              <a:gdLst/>
              <a:ahLst/>
              <a:cxnLst/>
              <a:rect r="r" b="b" t="t" l="l"/>
              <a:pathLst>
                <a:path h="435300" w="1331095">
                  <a:moveTo>
                    <a:pt x="27603" y="0"/>
                  </a:moveTo>
                  <a:lnTo>
                    <a:pt x="1303492" y="0"/>
                  </a:lnTo>
                  <a:cubicBezTo>
                    <a:pt x="1318737" y="0"/>
                    <a:pt x="1331095" y="12358"/>
                    <a:pt x="1331095" y="27603"/>
                  </a:cubicBezTo>
                  <a:lnTo>
                    <a:pt x="1331095" y="407697"/>
                  </a:lnTo>
                  <a:cubicBezTo>
                    <a:pt x="1331095" y="422942"/>
                    <a:pt x="1318737" y="435300"/>
                    <a:pt x="1303492" y="435300"/>
                  </a:cubicBezTo>
                  <a:lnTo>
                    <a:pt x="27603" y="435300"/>
                  </a:lnTo>
                  <a:cubicBezTo>
                    <a:pt x="12358" y="435300"/>
                    <a:pt x="0" y="422942"/>
                    <a:pt x="0" y="407697"/>
                  </a:cubicBezTo>
                  <a:lnTo>
                    <a:pt x="0" y="27603"/>
                  </a:lnTo>
                  <a:cubicBezTo>
                    <a:pt x="0" y="12358"/>
                    <a:pt x="12358" y="0"/>
                    <a:pt x="27603" y="0"/>
                  </a:cubicBezTo>
                  <a:close/>
                </a:path>
              </a:pathLst>
            </a:custGeom>
            <a:solidFill>
              <a:srgbClr val="FFFFFF"/>
            </a:solidFill>
            <a:ln cap="rnd">
              <a:noFill/>
              <a:prstDash val="solid"/>
              <a:round/>
            </a:ln>
          </p:spPr>
        </p:sp>
        <p:sp>
          <p:nvSpPr>
            <p:cNvPr name="TextBox 20" id="20"/>
            <p:cNvSpPr txBox="true"/>
            <p:nvPr/>
          </p:nvSpPr>
          <p:spPr>
            <a:xfrm>
              <a:off x="0" y="-38100"/>
              <a:ext cx="1331095" cy="4734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21" id="21"/>
          <p:cNvSpPr txBox="true"/>
          <p:nvPr/>
        </p:nvSpPr>
        <p:spPr>
          <a:xfrm rot="0">
            <a:off x="2642738" y="6673613"/>
            <a:ext cx="5394960" cy="440602"/>
          </a:xfrm>
          <a:prstGeom prst="rect">
            <a:avLst/>
          </a:prstGeom>
        </p:spPr>
        <p:txBody>
          <a:bodyPr anchor="t" rtlCol="false" tIns="0" lIns="0" bIns="0" rIns="0">
            <a:spAutoFit/>
          </a:bodyPr>
          <a:lstStyle/>
          <a:p>
            <a:pPr algn="l">
              <a:lnSpc>
                <a:spcPts val="3692"/>
              </a:lnSpc>
            </a:pPr>
            <a:r>
              <a:rPr lang="en-US" sz="2637" b="true">
                <a:solidFill>
                  <a:srgbClr val="262626"/>
                </a:solidFill>
                <a:latin typeface="프리텐다드 Medium"/>
                <a:ea typeface="프리텐다드 Medium"/>
                <a:cs typeface="프리텐다드 Medium"/>
                <a:sym typeface="프리텐다드 Medium"/>
              </a:rPr>
              <a:t>회피 / 강풍</a:t>
            </a:r>
          </a:p>
        </p:txBody>
      </p:sp>
      <p:sp>
        <p:nvSpPr>
          <p:cNvPr name="TextBox 22" id="22"/>
          <p:cNvSpPr txBox="true"/>
          <p:nvPr/>
        </p:nvSpPr>
        <p:spPr>
          <a:xfrm rot="0">
            <a:off x="2642738" y="7414296"/>
            <a:ext cx="5831707" cy="785467"/>
          </a:xfrm>
          <a:prstGeom prst="rect">
            <a:avLst/>
          </a:prstGeom>
        </p:spPr>
        <p:txBody>
          <a:bodyPr anchor="t" rtlCol="false" tIns="0" lIns="0" bIns="0" rIns="0">
            <a:spAutoFit/>
          </a:bodyPr>
          <a:lstStyle/>
          <a:p>
            <a:pPr algn="l">
              <a:lnSpc>
                <a:spcPts val="3160"/>
              </a:lnSpc>
            </a:pPr>
            <a:r>
              <a:rPr lang="en-US" sz="2000">
                <a:solidFill>
                  <a:srgbClr val="262626"/>
                </a:solidFill>
                <a:latin typeface="프리텐다드"/>
                <a:ea typeface="프리텐다드"/>
                <a:cs typeface="프리텐다드"/>
                <a:sym typeface="프리텐다드"/>
              </a:rPr>
              <a:t>기저풍 15 + 돌풍 2 + 측풍 2 m/s  ·  회피 기동</a:t>
            </a:r>
          </a:p>
        </p:txBody>
      </p:sp>
      <p:sp>
        <p:nvSpPr>
          <p:cNvPr name="AutoShape 23" id="23"/>
          <p:cNvSpPr/>
          <p:nvPr/>
        </p:nvSpPr>
        <p:spPr>
          <a:xfrm>
            <a:off x="2642738" y="7301396"/>
            <a:ext cx="5831707" cy="0"/>
          </a:xfrm>
          <a:prstGeom prst="line">
            <a:avLst/>
          </a:prstGeom>
          <a:ln cap="flat" w="19050">
            <a:solidFill>
              <a:srgbClr val="DEDEDE"/>
            </a:solidFill>
            <a:prstDash val="solid"/>
            <a:headEnd type="none" len="sm" w="sm"/>
            <a:tailEnd type="none" len="sm" w="sm"/>
          </a:ln>
        </p:spPr>
      </p:sp>
      <p:grpSp>
        <p:nvGrpSpPr>
          <p:cNvPr name="Group 24" id="24"/>
          <p:cNvGrpSpPr/>
          <p:nvPr/>
        </p:nvGrpSpPr>
        <p:grpSpPr>
          <a:xfrm rot="0">
            <a:off x="1734964" y="6602684"/>
            <a:ext cx="647990" cy="631957"/>
            <a:chOff x="0" y="0"/>
            <a:chExt cx="863986" cy="842609"/>
          </a:xfrm>
        </p:grpSpPr>
        <p:grpSp>
          <p:nvGrpSpPr>
            <p:cNvPr name="Group 25" id="25"/>
            <p:cNvGrpSpPr/>
            <p:nvPr/>
          </p:nvGrpSpPr>
          <p:grpSpPr>
            <a:xfrm rot="0">
              <a:off x="0" y="0"/>
              <a:ext cx="863986" cy="842609"/>
              <a:chOff x="0" y="0"/>
              <a:chExt cx="682823" cy="665929"/>
            </a:xfrm>
          </p:grpSpPr>
          <p:sp>
            <p:nvSpPr>
              <p:cNvPr name="Freeform 26" id="26"/>
              <p:cNvSpPr/>
              <p:nvPr/>
            </p:nvSpPr>
            <p:spPr>
              <a:xfrm flipH="false" flipV="false" rot="0">
                <a:off x="0" y="0"/>
                <a:ext cx="682823" cy="665929"/>
              </a:xfrm>
              <a:custGeom>
                <a:avLst/>
                <a:gdLst/>
                <a:ahLst/>
                <a:cxnLst/>
                <a:rect r="r" b="b" t="t" l="l"/>
                <a:pathLst>
                  <a:path h="665929" w="682823">
                    <a:moveTo>
                      <a:pt x="183579" y="0"/>
                    </a:moveTo>
                    <a:lnTo>
                      <a:pt x="499244" y="0"/>
                    </a:lnTo>
                    <a:cubicBezTo>
                      <a:pt x="547932" y="0"/>
                      <a:pt x="594626" y="19341"/>
                      <a:pt x="629054" y="53769"/>
                    </a:cubicBezTo>
                    <a:cubicBezTo>
                      <a:pt x="663482" y="88197"/>
                      <a:pt x="682823" y="134891"/>
                      <a:pt x="682823" y="183579"/>
                    </a:cubicBezTo>
                    <a:lnTo>
                      <a:pt x="682823" y="482350"/>
                    </a:lnTo>
                    <a:cubicBezTo>
                      <a:pt x="682823" y="583738"/>
                      <a:pt x="600632" y="665929"/>
                      <a:pt x="499244" y="665929"/>
                    </a:cubicBezTo>
                    <a:lnTo>
                      <a:pt x="183579" y="665929"/>
                    </a:lnTo>
                    <a:cubicBezTo>
                      <a:pt x="82191" y="665929"/>
                      <a:pt x="0" y="583738"/>
                      <a:pt x="0" y="482350"/>
                    </a:cubicBezTo>
                    <a:lnTo>
                      <a:pt x="0" y="183579"/>
                    </a:lnTo>
                    <a:cubicBezTo>
                      <a:pt x="0" y="82191"/>
                      <a:pt x="82191" y="0"/>
                      <a:pt x="183579" y="0"/>
                    </a:cubicBezTo>
                    <a:close/>
                  </a:path>
                </a:pathLst>
              </a:custGeom>
              <a:solidFill>
                <a:srgbClr val="262626"/>
              </a:solidFill>
            </p:spPr>
          </p:sp>
          <p:sp>
            <p:nvSpPr>
              <p:cNvPr name="TextBox 27" id="27"/>
              <p:cNvSpPr txBox="true"/>
              <p:nvPr/>
            </p:nvSpPr>
            <p:spPr>
              <a:xfrm>
                <a:off x="0" y="-47625"/>
                <a:ext cx="682823" cy="713554"/>
              </a:xfrm>
              <a:prstGeom prst="rect">
                <a:avLst/>
              </a:prstGeom>
            </p:spPr>
            <p:txBody>
              <a:bodyPr anchor="ctr" rtlCol="false" tIns="50800" lIns="50800" bIns="50800" rIns="50800"/>
              <a:lstStyle/>
              <a:p>
                <a:pPr algn="ctr">
                  <a:lnSpc>
                    <a:spcPts val="2940"/>
                  </a:lnSpc>
                </a:pPr>
              </a:p>
            </p:txBody>
          </p:sp>
        </p:grpSp>
        <p:sp>
          <p:nvSpPr>
            <p:cNvPr name="TextBox 28" id="28"/>
            <p:cNvSpPr txBox="true"/>
            <p:nvPr/>
          </p:nvSpPr>
          <p:spPr>
            <a:xfrm rot="0">
              <a:off x="102367" y="130133"/>
              <a:ext cx="659253" cy="525194"/>
            </a:xfrm>
            <a:prstGeom prst="rect">
              <a:avLst/>
            </a:prstGeom>
          </p:spPr>
          <p:txBody>
            <a:bodyPr anchor="t" rtlCol="false" tIns="0" lIns="0" bIns="0" rIns="0">
              <a:spAutoFit/>
            </a:bodyPr>
            <a:lstStyle/>
            <a:p>
              <a:pPr algn="ctr">
                <a:lnSpc>
                  <a:spcPts val="3226"/>
                </a:lnSpc>
              </a:pPr>
              <a:r>
                <a:rPr lang="en-US" b="true" sz="2304" spc="168">
                  <a:solidFill>
                    <a:srgbClr val="FFFFFF"/>
                  </a:solidFill>
                  <a:latin typeface="프리텐다드 Medium"/>
                  <a:ea typeface="프리텐다드 Medium"/>
                  <a:cs typeface="프리텐다드 Medium"/>
                  <a:sym typeface="프리텐다드 Medium"/>
                </a:rPr>
                <a:t>S3</a:t>
              </a:r>
            </a:p>
          </p:txBody>
        </p:sp>
      </p:grpSp>
      <p:sp>
        <p:nvSpPr>
          <p:cNvPr name="Freeform 29" id="29"/>
          <p:cNvSpPr/>
          <p:nvPr/>
        </p:nvSpPr>
        <p:spPr>
          <a:xfrm flipH="true" flipV="false" rot="0">
            <a:off x="8292417" y="6766667"/>
            <a:ext cx="182027" cy="302119"/>
          </a:xfrm>
          <a:custGeom>
            <a:avLst/>
            <a:gdLst/>
            <a:ahLst/>
            <a:cxnLst/>
            <a:rect r="r" b="b" t="t" l="l"/>
            <a:pathLst>
              <a:path h="302119" w="182027">
                <a:moveTo>
                  <a:pt x="182027" y="0"/>
                </a:moveTo>
                <a:lnTo>
                  <a:pt x="0" y="0"/>
                </a:lnTo>
                <a:lnTo>
                  <a:pt x="0" y="302120"/>
                </a:lnTo>
                <a:lnTo>
                  <a:pt x="182027" y="302120"/>
                </a:lnTo>
                <a:lnTo>
                  <a:pt x="182027"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30" id="30"/>
          <p:cNvGrpSpPr/>
          <p:nvPr/>
        </p:nvGrpSpPr>
        <p:grpSpPr>
          <a:xfrm rot="0">
            <a:off x="9313512" y="3385242"/>
            <a:ext cx="7572843" cy="2476500"/>
            <a:chOff x="0" y="0"/>
            <a:chExt cx="1331095" cy="435300"/>
          </a:xfrm>
        </p:grpSpPr>
        <p:sp>
          <p:nvSpPr>
            <p:cNvPr name="Freeform 31" id="31"/>
            <p:cNvSpPr/>
            <p:nvPr/>
          </p:nvSpPr>
          <p:spPr>
            <a:xfrm flipH="false" flipV="false" rot="0">
              <a:off x="0" y="0"/>
              <a:ext cx="1331095" cy="435300"/>
            </a:xfrm>
            <a:custGeom>
              <a:avLst/>
              <a:gdLst/>
              <a:ahLst/>
              <a:cxnLst/>
              <a:rect r="r" b="b" t="t" l="l"/>
              <a:pathLst>
                <a:path h="435300" w="1331095">
                  <a:moveTo>
                    <a:pt x="27603" y="0"/>
                  </a:moveTo>
                  <a:lnTo>
                    <a:pt x="1303492" y="0"/>
                  </a:lnTo>
                  <a:cubicBezTo>
                    <a:pt x="1318737" y="0"/>
                    <a:pt x="1331095" y="12358"/>
                    <a:pt x="1331095" y="27603"/>
                  </a:cubicBezTo>
                  <a:lnTo>
                    <a:pt x="1331095" y="407697"/>
                  </a:lnTo>
                  <a:cubicBezTo>
                    <a:pt x="1331095" y="422942"/>
                    <a:pt x="1318737" y="435300"/>
                    <a:pt x="1303492" y="435300"/>
                  </a:cubicBezTo>
                  <a:lnTo>
                    <a:pt x="27603" y="435300"/>
                  </a:lnTo>
                  <a:cubicBezTo>
                    <a:pt x="12358" y="435300"/>
                    <a:pt x="0" y="422942"/>
                    <a:pt x="0" y="407697"/>
                  </a:cubicBezTo>
                  <a:lnTo>
                    <a:pt x="0" y="27603"/>
                  </a:lnTo>
                  <a:cubicBezTo>
                    <a:pt x="0" y="12358"/>
                    <a:pt x="12358" y="0"/>
                    <a:pt x="27603" y="0"/>
                  </a:cubicBezTo>
                  <a:close/>
                </a:path>
              </a:pathLst>
            </a:custGeom>
            <a:solidFill>
              <a:srgbClr val="FFFFFF"/>
            </a:solidFill>
            <a:ln cap="rnd">
              <a:noFill/>
              <a:prstDash val="solid"/>
              <a:round/>
            </a:ln>
          </p:spPr>
        </p:sp>
        <p:sp>
          <p:nvSpPr>
            <p:cNvPr name="TextBox 32" id="32"/>
            <p:cNvSpPr txBox="true"/>
            <p:nvPr/>
          </p:nvSpPr>
          <p:spPr>
            <a:xfrm>
              <a:off x="0" y="-38100"/>
              <a:ext cx="1331095" cy="4734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33" id="33"/>
          <p:cNvSpPr txBox="true"/>
          <p:nvPr/>
        </p:nvSpPr>
        <p:spPr>
          <a:xfrm rot="0">
            <a:off x="10554604" y="3873263"/>
            <a:ext cx="5394960" cy="440602"/>
          </a:xfrm>
          <a:prstGeom prst="rect">
            <a:avLst/>
          </a:prstGeom>
        </p:spPr>
        <p:txBody>
          <a:bodyPr anchor="t" rtlCol="false" tIns="0" lIns="0" bIns="0" rIns="0">
            <a:spAutoFit/>
          </a:bodyPr>
          <a:lstStyle/>
          <a:p>
            <a:pPr algn="l">
              <a:lnSpc>
                <a:spcPts val="3692"/>
              </a:lnSpc>
            </a:pPr>
            <a:r>
              <a:rPr lang="en-US" sz="2637" b="true">
                <a:solidFill>
                  <a:srgbClr val="262626"/>
                </a:solidFill>
                <a:latin typeface="프리텐다드 Medium"/>
                <a:ea typeface="프리텐다드 Medium"/>
                <a:cs typeface="프리텐다드 Medium"/>
                <a:sym typeface="프리텐다드 Medium"/>
              </a:rPr>
              <a:t>직선 / 약풍</a:t>
            </a:r>
          </a:p>
        </p:txBody>
      </p:sp>
      <p:sp>
        <p:nvSpPr>
          <p:cNvPr name="TextBox 34" id="34"/>
          <p:cNvSpPr txBox="true"/>
          <p:nvPr/>
        </p:nvSpPr>
        <p:spPr>
          <a:xfrm rot="0">
            <a:off x="10554604" y="4613946"/>
            <a:ext cx="5831707" cy="785467"/>
          </a:xfrm>
          <a:prstGeom prst="rect">
            <a:avLst/>
          </a:prstGeom>
        </p:spPr>
        <p:txBody>
          <a:bodyPr anchor="t" rtlCol="false" tIns="0" lIns="0" bIns="0" rIns="0">
            <a:spAutoFit/>
          </a:bodyPr>
          <a:lstStyle/>
          <a:p>
            <a:pPr algn="l">
              <a:lnSpc>
                <a:spcPts val="3160"/>
              </a:lnSpc>
            </a:pPr>
            <a:r>
              <a:rPr lang="en-US" sz="2000">
                <a:solidFill>
                  <a:srgbClr val="262626"/>
                </a:solidFill>
                <a:latin typeface="프리텐다드"/>
                <a:ea typeface="프리텐다드"/>
                <a:cs typeface="프리텐다드"/>
                <a:sym typeface="프리텐다드"/>
              </a:rPr>
              <a:t>기저풍 5 + 돌풍 0.5 m/s  ·  고도 보정 ×1.17</a:t>
            </a:r>
          </a:p>
        </p:txBody>
      </p:sp>
      <p:sp>
        <p:nvSpPr>
          <p:cNvPr name="AutoShape 35" id="35"/>
          <p:cNvSpPr/>
          <p:nvPr/>
        </p:nvSpPr>
        <p:spPr>
          <a:xfrm>
            <a:off x="10554604" y="4501046"/>
            <a:ext cx="5831707" cy="0"/>
          </a:xfrm>
          <a:prstGeom prst="line">
            <a:avLst/>
          </a:prstGeom>
          <a:ln cap="flat" w="19050">
            <a:solidFill>
              <a:srgbClr val="DEDEDE"/>
            </a:solidFill>
            <a:prstDash val="solid"/>
            <a:headEnd type="none" len="sm" w="sm"/>
            <a:tailEnd type="none" len="sm" w="sm"/>
          </a:ln>
        </p:spPr>
      </p:sp>
      <p:grpSp>
        <p:nvGrpSpPr>
          <p:cNvPr name="Group 36" id="36"/>
          <p:cNvGrpSpPr/>
          <p:nvPr/>
        </p:nvGrpSpPr>
        <p:grpSpPr>
          <a:xfrm rot="0">
            <a:off x="9646830" y="3802334"/>
            <a:ext cx="647990" cy="631957"/>
            <a:chOff x="0" y="0"/>
            <a:chExt cx="863986" cy="842609"/>
          </a:xfrm>
        </p:grpSpPr>
        <p:grpSp>
          <p:nvGrpSpPr>
            <p:cNvPr name="Group 37" id="37"/>
            <p:cNvGrpSpPr/>
            <p:nvPr/>
          </p:nvGrpSpPr>
          <p:grpSpPr>
            <a:xfrm rot="0">
              <a:off x="0" y="0"/>
              <a:ext cx="863986" cy="842609"/>
              <a:chOff x="0" y="0"/>
              <a:chExt cx="682823" cy="665929"/>
            </a:xfrm>
          </p:grpSpPr>
          <p:sp>
            <p:nvSpPr>
              <p:cNvPr name="Freeform 38" id="38"/>
              <p:cNvSpPr/>
              <p:nvPr/>
            </p:nvSpPr>
            <p:spPr>
              <a:xfrm flipH="false" flipV="false" rot="0">
                <a:off x="0" y="0"/>
                <a:ext cx="682823" cy="665929"/>
              </a:xfrm>
              <a:custGeom>
                <a:avLst/>
                <a:gdLst/>
                <a:ahLst/>
                <a:cxnLst/>
                <a:rect r="r" b="b" t="t" l="l"/>
                <a:pathLst>
                  <a:path h="665929" w="682823">
                    <a:moveTo>
                      <a:pt x="183579" y="0"/>
                    </a:moveTo>
                    <a:lnTo>
                      <a:pt x="499244" y="0"/>
                    </a:lnTo>
                    <a:cubicBezTo>
                      <a:pt x="547932" y="0"/>
                      <a:pt x="594626" y="19341"/>
                      <a:pt x="629054" y="53769"/>
                    </a:cubicBezTo>
                    <a:cubicBezTo>
                      <a:pt x="663482" y="88197"/>
                      <a:pt x="682823" y="134891"/>
                      <a:pt x="682823" y="183579"/>
                    </a:cubicBezTo>
                    <a:lnTo>
                      <a:pt x="682823" y="482350"/>
                    </a:lnTo>
                    <a:cubicBezTo>
                      <a:pt x="682823" y="583738"/>
                      <a:pt x="600632" y="665929"/>
                      <a:pt x="499244" y="665929"/>
                    </a:cubicBezTo>
                    <a:lnTo>
                      <a:pt x="183579" y="665929"/>
                    </a:lnTo>
                    <a:cubicBezTo>
                      <a:pt x="82191" y="665929"/>
                      <a:pt x="0" y="583738"/>
                      <a:pt x="0" y="482350"/>
                    </a:cubicBezTo>
                    <a:lnTo>
                      <a:pt x="0" y="183579"/>
                    </a:lnTo>
                    <a:cubicBezTo>
                      <a:pt x="0" y="82191"/>
                      <a:pt x="82191" y="0"/>
                      <a:pt x="183579" y="0"/>
                    </a:cubicBezTo>
                    <a:close/>
                  </a:path>
                </a:pathLst>
              </a:custGeom>
              <a:solidFill>
                <a:srgbClr val="262626"/>
              </a:solidFill>
            </p:spPr>
          </p:sp>
          <p:sp>
            <p:nvSpPr>
              <p:cNvPr name="TextBox 39" id="39"/>
              <p:cNvSpPr txBox="true"/>
              <p:nvPr/>
            </p:nvSpPr>
            <p:spPr>
              <a:xfrm>
                <a:off x="0" y="-47625"/>
                <a:ext cx="682823" cy="713554"/>
              </a:xfrm>
              <a:prstGeom prst="rect">
                <a:avLst/>
              </a:prstGeom>
            </p:spPr>
            <p:txBody>
              <a:bodyPr anchor="ctr" rtlCol="false" tIns="50800" lIns="50800" bIns="50800" rIns="50800"/>
              <a:lstStyle/>
              <a:p>
                <a:pPr algn="ctr">
                  <a:lnSpc>
                    <a:spcPts val="2940"/>
                  </a:lnSpc>
                </a:pPr>
              </a:p>
            </p:txBody>
          </p:sp>
        </p:grpSp>
        <p:sp>
          <p:nvSpPr>
            <p:cNvPr name="TextBox 40" id="40"/>
            <p:cNvSpPr txBox="true"/>
            <p:nvPr/>
          </p:nvSpPr>
          <p:spPr>
            <a:xfrm rot="0">
              <a:off x="102367" y="130133"/>
              <a:ext cx="659253" cy="525194"/>
            </a:xfrm>
            <a:prstGeom prst="rect">
              <a:avLst/>
            </a:prstGeom>
          </p:spPr>
          <p:txBody>
            <a:bodyPr anchor="t" rtlCol="false" tIns="0" lIns="0" bIns="0" rIns="0">
              <a:spAutoFit/>
            </a:bodyPr>
            <a:lstStyle/>
            <a:p>
              <a:pPr algn="ctr">
                <a:lnSpc>
                  <a:spcPts val="3226"/>
                </a:lnSpc>
              </a:pPr>
              <a:r>
                <a:rPr lang="en-US" b="true" sz="2304" spc="168">
                  <a:solidFill>
                    <a:srgbClr val="FFFFFF"/>
                  </a:solidFill>
                  <a:latin typeface="프리텐다드 Medium"/>
                  <a:ea typeface="프리텐다드 Medium"/>
                  <a:cs typeface="프리텐다드 Medium"/>
                  <a:sym typeface="프리텐다드 Medium"/>
                </a:rPr>
                <a:t>S2</a:t>
              </a:r>
            </a:p>
          </p:txBody>
        </p:sp>
      </p:grpSp>
      <p:sp>
        <p:nvSpPr>
          <p:cNvPr name="Freeform 41" id="41"/>
          <p:cNvSpPr/>
          <p:nvPr/>
        </p:nvSpPr>
        <p:spPr>
          <a:xfrm flipH="true" flipV="false" rot="0">
            <a:off x="16204283" y="3966317"/>
            <a:ext cx="182027" cy="302119"/>
          </a:xfrm>
          <a:custGeom>
            <a:avLst/>
            <a:gdLst/>
            <a:ahLst/>
            <a:cxnLst/>
            <a:rect r="r" b="b" t="t" l="l"/>
            <a:pathLst>
              <a:path h="302119" w="182027">
                <a:moveTo>
                  <a:pt x="182027" y="0"/>
                </a:moveTo>
                <a:lnTo>
                  <a:pt x="0" y="0"/>
                </a:lnTo>
                <a:lnTo>
                  <a:pt x="0" y="302120"/>
                </a:lnTo>
                <a:lnTo>
                  <a:pt x="182027" y="302120"/>
                </a:lnTo>
                <a:lnTo>
                  <a:pt x="182027"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42" id="42"/>
          <p:cNvGrpSpPr/>
          <p:nvPr/>
        </p:nvGrpSpPr>
        <p:grpSpPr>
          <a:xfrm rot="0">
            <a:off x="9313512" y="6185592"/>
            <a:ext cx="7572843" cy="2476500"/>
            <a:chOff x="0" y="0"/>
            <a:chExt cx="1331095" cy="435300"/>
          </a:xfrm>
        </p:grpSpPr>
        <p:sp>
          <p:nvSpPr>
            <p:cNvPr name="Freeform 43" id="43"/>
            <p:cNvSpPr/>
            <p:nvPr/>
          </p:nvSpPr>
          <p:spPr>
            <a:xfrm flipH="false" flipV="false" rot="0">
              <a:off x="0" y="0"/>
              <a:ext cx="1331095" cy="435300"/>
            </a:xfrm>
            <a:custGeom>
              <a:avLst/>
              <a:gdLst/>
              <a:ahLst/>
              <a:cxnLst/>
              <a:rect r="r" b="b" t="t" l="l"/>
              <a:pathLst>
                <a:path h="435300" w="1331095">
                  <a:moveTo>
                    <a:pt x="27603" y="0"/>
                  </a:moveTo>
                  <a:lnTo>
                    <a:pt x="1303492" y="0"/>
                  </a:lnTo>
                  <a:cubicBezTo>
                    <a:pt x="1318737" y="0"/>
                    <a:pt x="1331095" y="12358"/>
                    <a:pt x="1331095" y="27603"/>
                  </a:cubicBezTo>
                  <a:lnTo>
                    <a:pt x="1331095" y="407697"/>
                  </a:lnTo>
                  <a:cubicBezTo>
                    <a:pt x="1331095" y="422942"/>
                    <a:pt x="1318737" y="435300"/>
                    <a:pt x="1303492" y="435300"/>
                  </a:cubicBezTo>
                  <a:lnTo>
                    <a:pt x="27603" y="435300"/>
                  </a:lnTo>
                  <a:cubicBezTo>
                    <a:pt x="12358" y="435300"/>
                    <a:pt x="0" y="422942"/>
                    <a:pt x="0" y="407697"/>
                  </a:cubicBezTo>
                  <a:lnTo>
                    <a:pt x="0" y="27603"/>
                  </a:lnTo>
                  <a:cubicBezTo>
                    <a:pt x="0" y="12358"/>
                    <a:pt x="12358" y="0"/>
                    <a:pt x="27603" y="0"/>
                  </a:cubicBezTo>
                  <a:close/>
                </a:path>
              </a:pathLst>
            </a:custGeom>
            <a:solidFill>
              <a:srgbClr val="FFFFFF"/>
            </a:solidFill>
            <a:ln cap="rnd">
              <a:noFill/>
              <a:prstDash val="solid"/>
              <a:round/>
            </a:ln>
          </p:spPr>
        </p:sp>
        <p:sp>
          <p:nvSpPr>
            <p:cNvPr name="TextBox 44" id="44"/>
            <p:cNvSpPr txBox="true"/>
            <p:nvPr/>
          </p:nvSpPr>
          <p:spPr>
            <a:xfrm>
              <a:off x="0" y="-38100"/>
              <a:ext cx="1331095" cy="473400"/>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45" id="45"/>
          <p:cNvSpPr txBox="true"/>
          <p:nvPr/>
        </p:nvSpPr>
        <p:spPr>
          <a:xfrm rot="0">
            <a:off x="10554604" y="6673613"/>
            <a:ext cx="5394960" cy="440602"/>
          </a:xfrm>
          <a:prstGeom prst="rect">
            <a:avLst/>
          </a:prstGeom>
        </p:spPr>
        <p:txBody>
          <a:bodyPr anchor="t" rtlCol="false" tIns="0" lIns="0" bIns="0" rIns="0">
            <a:spAutoFit/>
          </a:bodyPr>
          <a:lstStyle/>
          <a:p>
            <a:pPr algn="l">
              <a:lnSpc>
                <a:spcPts val="3692"/>
              </a:lnSpc>
            </a:pPr>
            <a:r>
              <a:rPr lang="en-US" sz="2637" b="true">
                <a:solidFill>
                  <a:srgbClr val="262626"/>
                </a:solidFill>
                <a:latin typeface="프리텐다드 Medium"/>
                <a:ea typeface="프리텐다드 Medium"/>
                <a:cs typeface="프리텐다드 Medium"/>
                <a:sym typeface="프리텐다드 Medium"/>
              </a:rPr>
              <a:t>공통 설정</a:t>
            </a:r>
          </a:p>
        </p:txBody>
      </p:sp>
      <p:sp>
        <p:nvSpPr>
          <p:cNvPr name="TextBox 46" id="46"/>
          <p:cNvSpPr txBox="true"/>
          <p:nvPr/>
        </p:nvSpPr>
        <p:spPr>
          <a:xfrm rot="0">
            <a:off x="10554604" y="7414296"/>
            <a:ext cx="5831707" cy="785467"/>
          </a:xfrm>
          <a:prstGeom prst="rect">
            <a:avLst/>
          </a:prstGeom>
        </p:spPr>
        <p:txBody>
          <a:bodyPr anchor="t" rtlCol="false" tIns="0" lIns="0" bIns="0" rIns="0">
            <a:spAutoFit/>
          </a:bodyPr>
          <a:lstStyle/>
          <a:p>
            <a:pPr algn="l">
              <a:lnSpc>
                <a:spcPts val="3160"/>
              </a:lnSpc>
            </a:pPr>
            <a:r>
              <a:rPr lang="en-US" sz="2000">
                <a:solidFill>
                  <a:srgbClr val="262626"/>
                </a:solidFill>
                <a:latin typeface="프리텐다드"/>
                <a:ea typeface="프리텐다드"/>
                <a:cs typeface="프리텐다드"/>
                <a:sym typeface="프리텐다드"/>
              </a:rPr>
              <a:t>1.35 kg  ·  고도 30 m  ·  초기 8 m/s  ·  30 s</a:t>
            </a:r>
          </a:p>
        </p:txBody>
      </p:sp>
      <p:sp>
        <p:nvSpPr>
          <p:cNvPr name="AutoShape 47" id="47"/>
          <p:cNvSpPr/>
          <p:nvPr/>
        </p:nvSpPr>
        <p:spPr>
          <a:xfrm>
            <a:off x="10554604" y="7301396"/>
            <a:ext cx="5831707" cy="0"/>
          </a:xfrm>
          <a:prstGeom prst="line">
            <a:avLst/>
          </a:prstGeom>
          <a:ln cap="flat" w="19050">
            <a:solidFill>
              <a:srgbClr val="DEDEDE"/>
            </a:solidFill>
            <a:prstDash val="solid"/>
            <a:headEnd type="none" len="sm" w="sm"/>
            <a:tailEnd type="none" len="sm" w="sm"/>
          </a:ln>
        </p:spPr>
      </p:sp>
      <p:grpSp>
        <p:nvGrpSpPr>
          <p:cNvPr name="Group 48" id="48"/>
          <p:cNvGrpSpPr/>
          <p:nvPr/>
        </p:nvGrpSpPr>
        <p:grpSpPr>
          <a:xfrm rot="0">
            <a:off x="9646830" y="6602684"/>
            <a:ext cx="647990" cy="631957"/>
            <a:chOff x="0" y="0"/>
            <a:chExt cx="863986" cy="842609"/>
          </a:xfrm>
        </p:grpSpPr>
        <p:grpSp>
          <p:nvGrpSpPr>
            <p:cNvPr name="Group 49" id="49"/>
            <p:cNvGrpSpPr/>
            <p:nvPr/>
          </p:nvGrpSpPr>
          <p:grpSpPr>
            <a:xfrm rot="0">
              <a:off x="0" y="0"/>
              <a:ext cx="863986" cy="842609"/>
              <a:chOff x="0" y="0"/>
              <a:chExt cx="682823" cy="665929"/>
            </a:xfrm>
          </p:grpSpPr>
          <p:sp>
            <p:nvSpPr>
              <p:cNvPr name="Freeform 50" id="50"/>
              <p:cNvSpPr/>
              <p:nvPr/>
            </p:nvSpPr>
            <p:spPr>
              <a:xfrm flipH="false" flipV="false" rot="0">
                <a:off x="0" y="0"/>
                <a:ext cx="682823" cy="665929"/>
              </a:xfrm>
              <a:custGeom>
                <a:avLst/>
                <a:gdLst/>
                <a:ahLst/>
                <a:cxnLst/>
                <a:rect r="r" b="b" t="t" l="l"/>
                <a:pathLst>
                  <a:path h="665929" w="682823">
                    <a:moveTo>
                      <a:pt x="183579" y="0"/>
                    </a:moveTo>
                    <a:lnTo>
                      <a:pt x="499244" y="0"/>
                    </a:lnTo>
                    <a:cubicBezTo>
                      <a:pt x="547932" y="0"/>
                      <a:pt x="594626" y="19341"/>
                      <a:pt x="629054" y="53769"/>
                    </a:cubicBezTo>
                    <a:cubicBezTo>
                      <a:pt x="663482" y="88197"/>
                      <a:pt x="682823" y="134891"/>
                      <a:pt x="682823" y="183579"/>
                    </a:cubicBezTo>
                    <a:lnTo>
                      <a:pt x="682823" y="482350"/>
                    </a:lnTo>
                    <a:cubicBezTo>
                      <a:pt x="682823" y="583738"/>
                      <a:pt x="600632" y="665929"/>
                      <a:pt x="499244" y="665929"/>
                    </a:cubicBezTo>
                    <a:lnTo>
                      <a:pt x="183579" y="665929"/>
                    </a:lnTo>
                    <a:cubicBezTo>
                      <a:pt x="82191" y="665929"/>
                      <a:pt x="0" y="583738"/>
                      <a:pt x="0" y="482350"/>
                    </a:cubicBezTo>
                    <a:lnTo>
                      <a:pt x="0" y="183579"/>
                    </a:lnTo>
                    <a:cubicBezTo>
                      <a:pt x="0" y="82191"/>
                      <a:pt x="82191" y="0"/>
                      <a:pt x="183579" y="0"/>
                    </a:cubicBezTo>
                    <a:close/>
                  </a:path>
                </a:pathLst>
              </a:custGeom>
              <a:solidFill>
                <a:srgbClr val="262626"/>
              </a:solidFill>
            </p:spPr>
          </p:sp>
          <p:sp>
            <p:nvSpPr>
              <p:cNvPr name="TextBox 51" id="51"/>
              <p:cNvSpPr txBox="true"/>
              <p:nvPr/>
            </p:nvSpPr>
            <p:spPr>
              <a:xfrm>
                <a:off x="0" y="-47625"/>
                <a:ext cx="682823" cy="713554"/>
              </a:xfrm>
              <a:prstGeom prst="rect">
                <a:avLst/>
              </a:prstGeom>
            </p:spPr>
            <p:txBody>
              <a:bodyPr anchor="ctr" rtlCol="false" tIns="50800" lIns="50800" bIns="50800" rIns="50800"/>
              <a:lstStyle/>
              <a:p>
                <a:pPr algn="ctr">
                  <a:lnSpc>
                    <a:spcPts val="2940"/>
                  </a:lnSpc>
                </a:pPr>
              </a:p>
            </p:txBody>
          </p:sp>
        </p:grpSp>
        <p:sp>
          <p:nvSpPr>
            <p:cNvPr name="TextBox 52" id="52"/>
            <p:cNvSpPr txBox="true"/>
            <p:nvPr/>
          </p:nvSpPr>
          <p:spPr>
            <a:xfrm rot="0">
              <a:off x="102367" y="130133"/>
              <a:ext cx="659253" cy="525194"/>
            </a:xfrm>
            <a:prstGeom prst="rect">
              <a:avLst/>
            </a:prstGeom>
          </p:spPr>
          <p:txBody>
            <a:bodyPr anchor="t" rtlCol="false" tIns="0" lIns="0" bIns="0" rIns="0">
              <a:spAutoFit/>
            </a:bodyPr>
            <a:lstStyle/>
            <a:p>
              <a:pPr algn="ctr">
                <a:lnSpc>
                  <a:spcPts val="3226"/>
                </a:lnSpc>
              </a:pPr>
              <a:r>
                <a:rPr lang="en-US" b="true" sz="2304" spc="168">
                  <a:solidFill>
                    <a:srgbClr val="FFFFFF"/>
                  </a:solidFill>
                  <a:latin typeface="프리텐다드 Medium"/>
                  <a:ea typeface="프리텐다드 Medium"/>
                  <a:cs typeface="프리텐다드 Medium"/>
                  <a:sym typeface="프리텐다드 Medium"/>
                </a:rPr>
                <a:t>+</a:t>
              </a:r>
            </a:p>
          </p:txBody>
        </p:sp>
      </p:grpSp>
      <p:sp>
        <p:nvSpPr>
          <p:cNvPr name="Freeform 53" id="53"/>
          <p:cNvSpPr/>
          <p:nvPr/>
        </p:nvSpPr>
        <p:spPr>
          <a:xfrm flipH="true" flipV="false" rot="0">
            <a:off x="16204283" y="6766667"/>
            <a:ext cx="182027" cy="302119"/>
          </a:xfrm>
          <a:custGeom>
            <a:avLst/>
            <a:gdLst/>
            <a:ahLst/>
            <a:cxnLst/>
            <a:rect r="r" b="b" t="t" l="l"/>
            <a:pathLst>
              <a:path h="302119" w="182027">
                <a:moveTo>
                  <a:pt x="182027" y="0"/>
                </a:moveTo>
                <a:lnTo>
                  <a:pt x="0" y="0"/>
                </a:lnTo>
                <a:lnTo>
                  <a:pt x="0" y="302120"/>
                </a:lnTo>
                <a:lnTo>
                  <a:pt x="182027" y="302120"/>
                </a:lnTo>
                <a:lnTo>
                  <a:pt x="182027"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실행 결과</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05</a:t>
            </a:r>
          </a:p>
        </p:txBody>
      </p:sp>
      <p:grpSp>
        <p:nvGrpSpPr>
          <p:cNvPr name="Group 6" id="6"/>
          <p:cNvGrpSpPr/>
          <p:nvPr/>
        </p:nvGrpSpPr>
        <p:grpSpPr>
          <a:xfrm rot="0">
            <a:off x="8972390" y="3135753"/>
            <a:ext cx="7913965" cy="2130425"/>
            <a:chOff x="0" y="0"/>
            <a:chExt cx="1410907" cy="379814"/>
          </a:xfrm>
        </p:grpSpPr>
        <p:sp>
          <p:nvSpPr>
            <p:cNvPr name="Freeform 7" id="7"/>
            <p:cNvSpPr/>
            <p:nvPr/>
          </p:nvSpPr>
          <p:spPr>
            <a:xfrm flipH="false" flipV="false" rot="0">
              <a:off x="0" y="0"/>
              <a:ext cx="1410907" cy="379814"/>
            </a:xfrm>
            <a:custGeom>
              <a:avLst/>
              <a:gdLst/>
              <a:ahLst/>
              <a:cxnLst/>
              <a:rect r="r" b="b" t="t" l="l"/>
              <a:pathLst>
                <a:path h="379814" w="1410907">
                  <a:moveTo>
                    <a:pt x="26413" y="0"/>
                  </a:moveTo>
                  <a:lnTo>
                    <a:pt x="1384494" y="0"/>
                  </a:lnTo>
                  <a:cubicBezTo>
                    <a:pt x="1391500" y="0"/>
                    <a:pt x="1398218" y="2783"/>
                    <a:pt x="1403171" y="7736"/>
                  </a:cubicBezTo>
                  <a:cubicBezTo>
                    <a:pt x="1408125" y="12690"/>
                    <a:pt x="1410907" y="19408"/>
                    <a:pt x="1410907" y="26413"/>
                  </a:cubicBezTo>
                  <a:lnTo>
                    <a:pt x="1410907" y="353401"/>
                  </a:lnTo>
                  <a:cubicBezTo>
                    <a:pt x="1410907" y="367988"/>
                    <a:pt x="1399082" y="379814"/>
                    <a:pt x="1384494" y="379814"/>
                  </a:cubicBezTo>
                  <a:lnTo>
                    <a:pt x="26413" y="379814"/>
                  </a:lnTo>
                  <a:cubicBezTo>
                    <a:pt x="11826" y="379814"/>
                    <a:pt x="0" y="367988"/>
                    <a:pt x="0" y="353401"/>
                  </a:cubicBezTo>
                  <a:lnTo>
                    <a:pt x="0" y="26413"/>
                  </a:lnTo>
                  <a:cubicBezTo>
                    <a:pt x="0" y="11826"/>
                    <a:pt x="11826" y="0"/>
                    <a:pt x="26413" y="0"/>
                  </a:cubicBezTo>
                  <a:close/>
                </a:path>
              </a:pathLst>
            </a:custGeom>
            <a:solidFill>
              <a:srgbClr val="FFFFFF"/>
            </a:solidFill>
            <a:ln cap="rnd">
              <a:noFill/>
              <a:prstDash val="solid"/>
              <a:round/>
            </a:ln>
          </p:spPr>
        </p:sp>
        <p:sp>
          <p:nvSpPr>
            <p:cNvPr name="TextBox 8" id="8"/>
            <p:cNvSpPr txBox="true"/>
            <p:nvPr/>
          </p:nvSpPr>
          <p:spPr>
            <a:xfrm>
              <a:off x="0" y="-38100"/>
              <a:ext cx="1410907" cy="41791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1421147" y="3135753"/>
            <a:ext cx="7312457" cy="4542194"/>
            <a:chOff x="0" y="0"/>
            <a:chExt cx="1303670" cy="809786"/>
          </a:xfrm>
        </p:grpSpPr>
        <p:sp>
          <p:nvSpPr>
            <p:cNvPr name="Freeform 10" id="10"/>
            <p:cNvSpPr/>
            <p:nvPr/>
          </p:nvSpPr>
          <p:spPr>
            <a:xfrm flipH="false" flipV="false" rot="0">
              <a:off x="0" y="0"/>
              <a:ext cx="1303670" cy="809786"/>
            </a:xfrm>
            <a:custGeom>
              <a:avLst/>
              <a:gdLst/>
              <a:ahLst/>
              <a:cxnLst/>
              <a:rect r="r" b="b" t="t" l="l"/>
              <a:pathLst>
                <a:path h="809786" w="1303670">
                  <a:moveTo>
                    <a:pt x="28586" y="0"/>
                  </a:moveTo>
                  <a:lnTo>
                    <a:pt x="1275084" y="0"/>
                  </a:lnTo>
                  <a:cubicBezTo>
                    <a:pt x="1282666" y="0"/>
                    <a:pt x="1289937" y="3012"/>
                    <a:pt x="1295298" y="8373"/>
                  </a:cubicBezTo>
                  <a:cubicBezTo>
                    <a:pt x="1300658" y="13733"/>
                    <a:pt x="1303670" y="21004"/>
                    <a:pt x="1303670" y="28586"/>
                  </a:cubicBezTo>
                  <a:lnTo>
                    <a:pt x="1303670" y="781200"/>
                  </a:lnTo>
                  <a:cubicBezTo>
                    <a:pt x="1303670" y="788781"/>
                    <a:pt x="1300658" y="796052"/>
                    <a:pt x="1295298" y="801413"/>
                  </a:cubicBezTo>
                  <a:cubicBezTo>
                    <a:pt x="1289937" y="806774"/>
                    <a:pt x="1282666" y="809786"/>
                    <a:pt x="1275084" y="809786"/>
                  </a:cubicBezTo>
                  <a:lnTo>
                    <a:pt x="28586" y="809786"/>
                  </a:lnTo>
                  <a:cubicBezTo>
                    <a:pt x="21004" y="809786"/>
                    <a:pt x="13733" y="806774"/>
                    <a:pt x="8373" y="801413"/>
                  </a:cubicBezTo>
                  <a:cubicBezTo>
                    <a:pt x="3012" y="796052"/>
                    <a:pt x="0" y="788781"/>
                    <a:pt x="0" y="781200"/>
                  </a:cubicBezTo>
                  <a:lnTo>
                    <a:pt x="0" y="28586"/>
                  </a:lnTo>
                  <a:cubicBezTo>
                    <a:pt x="0" y="21004"/>
                    <a:pt x="3012" y="13733"/>
                    <a:pt x="8373" y="8373"/>
                  </a:cubicBezTo>
                  <a:cubicBezTo>
                    <a:pt x="13733" y="3012"/>
                    <a:pt x="21004" y="0"/>
                    <a:pt x="28586" y="0"/>
                  </a:cubicBezTo>
                  <a:close/>
                </a:path>
              </a:pathLst>
            </a:custGeom>
            <a:solidFill>
              <a:srgbClr val="FFFFFF"/>
            </a:solidFill>
            <a:ln cap="rnd">
              <a:noFill/>
              <a:prstDash val="solid"/>
              <a:round/>
            </a:ln>
          </p:spPr>
        </p:sp>
        <p:sp>
          <p:nvSpPr>
            <p:cNvPr name="TextBox 11" id="11"/>
            <p:cNvSpPr txBox="true"/>
            <p:nvPr/>
          </p:nvSpPr>
          <p:spPr>
            <a:xfrm>
              <a:off x="0" y="-38100"/>
              <a:ext cx="1303670" cy="847886"/>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8972390" y="5547522"/>
            <a:ext cx="7913965" cy="2130425"/>
            <a:chOff x="0" y="0"/>
            <a:chExt cx="1410907" cy="379814"/>
          </a:xfrm>
        </p:grpSpPr>
        <p:sp>
          <p:nvSpPr>
            <p:cNvPr name="Freeform 14" id="14"/>
            <p:cNvSpPr/>
            <p:nvPr/>
          </p:nvSpPr>
          <p:spPr>
            <a:xfrm flipH="false" flipV="false" rot="0">
              <a:off x="0" y="0"/>
              <a:ext cx="1410907" cy="379814"/>
            </a:xfrm>
            <a:custGeom>
              <a:avLst/>
              <a:gdLst/>
              <a:ahLst/>
              <a:cxnLst/>
              <a:rect r="r" b="b" t="t" l="l"/>
              <a:pathLst>
                <a:path h="379814" w="1410907">
                  <a:moveTo>
                    <a:pt x="26413" y="0"/>
                  </a:moveTo>
                  <a:lnTo>
                    <a:pt x="1384494" y="0"/>
                  </a:lnTo>
                  <a:cubicBezTo>
                    <a:pt x="1391500" y="0"/>
                    <a:pt x="1398218" y="2783"/>
                    <a:pt x="1403171" y="7736"/>
                  </a:cubicBezTo>
                  <a:cubicBezTo>
                    <a:pt x="1408125" y="12690"/>
                    <a:pt x="1410907" y="19408"/>
                    <a:pt x="1410907" y="26413"/>
                  </a:cubicBezTo>
                  <a:lnTo>
                    <a:pt x="1410907" y="353401"/>
                  </a:lnTo>
                  <a:cubicBezTo>
                    <a:pt x="1410907" y="367988"/>
                    <a:pt x="1399082" y="379814"/>
                    <a:pt x="1384494" y="379814"/>
                  </a:cubicBezTo>
                  <a:lnTo>
                    <a:pt x="26413" y="379814"/>
                  </a:lnTo>
                  <a:cubicBezTo>
                    <a:pt x="11826" y="379814"/>
                    <a:pt x="0" y="367988"/>
                    <a:pt x="0" y="353401"/>
                  </a:cubicBezTo>
                  <a:lnTo>
                    <a:pt x="0" y="26413"/>
                  </a:lnTo>
                  <a:cubicBezTo>
                    <a:pt x="0" y="11826"/>
                    <a:pt x="11826" y="0"/>
                    <a:pt x="26413" y="0"/>
                  </a:cubicBezTo>
                  <a:close/>
                </a:path>
              </a:pathLst>
            </a:custGeom>
            <a:solidFill>
              <a:srgbClr val="FFFFFF"/>
            </a:solidFill>
            <a:ln cap="rnd">
              <a:noFill/>
              <a:prstDash val="solid"/>
              <a:round/>
            </a:ln>
          </p:spPr>
        </p:sp>
        <p:sp>
          <p:nvSpPr>
            <p:cNvPr name="TextBox 15" id="15"/>
            <p:cNvSpPr txBox="true"/>
            <p:nvPr/>
          </p:nvSpPr>
          <p:spPr>
            <a:xfrm>
              <a:off x="0" y="-38100"/>
              <a:ext cx="1410907" cy="417914"/>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6" id="16"/>
          <p:cNvGrpSpPr/>
          <p:nvPr/>
        </p:nvGrpSpPr>
        <p:grpSpPr>
          <a:xfrm rot="0">
            <a:off x="1421147" y="7924471"/>
            <a:ext cx="15465208" cy="909462"/>
            <a:chOff x="0" y="0"/>
            <a:chExt cx="20620277" cy="1212616"/>
          </a:xfrm>
        </p:grpSpPr>
        <p:grpSp>
          <p:nvGrpSpPr>
            <p:cNvPr name="Group 17" id="17"/>
            <p:cNvGrpSpPr/>
            <p:nvPr/>
          </p:nvGrpSpPr>
          <p:grpSpPr>
            <a:xfrm rot="0">
              <a:off x="0" y="0"/>
              <a:ext cx="20620277" cy="1212616"/>
              <a:chOff x="0" y="0"/>
              <a:chExt cx="16529146" cy="972029"/>
            </a:xfrm>
          </p:grpSpPr>
          <p:sp>
            <p:nvSpPr>
              <p:cNvPr name="Freeform 18" id="18"/>
              <p:cNvSpPr/>
              <p:nvPr/>
            </p:nvSpPr>
            <p:spPr>
              <a:xfrm flipH="false" flipV="false" rot="0">
                <a:off x="0" y="0"/>
                <a:ext cx="16529146" cy="972029"/>
              </a:xfrm>
              <a:custGeom>
                <a:avLst/>
                <a:gdLst/>
                <a:ahLst/>
                <a:cxnLst/>
                <a:rect r="r" b="b" t="t" l="l"/>
                <a:pathLst>
                  <a:path h="972029" w="16529146">
                    <a:moveTo>
                      <a:pt x="14626" y="0"/>
                    </a:moveTo>
                    <a:lnTo>
                      <a:pt x="16514521" y="0"/>
                    </a:lnTo>
                    <a:cubicBezTo>
                      <a:pt x="16518399" y="0"/>
                      <a:pt x="16522120" y="1541"/>
                      <a:pt x="16524863" y="4284"/>
                    </a:cubicBezTo>
                    <a:cubicBezTo>
                      <a:pt x="16527605" y="7027"/>
                      <a:pt x="16529146" y="10747"/>
                      <a:pt x="16529146" y="14626"/>
                    </a:cubicBezTo>
                    <a:lnTo>
                      <a:pt x="16529146" y="957403"/>
                    </a:lnTo>
                    <a:cubicBezTo>
                      <a:pt x="16529146" y="961282"/>
                      <a:pt x="16527605" y="965002"/>
                      <a:pt x="16524863" y="967745"/>
                    </a:cubicBezTo>
                    <a:cubicBezTo>
                      <a:pt x="16522120" y="970488"/>
                      <a:pt x="16518399" y="972029"/>
                      <a:pt x="16514521" y="972029"/>
                    </a:cubicBezTo>
                    <a:lnTo>
                      <a:pt x="14626" y="972029"/>
                    </a:lnTo>
                    <a:cubicBezTo>
                      <a:pt x="10747" y="972029"/>
                      <a:pt x="7027" y="970488"/>
                      <a:pt x="4284" y="967745"/>
                    </a:cubicBezTo>
                    <a:cubicBezTo>
                      <a:pt x="1541" y="965002"/>
                      <a:pt x="0" y="961282"/>
                      <a:pt x="0" y="957403"/>
                    </a:cubicBezTo>
                    <a:lnTo>
                      <a:pt x="0" y="14626"/>
                    </a:lnTo>
                    <a:cubicBezTo>
                      <a:pt x="0" y="10747"/>
                      <a:pt x="1541" y="7027"/>
                      <a:pt x="4284" y="4284"/>
                    </a:cubicBezTo>
                    <a:cubicBezTo>
                      <a:pt x="7027" y="1541"/>
                      <a:pt x="10747" y="0"/>
                      <a:pt x="14626" y="0"/>
                    </a:cubicBezTo>
                    <a:close/>
                  </a:path>
                </a:pathLst>
              </a:custGeom>
              <a:solidFill>
                <a:srgbClr val="262626"/>
              </a:solidFill>
              <a:ln cap="rnd">
                <a:noFill/>
                <a:prstDash val="solid"/>
                <a:round/>
              </a:ln>
            </p:spPr>
          </p:sp>
          <p:sp>
            <p:nvSpPr>
              <p:cNvPr name="TextBox 19" id="19"/>
              <p:cNvSpPr txBox="true"/>
              <p:nvPr/>
            </p:nvSpPr>
            <p:spPr>
              <a:xfrm>
                <a:off x="0" y="-47625"/>
                <a:ext cx="16529146" cy="1019654"/>
              </a:xfrm>
              <a:prstGeom prst="rect">
                <a:avLst/>
              </a:prstGeom>
            </p:spPr>
            <p:txBody>
              <a:bodyPr anchor="ctr" rtlCol="false" tIns="50800" lIns="50800" bIns="50800" rIns="50800"/>
              <a:lstStyle/>
              <a:p>
                <a:pPr algn="ctr" marL="0" indent="0" lvl="0">
                  <a:lnSpc>
                    <a:spcPts val="2878"/>
                  </a:lnSpc>
                  <a:spcBef>
                    <a:spcPct val="0"/>
                  </a:spcBef>
                </a:pPr>
              </a:p>
            </p:txBody>
          </p:sp>
        </p:grpSp>
        <p:sp>
          <p:nvSpPr>
            <p:cNvPr name="TextBox 20" id="20"/>
            <p:cNvSpPr txBox="true"/>
            <p:nvPr/>
          </p:nvSpPr>
          <p:spPr>
            <a:xfrm rot="0">
              <a:off x="3382441" y="313971"/>
              <a:ext cx="13827259" cy="556099"/>
            </a:xfrm>
            <a:prstGeom prst="rect">
              <a:avLst/>
            </a:prstGeom>
          </p:spPr>
          <p:txBody>
            <a:bodyPr anchor="t" rtlCol="false" tIns="0" lIns="0" bIns="0" rIns="0">
              <a:spAutoFit/>
            </a:bodyPr>
            <a:lstStyle/>
            <a:p>
              <a:pPr algn="ctr">
                <a:lnSpc>
                  <a:spcPts val="3376"/>
                </a:lnSpc>
              </a:pPr>
              <a:r>
                <a:rPr lang="en-US" b="true" sz="2400" spc="189">
                  <a:solidFill>
                    <a:srgbClr val="FFFFFF"/>
                  </a:solidFill>
                  <a:latin typeface="프리텐다드 Semi-Bold"/>
                  <a:ea typeface="프리텐다드 Semi-Bold"/>
                  <a:cs typeface="프리텐다드 Semi-Bold"/>
                  <a:sym typeface="프리텐다드 Semi-Bold"/>
                </a:rPr>
                <a:t>고도 30 m ± 0.06 m 유지  →  기준 ±2 m 충족</a:t>
              </a:r>
            </a:p>
          </p:txBody>
        </p:sp>
      </p:grpSp>
      <p:sp>
        <p:nvSpPr>
          <p:cNvPr name="TextBox 21" id="21"/>
          <p:cNvSpPr txBox="true"/>
          <p:nvPr/>
        </p:nvSpPr>
        <p:spPr>
          <a:xfrm rot="0">
            <a:off x="9494284" y="6508574"/>
            <a:ext cx="6870176" cy="767829"/>
          </a:xfrm>
          <a:prstGeom prst="rect">
            <a:avLst/>
          </a:prstGeom>
        </p:spPr>
        <p:txBody>
          <a:bodyPr anchor="t" rtlCol="false" tIns="0" lIns="0" bIns="0" rIns="0">
            <a:spAutoFit/>
          </a:bodyPr>
          <a:lstStyle/>
          <a:p>
            <a:pPr algn="just">
              <a:lnSpc>
                <a:spcPts val="3116"/>
              </a:lnSpc>
            </a:pPr>
            <a:r>
              <a:rPr lang="en-US" sz="2000">
                <a:solidFill>
                  <a:srgbClr val="262626"/>
                </a:solidFill>
                <a:latin typeface="프리텐다드"/>
                <a:ea typeface="프리텐다드"/>
                <a:cs typeface="프리텐다드"/>
                <a:sym typeface="프리텐다드"/>
              </a:rPr>
              <a:t>직선: Y·Z 변화 없음  ·  회피: 좌우 흔들림 (종료 Y −1.6 m)</a:t>
            </a:r>
          </a:p>
        </p:txBody>
      </p:sp>
      <p:sp>
        <p:nvSpPr>
          <p:cNvPr name="TextBox 22" id="22"/>
          <p:cNvSpPr txBox="true"/>
          <p:nvPr/>
        </p:nvSpPr>
        <p:spPr>
          <a:xfrm rot="0">
            <a:off x="9494284" y="4100097"/>
            <a:ext cx="6870176" cy="767829"/>
          </a:xfrm>
          <a:prstGeom prst="rect">
            <a:avLst/>
          </a:prstGeom>
        </p:spPr>
        <p:txBody>
          <a:bodyPr anchor="t" rtlCol="false" tIns="0" lIns="0" bIns="0" rIns="0">
            <a:spAutoFit/>
          </a:bodyPr>
          <a:lstStyle/>
          <a:p>
            <a:pPr algn="just">
              <a:lnSpc>
                <a:spcPts val="3116"/>
              </a:lnSpc>
            </a:pPr>
            <a:r>
              <a:rPr lang="en-US" sz="2000">
                <a:solidFill>
                  <a:srgbClr val="262626"/>
                </a:solidFill>
                <a:latin typeface="프리텐다드"/>
                <a:ea typeface="프리텐다드"/>
                <a:cs typeface="프리텐다드"/>
                <a:sym typeface="프리텐다드"/>
              </a:rPr>
              <a:t>무풍 445.1 m  ·  약풍 602.3 m  ·  강풍 902.1 m</a:t>
            </a:r>
          </a:p>
        </p:txBody>
      </p:sp>
      <p:sp>
        <p:nvSpPr>
          <p:cNvPr name="Freeform 23" id="23"/>
          <p:cNvSpPr/>
          <p:nvPr/>
        </p:nvSpPr>
        <p:spPr>
          <a:xfrm flipH="false" flipV="false" rot="0">
            <a:off x="9494284" y="3585331"/>
            <a:ext cx="414968" cy="414968"/>
          </a:xfrm>
          <a:custGeom>
            <a:avLst/>
            <a:gdLst/>
            <a:ahLst/>
            <a:cxnLst/>
            <a:rect r="r" b="b" t="t" l="l"/>
            <a:pathLst>
              <a:path h="414968" w="414968">
                <a:moveTo>
                  <a:pt x="0" y="0"/>
                </a:moveTo>
                <a:lnTo>
                  <a:pt x="414968" y="0"/>
                </a:lnTo>
                <a:lnTo>
                  <a:pt x="414968" y="414968"/>
                </a:lnTo>
                <a:lnTo>
                  <a:pt x="0" y="4149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4" id="24"/>
          <p:cNvSpPr txBox="true"/>
          <p:nvPr/>
        </p:nvSpPr>
        <p:spPr>
          <a:xfrm rot="0">
            <a:off x="10092967" y="3541941"/>
            <a:ext cx="3641791" cy="444597"/>
          </a:xfrm>
          <a:prstGeom prst="rect">
            <a:avLst/>
          </a:prstGeom>
        </p:spPr>
        <p:txBody>
          <a:bodyPr anchor="t" rtlCol="false" tIns="0" lIns="0" bIns="0" rIns="0">
            <a:spAutoFit/>
          </a:bodyPr>
          <a:lstStyle/>
          <a:p>
            <a:pPr algn="l">
              <a:lnSpc>
                <a:spcPts val="3640"/>
              </a:lnSpc>
            </a:pPr>
            <a:r>
              <a:rPr lang="en-US" sz="2600" b="true">
                <a:solidFill>
                  <a:srgbClr val="262626"/>
                </a:solidFill>
                <a:latin typeface="프리텐다드 Medium"/>
                <a:ea typeface="프리텐다드 Medium"/>
                <a:cs typeface="프리텐다드 Medium"/>
                <a:sym typeface="프리텐다드 Medium"/>
              </a:rPr>
              <a:t>30초 후 종료 위치 (X)</a:t>
            </a:r>
          </a:p>
        </p:txBody>
      </p:sp>
      <p:sp>
        <p:nvSpPr>
          <p:cNvPr name="Freeform 25" id="25"/>
          <p:cNvSpPr/>
          <p:nvPr/>
        </p:nvSpPr>
        <p:spPr>
          <a:xfrm flipH="false" flipV="false" rot="0">
            <a:off x="9494284" y="5993808"/>
            <a:ext cx="414968" cy="414968"/>
          </a:xfrm>
          <a:custGeom>
            <a:avLst/>
            <a:gdLst/>
            <a:ahLst/>
            <a:cxnLst/>
            <a:rect r="r" b="b" t="t" l="l"/>
            <a:pathLst>
              <a:path h="414968" w="414968">
                <a:moveTo>
                  <a:pt x="0" y="0"/>
                </a:moveTo>
                <a:lnTo>
                  <a:pt x="414968" y="0"/>
                </a:lnTo>
                <a:lnTo>
                  <a:pt x="414968" y="414968"/>
                </a:lnTo>
                <a:lnTo>
                  <a:pt x="0" y="4149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26" id="26"/>
          <p:cNvSpPr txBox="true"/>
          <p:nvPr/>
        </p:nvSpPr>
        <p:spPr>
          <a:xfrm rot="0">
            <a:off x="10092967" y="5950418"/>
            <a:ext cx="3641791" cy="444597"/>
          </a:xfrm>
          <a:prstGeom prst="rect">
            <a:avLst/>
          </a:prstGeom>
        </p:spPr>
        <p:txBody>
          <a:bodyPr anchor="t" rtlCol="false" tIns="0" lIns="0" bIns="0" rIns="0">
            <a:spAutoFit/>
          </a:bodyPr>
          <a:lstStyle/>
          <a:p>
            <a:pPr algn="l">
              <a:lnSpc>
                <a:spcPts val="3640"/>
              </a:lnSpc>
            </a:pPr>
            <a:r>
              <a:rPr lang="en-US" sz="2600" b="true">
                <a:solidFill>
                  <a:srgbClr val="262626"/>
                </a:solidFill>
                <a:latin typeface="프리텐다드 Medium"/>
                <a:ea typeface="프리텐다드 Medium"/>
                <a:cs typeface="프리텐다드 Medium"/>
                <a:sym typeface="프리텐다드 Medium"/>
              </a:rPr>
              <a:t>궤적 형태</a:t>
            </a:r>
          </a:p>
        </p:txBody>
      </p:sp>
      <p:pic>
        <p:nvPicPr>
          <p:cNvPr id="27" name="Picture 26" descr="img3d.png"/>
          <p:cNvPicPr>
            <a:picLocks noChangeAspect="1"/>
          </p:cNvPicPr>
          <p:nvPr/>
        </p:nvPicPr>
        <p:blipFill>
          <a:blip r:embed="rId6"/>
          <a:stretch>
            <a:fillRect/>
          </a:stretch>
        </p:blipFill>
        <p:spPr>
          <a:xfrm>
            <a:off x="2231514" y="3246120"/>
            <a:ext cx="5686810" cy="3794760"/>
          </a:xfrm>
          <a:prstGeom prst="rect">
            <a:avLst/>
          </a:prstGeom>
        </p:spPr>
      </p:pic>
      <p:sp>
        <p:nvSpPr>
          <p:cNvPr id="28" name="TextBox 27"/>
          <p:cNvSpPr txBox="1"/>
          <p:nvPr/>
        </p:nvSpPr>
        <p:spPr>
          <a:xfrm>
            <a:off x="1417320" y="7132320"/>
            <a:ext cx="7315200" cy="365760"/>
          </a:xfrm>
          <a:prstGeom prst="rect">
            <a:avLst/>
          </a:prstGeom>
          <a:noFill/>
        </p:spPr>
        <p:txBody>
          <a:bodyPr wrap="square" lIns="0" rIns="0" tIns="0" bIns="0" anchor="t">
            <a:spAutoFit/>
          </a:bodyPr>
          <a:lstStyle/>
          <a:p>
            <a:pPr algn="ctr"/>
            <a:r>
              <a:rPr sz="1500" b="0">
                <a:solidFill>
                  <a:srgbClr val="7F7F7F"/>
                </a:solidFill>
                <a:latin typeface="프리텐다드"/>
                <a:ea typeface="프리텐다드"/>
                <a:cs typeface="프리텐다드"/>
              </a:rPr>
              <a:t>※ Z축 확대 표시 · 실제 진폭 약 ±6 cm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실행 결과</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26" id="26"/>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05</a:t>
            </a:r>
          </a:p>
        </p:txBody>
      </p:sp>
      <p:pic>
        <p:nvPicPr>
          <p:cNvPr id="27" name="Picture 26" descr="imgalt.png"/>
          <p:cNvPicPr>
            <a:picLocks noChangeAspect="1"/>
          </p:cNvPicPr>
          <p:nvPr/>
        </p:nvPicPr>
        <p:blipFill>
          <a:blip r:embed="rId6"/>
          <a:stretch>
            <a:fillRect/>
          </a:stretch>
        </p:blipFill>
        <p:spPr>
          <a:xfrm>
            <a:off x="1600200" y="2930728"/>
            <a:ext cx="7223760" cy="2459582"/>
          </a:xfrm>
          <a:prstGeom prst="rect">
            <a:avLst/>
          </a:prstGeom>
        </p:spPr>
      </p:pic>
      <p:sp>
        <p:nvSpPr>
          <p:cNvPr name="TextBox 15" id="15"/>
          <p:cNvSpPr txBox="true"/>
          <p:nvPr/>
        </p:nvSpPr>
        <p:spPr>
          <a:xfrm rot="0">
            <a:off x="1600200" y="5532120"/>
            <a:ext cx="7223760" cy="365760"/>
          </a:xfrm>
          <a:prstGeom prst="rect">
            <a:avLst/>
          </a:prstGeom>
        </p:spPr>
        <p:txBody>
          <a:bodyPr anchor="t" rtlCol="false" tIns="0" lIns="0" bIns="0" rIns="0">
            <a:spAutoFit/>
          </a:bodyPr>
          <a:lstStyle/>
          <a:p>
            <a:pPr algn="ctr">
              <a:lnSpc>
                <a:spcPts val="3193"/>
              </a:lnSpc>
            </a:pPr>
            <a:r>
              <a:rPr lang="en-US" sz="1800">
                <a:solidFill>
                  <a:srgbClr val="262626"/>
                </a:solidFill>
                <a:latin typeface="프리텐다드"/>
                <a:ea typeface="프리텐다드"/>
                <a:cs typeface="프리텐다드"/>
                <a:sym typeface="프리텐다드"/>
              </a:rPr>
              <a:t>고도 — 최대 ±0.06 m (기준 ±2 m)</a:t>
            </a:r>
          </a:p>
        </p:txBody>
      </p:sp>
      <p:pic>
        <p:nvPicPr>
          <p:cNvPr id="28" name="Picture 27" descr="imgspd.png"/>
          <p:cNvPicPr>
            <a:picLocks noChangeAspect="1"/>
          </p:cNvPicPr>
          <p:nvPr/>
        </p:nvPicPr>
        <p:blipFill>
          <a:blip r:embed="rId7"/>
          <a:stretch>
            <a:fillRect/>
          </a:stretch>
        </p:blipFill>
        <p:spPr>
          <a:xfrm>
            <a:off x="9372600" y="2975742"/>
            <a:ext cx="7223760" cy="2369555"/>
          </a:xfrm>
          <a:prstGeom prst="rect">
            <a:avLst/>
          </a:prstGeom>
        </p:spPr>
      </p:pic>
      <p:sp>
        <p:nvSpPr>
          <p:cNvPr name="TextBox 15" id="15"/>
          <p:cNvSpPr txBox="true"/>
          <p:nvPr/>
        </p:nvSpPr>
        <p:spPr>
          <a:xfrm rot="0">
            <a:off x="9372600" y="5532120"/>
            <a:ext cx="7223760" cy="365760"/>
          </a:xfrm>
          <a:prstGeom prst="rect">
            <a:avLst/>
          </a:prstGeom>
        </p:spPr>
        <p:txBody>
          <a:bodyPr anchor="t" rtlCol="false" tIns="0" lIns="0" bIns="0" rIns="0">
            <a:spAutoFit/>
          </a:bodyPr>
          <a:lstStyle/>
          <a:p>
            <a:pPr algn="ctr">
              <a:lnSpc>
                <a:spcPts val="3193"/>
              </a:lnSpc>
            </a:pPr>
            <a:r>
              <a:rPr lang="en-US" sz="1800">
                <a:solidFill>
                  <a:srgbClr val="262626"/>
                </a:solidFill>
                <a:latin typeface="프리텐다드"/>
                <a:ea typeface="프리텐다드"/>
                <a:cs typeface="프리텐다드"/>
                <a:sym typeface="프리텐다드"/>
              </a:rPr>
              <a:t>수평 속도 — 약 15 / 21 / 33 m/s</a:t>
            </a:r>
          </a:p>
        </p:txBody>
      </p:sp>
      <p:pic>
        <p:nvPicPr>
          <p:cNvPr id="29" name="Picture 28" descr="imgalpha.png"/>
          <p:cNvPicPr>
            <a:picLocks noChangeAspect="1"/>
          </p:cNvPicPr>
          <p:nvPr/>
        </p:nvPicPr>
        <p:blipFill>
          <a:blip r:embed="rId8"/>
          <a:stretch>
            <a:fillRect/>
          </a:stretch>
        </p:blipFill>
        <p:spPr>
          <a:xfrm>
            <a:off x="1600200" y="6236404"/>
            <a:ext cx="7223760" cy="2340471"/>
          </a:xfrm>
          <a:prstGeom prst="rect">
            <a:avLst/>
          </a:prstGeom>
        </p:spPr>
      </p:pic>
      <p:sp>
        <p:nvSpPr>
          <p:cNvPr name="TextBox 15" id="15"/>
          <p:cNvSpPr txBox="true"/>
          <p:nvPr/>
        </p:nvSpPr>
        <p:spPr>
          <a:xfrm rot="0">
            <a:off x="1600200" y="8778240"/>
            <a:ext cx="7223760" cy="365760"/>
          </a:xfrm>
          <a:prstGeom prst="rect">
            <a:avLst/>
          </a:prstGeom>
        </p:spPr>
        <p:txBody>
          <a:bodyPr anchor="t" rtlCol="false" tIns="0" lIns="0" bIns="0" rIns="0">
            <a:spAutoFit/>
          </a:bodyPr>
          <a:lstStyle/>
          <a:p>
            <a:pPr algn="ctr">
              <a:lnSpc>
                <a:spcPts val="3193"/>
              </a:lnSpc>
            </a:pPr>
            <a:r>
              <a:rPr lang="en-US" sz="1800">
                <a:solidFill>
                  <a:srgbClr val="262626"/>
                </a:solidFill>
                <a:latin typeface="프리텐다드"/>
                <a:ea typeface="프리텐다드"/>
                <a:cs typeface="프리텐다드"/>
                <a:sym typeface="프리텐다드"/>
              </a:rPr>
              <a:t>α — 직선 0.00° vs 회피 3.34°</a:t>
            </a:r>
          </a:p>
        </p:txBody>
      </p:sp>
      <p:pic>
        <p:nvPicPr>
          <p:cNvPr id="30" name="Picture 29" descr="imgdev.png"/>
          <p:cNvPicPr>
            <a:picLocks noChangeAspect="1"/>
          </p:cNvPicPr>
          <p:nvPr/>
        </p:nvPicPr>
        <p:blipFill>
          <a:blip r:embed="rId9"/>
          <a:stretch>
            <a:fillRect/>
          </a:stretch>
        </p:blipFill>
        <p:spPr>
          <a:xfrm>
            <a:off x="9372600" y="6052184"/>
            <a:ext cx="7223760" cy="2708910"/>
          </a:xfrm>
          <a:prstGeom prst="rect">
            <a:avLst/>
          </a:prstGeom>
        </p:spPr>
      </p:pic>
      <p:sp>
        <p:nvSpPr>
          <p:cNvPr name="TextBox 15" id="15"/>
          <p:cNvSpPr txBox="true"/>
          <p:nvPr/>
        </p:nvSpPr>
        <p:spPr>
          <a:xfrm rot="0">
            <a:off x="9372600" y="8778240"/>
            <a:ext cx="7223760" cy="365760"/>
          </a:xfrm>
          <a:prstGeom prst="rect">
            <a:avLst/>
          </a:prstGeom>
        </p:spPr>
        <p:txBody>
          <a:bodyPr anchor="t" rtlCol="false" tIns="0" lIns="0" bIns="0" rIns="0">
            <a:spAutoFit/>
          </a:bodyPr>
          <a:lstStyle/>
          <a:p>
            <a:pPr algn="ctr">
              <a:lnSpc>
                <a:spcPts val="3193"/>
              </a:lnSpc>
            </a:pPr>
            <a:r>
              <a:rPr lang="en-US" sz="1800">
                <a:solidFill>
                  <a:srgbClr val="262626"/>
                </a:solidFill>
                <a:latin typeface="프리텐다드"/>
                <a:ea typeface="프리텐다드"/>
                <a:cs typeface="프리텐다드"/>
                <a:sym typeface="프리텐다드"/>
              </a:rPr>
              <a:t>약풍 이탈량 — 30 s 후 157.3 m</a:t>
            </a:r>
          </a:p>
        </p:txBody>
      </p:sp>
    </p:spTree>
  </p:cSld>
  <p:clrMapOvr>
    <a:masterClrMapping/>
  </p:clrMapOvr>
</p:sld>
</file>

<file path=ppt/slides/slide12.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313" r="0" b="-9313"/>
            </a:stretch>
          </a:blipFill>
        </p:spPr>
      </p:sp>
      <p:sp>
        <p:nvSpPr>
          <p:cNvPr id="3" name="TextBox 3"/>
          <p:cNvSpPr txBox="1"/>
          <p:nvPr/>
        </p:nvSpPr>
        <p:spPr>
          <a:xfrm>
            <a:off x="5663438" y="1365003"/>
            <a:ext cx="6961121" cy="940046"/>
          </a:xfrm>
          <a:prstGeom prst="rect">
            <a:avLst/>
          </a:prstGeom>
        </p:spPr>
        <p:txBody>
          <a:bodyPr lIns="0" tIns="0" rIns="0" bIns="0" anchor="t">
            <a:spAutoFit/>
          </a:bodyPr>
          <a:lstStyle/>
          <a:p>
            <a:pPr lvl="0" algn="ctr">
              <a:lnSpc>
                <a:spcPts val="7419"/>
              </a:lnSpc>
              <a:spcBef>
                <a:spcPct val="0"/>
              </a:spcBef>
              <a:defRPr/>
            </a:pPr>
            <a:r>
              <a:rPr lang="ko-KR" altLang="en-US" sz="5299" b="1">
                <a:solidFill>
                  <a:srgbClr val="262626"/>
                </a:solidFill>
                <a:latin typeface="프리텐다드 Ultra-Bold"/>
                <a:ea typeface="프리텐다드 Ultra-Bold"/>
                <a:cs typeface="프리텐다드 Ultra-Bold"/>
                <a:sym typeface="프리텐다드 Ultra-Bold"/>
              </a:rPr>
              <a:t>모델 특징</a:t>
            </a:r>
            <a:endParaRPr lang="ko-KR" altLang="en-US" sz="5299" b="1">
              <a:solidFill>
                <a:srgbClr val="262626"/>
              </a:solidFill>
              <a:latin typeface="프리텐다드 Ultra-Bold"/>
              <a:ea typeface="프리텐다드 Ultra-Bold"/>
              <a:cs typeface="프리텐다드 Ultra-Bold"/>
              <a:sym typeface="프리텐다드 Ultra-Bold"/>
            </a:endParaRP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06</a:t>
            </a:r>
          </a:p>
        </p:txBody>
      </p:sp>
      <p:grpSp>
        <p:nvGrpSpPr>
          <p:cNvPr name="Group 6" id="6"/>
          <p:cNvGrpSpPr/>
          <p:nvPr/>
        </p:nvGrpSpPr>
        <p:grpSpPr>
          <a:xfrm rot="0">
            <a:off x="1999431" y="3312248"/>
            <a:ext cx="6962817" cy="4065124"/>
            <a:chOff x="0" y="0"/>
            <a:chExt cx="1343229" cy="784222"/>
          </a:xfrm>
        </p:grpSpPr>
        <p:sp>
          <p:nvSpPr>
            <p:cNvPr name="Freeform 7" id="7"/>
            <p:cNvSpPr/>
            <p:nvPr/>
          </p:nvSpPr>
          <p:spPr>
            <a:xfrm flipH="false" flipV="false" rot="0">
              <a:off x="0" y="0"/>
              <a:ext cx="1343229" cy="784222"/>
            </a:xfrm>
            <a:custGeom>
              <a:avLst/>
              <a:gdLst/>
              <a:ahLst/>
              <a:cxnLst/>
              <a:rect r="r" b="b" t="t" l="l"/>
              <a:pathLst>
                <a:path h="784222" w="1343229">
                  <a:moveTo>
                    <a:pt x="30021" y="0"/>
                  </a:moveTo>
                  <a:lnTo>
                    <a:pt x="1313208" y="0"/>
                  </a:lnTo>
                  <a:cubicBezTo>
                    <a:pt x="1321170" y="0"/>
                    <a:pt x="1328806" y="3163"/>
                    <a:pt x="1334436" y="8793"/>
                  </a:cubicBezTo>
                  <a:cubicBezTo>
                    <a:pt x="1340066" y="14423"/>
                    <a:pt x="1343229" y="22059"/>
                    <a:pt x="1343229" y="30021"/>
                  </a:cubicBezTo>
                  <a:lnTo>
                    <a:pt x="1343229" y="754200"/>
                  </a:lnTo>
                  <a:cubicBezTo>
                    <a:pt x="1343229" y="762163"/>
                    <a:pt x="1340066" y="769799"/>
                    <a:pt x="1334436" y="775429"/>
                  </a:cubicBezTo>
                  <a:cubicBezTo>
                    <a:pt x="1328806" y="781059"/>
                    <a:pt x="1321170" y="784222"/>
                    <a:pt x="1313208" y="784222"/>
                  </a:cubicBezTo>
                  <a:lnTo>
                    <a:pt x="30021" y="784222"/>
                  </a:lnTo>
                  <a:cubicBezTo>
                    <a:pt x="22059" y="784222"/>
                    <a:pt x="14423" y="781059"/>
                    <a:pt x="8793" y="775429"/>
                  </a:cubicBezTo>
                  <a:cubicBezTo>
                    <a:pt x="3163" y="769799"/>
                    <a:pt x="0" y="762163"/>
                    <a:pt x="0" y="754200"/>
                  </a:cubicBezTo>
                  <a:lnTo>
                    <a:pt x="0" y="30021"/>
                  </a:lnTo>
                  <a:cubicBezTo>
                    <a:pt x="0" y="22059"/>
                    <a:pt x="3163" y="14423"/>
                    <a:pt x="8793" y="8793"/>
                  </a:cubicBezTo>
                  <a:cubicBezTo>
                    <a:pt x="14423" y="3163"/>
                    <a:pt x="22059" y="0"/>
                    <a:pt x="30021" y="0"/>
                  </a:cubicBezTo>
                  <a:close/>
                </a:path>
              </a:pathLst>
            </a:custGeom>
            <a:solidFill>
              <a:srgbClr val="FFFFFF"/>
            </a:solidFill>
            <a:ln cap="rnd">
              <a:noFill/>
              <a:prstDash val="solid"/>
              <a:round/>
            </a:ln>
          </p:spPr>
        </p:sp>
        <p:sp>
          <p:nvSpPr>
            <p:cNvPr name="TextBox 8" id="8"/>
            <p:cNvSpPr txBox="true"/>
            <p:nvPr/>
          </p:nvSpPr>
          <p:spPr>
            <a:xfrm>
              <a:off x="0" y="-38100"/>
              <a:ext cx="1343229" cy="82232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9325752" y="3312248"/>
            <a:ext cx="6962817" cy="4065124"/>
            <a:chOff x="0" y="0"/>
            <a:chExt cx="1343229" cy="784222"/>
          </a:xfrm>
        </p:grpSpPr>
        <p:sp>
          <p:nvSpPr>
            <p:cNvPr name="Freeform 10" id="10"/>
            <p:cNvSpPr/>
            <p:nvPr/>
          </p:nvSpPr>
          <p:spPr>
            <a:xfrm flipH="false" flipV="false" rot="0">
              <a:off x="0" y="0"/>
              <a:ext cx="1343229" cy="784222"/>
            </a:xfrm>
            <a:custGeom>
              <a:avLst/>
              <a:gdLst/>
              <a:ahLst/>
              <a:cxnLst/>
              <a:rect r="r" b="b" t="t" l="l"/>
              <a:pathLst>
                <a:path h="784222" w="1343229">
                  <a:moveTo>
                    <a:pt x="30021" y="0"/>
                  </a:moveTo>
                  <a:lnTo>
                    <a:pt x="1313208" y="0"/>
                  </a:lnTo>
                  <a:cubicBezTo>
                    <a:pt x="1321170" y="0"/>
                    <a:pt x="1328806" y="3163"/>
                    <a:pt x="1334436" y="8793"/>
                  </a:cubicBezTo>
                  <a:cubicBezTo>
                    <a:pt x="1340066" y="14423"/>
                    <a:pt x="1343229" y="22059"/>
                    <a:pt x="1343229" y="30021"/>
                  </a:cubicBezTo>
                  <a:lnTo>
                    <a:pt x="1343229" y="754200"/>
                  </a:lnTo>
                  <a:cubicBezTo>
                    <a:pt x="1343229" y="762163"/>
                    <a:pt x="1340066" y="769799"/>
                    <a:pt x="1334436" y="775429"/>
                  </a:cubicBezTo>
                  <a:cubicBezTo>
                    <a:pt x="1328806" y="781059"/>
                    <a:pt x="1321170" y="784222"/>
                    <a:pt x="1313208" y="784222"/>
                  </a:cubicBezTo>
                  <a:lnTo>
                    <a:pt x="30021" y="784222"/>
                  </a:lnTo>
                  <a:cubicBezTo>
                    <a:pt x="22059" y="784222"/>
                    <a:pt x="14423" y="781059"/>
                    <a:pt x="8793" y="775429"/>
                  </a:cubicBezTo>
                  <a:cubicBezTo>
                    <a:pt x="3163" y="769799"/>
                    <a:pt x="0" y="762163"/>
                    <a:pt x="0" y="754200"/>
                  </a:cubicBezTo>
                  <a:lnTo>
                    <a:pt x="0" y="30021"/>
                  </a:lnTo>
                  <a:cubicBezTo>
                    <a:pt x="0" y="22059"/>
                    <a:pt x="3163" y="14423"/>
                    <a:pt x="8793" y="8793"/>
                  </a:cubicBezTo>
                  <a:cubicBezTo>
                    <a:pt x="14423" y="3163"/>
                    <a:pt x="22059" y="0"/>
                    <a:pt x="30021" y="0"/>
                  </a:cubicBezTo>
                  <a:close/>
                </a:path>
              </a:pathLst>
            </a:custGeom>
            <a:solidFill>
              <a:srgbClr val="FFFFFF"/>
            </a:solidFill>
            <a:ln cap="rnd">
              <a:noFill/>
              <a:prstDash val="solid"/>
              <a:round/>
            </a:ln>
          </p:spPr>
        </p:sp>
        <p:sp>
          <p:nvSpPr>
            <p:cNvPr name="TextBox 11" id="11"/>
            <p:cNvSpPr txBox="true"/>
            <p:nvPr/>
          </p:nvSpPr>
          <p:spPr>
            <a:xfrm>
              <a:off x="0" y="-38100"/>
              <a:ext cx="1343229" cy="82232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1999431" y="7655413"/>
            <a:ext cx="14289138" cy="1398636"/>
            <a:chOff x="0" y="0"/>
            <a:chExt cx="16525756" cy="1617558"/>
          </a:xfrm>
        </p:grpSpPr>
        <p:sp>
          <p:nvSpPr>
            <p:cNvPr name="Freeform 13" id="13"/>
            <p:cNvSpPr/>
            <p:nvPr/>
          </p:nvSpPr>
          <p:spPr>
            <a:xfrm flipH="false" flipV="false" rot="0">
              <a:off x="0" y="0"/>
              <a:ext cx="16525756" cy="1617558"/>
            </a:xfrm>
            <a:custGeom>
              <a:avLst/>
              <a:gdLst/>
              <a:ahLst/>
              <a:cxnLst/>
              <a:rect r="r" b="b" t="t" l="l"/>
              <a:pathLst>
                <a:path h="1617558" w="16525756">
                  <a:moveTo>
                    <a:pt x="14629" y="0"/>
                  </a:moveTo>
                  <a:lnTo>
                    <a:pt x="16511127" y="0"/>
                  </a:lnTo>
                  <a:cubicBezTo>
                    <a:pt x="16519206" y="0"/>
                    <a:pt x="16525756" y="6550"/>
                    <a:pt x="16525756" y="14629"/>
                  </a:cubicBezTo>
                  <a:lnTo>
                    <a:pt x="16525756" y="1602930"/>
                  </a:lnTo>
                  <a:cubicBezTo>
                    <a:pt x="16525756" y="1611009"/>
                    <a:pt x="16519206" y="1617558"/>
                    <a:pt x="16511127" y="1617558"/>
                  </a:cubicBezTo>
                  <a:lnTo>
                    <a:pt x="14629" y="1617558"/>
                  </a:lnTo>
                  <a:cubicBezTo>
                    <a:pt x="6550" y="1617558"/>
                    <a:pt x="0" y="1611009"/>
                    <a:pt x="0" y="1602930"/>
                  </a:cubicBezTo>
                  <a:lnTo>
                    <a:pt x="0" y="14629"/>
                  </a:lnTo>
                  <a:cubicBezTo>
                    <a:pt x="0" y="6550"/>
                    <a:pt x="6550" y="0"/>
                    <a:pt x="14629" y="0"/>
                  </a:cubicBezTo>
                  <a:close/>
                </a:path>
              </a:pathLst>
            </a:custGeom>
            <a:solidFill>
              <a:srgbClr val="FFFFFF"/>
            </a:solidFill>
            <a:ln cap="rnd">
              <a:noFill/>
              <a:prstDash val="solid"/>
              <a:round/>
            </a:ln>
          </p:spPr>
        </p:sp>
        <p:sp>
          <p:nvSpPr>
            <p:cNvPr name="TextBox 14" id="14"/>
            <p:cNvSpPr txBox="true"/>
            <p:nvPr/>
          </p:nvSpPr>
          <p:spPr>
            <a:xfrm>
              <a:off x="0" y="-38100"/>
              <a:ext cx="16525756" cy="165565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5" id="15"/>
          <p:cNvSpPr/>
          <p:nvPr/>
        </p:nvSpPr>
        <p:spPr>
          <a:xfrm flipH="false" flipV="false" rot="0">
            <a:off x="2810214" y="8186229"/>
            <a:ext cx="303917" cy="337004"/>
          </a:xfrm>
          <a:custGeom>
            <a:avLst/>
            <a:gdLst/>
            <a:ahLst/>
            <a:cxnLst/>
            <a:rect r="r" b="b" t="t" l="l"/>
            <a:pathLst>
              <a:path h="337004" w="303917">
                <a:moveTo>
                  <a:pt x="0" y="0"/>
                </a:moveTo>
                <a:lnTo>
                  <a:pt x="303917" y="0"/>
                </a:lnTo>
                <a:lnTo>
                  <a:pt x="303917" y="337004"/>
                </a:lnTo>
                <a:lnTo>
                  <a:pt x="0" y="33700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6" id="16"/>
          <p:cNvSpPr txBox="true"/>
          <p:nvPr/>
        </p:nvSpPr>
        <p:spPr>
          <a:xfrm rot="0">
            <a:off x="3375013" y="8093787"/>
            <a:ext cx="932350" cy="464737"/>
          </a:xfrm>
          <a:prstGeom prst="rect">
            <a:avLst/>
          </a:prstGeom>
        </p:spPr>
        <p:txBody>
          <a:bodyPr anchor="t" rtlCol="false" tIns="0" lIns="0" bIns="0" rIns="0">
            <a:spAutoFit/>
          </a:bodyPr>
          <a:lstStyle/>
          <a:p>
            <a:pPr algn="l">
              <a:lnSpc>
                <a:spcPts val="3784"/>
              </a:lnSpc>
            </a:pPr>
            <a:r>
              <a:rPr lang="en-US" b="true" sz="2703" spc="494">
                <a:solidFill>
                  <a:srgbClr val="262626"/>
                </a:solidFill>
                <a:latin typeface="프리텐다드 Bold"/>
                <a:ea typeface="프리텐다드 Bold"/>
                <a:cs typeface="프리텐다드 Bold"/>
                <a:sym typeface="프리텐다드 Bold"/>
              </a:rPr>
              <a:t>정리</a:t>
            </a:r>
          </a:p>
        </p:txBody>
      </p:sp>
      <p:sp>
        <p:nvSpPr>
          <p:cNvPr name="TextBox 17" id="17"/>
          <p:cNvSpPr txBox="true"/>
          <p:nvPr/>
        </p:nvSpPr>
        <p:spPr>
          <a:xfrm rot="0">
            <a:off x="4968630" y="7945791"/>
            <a:ext cx="10496202" cy="741680"/>
          </a:xfrm>
          <a:prstGeom prst="rect">
            <a:avLst/>
          </a:prstGeom>
        </p:spPr>
        <p:txBody>
          <a:bodyPr anchor="t" rtlCol="false" tIns="0" lIns="0" bIns="0" rIns="0">
            <a:spAutoFit/>
          </a:bodyPr>
          <a:lstStyle/>
          <a:p>
            <a:pPr algn="just">
              <a:lnSpc>
                <a:spcPts val="3040"/>
              </a:lnSpc>
            </a:pPr>
            <a:r>
              <a:rPr lang="en-US" b="true" sz="2000">
                <a:solidFill>
                  <a:srgbClr val="262626"/>
                </a:solidFill>
                <a:latin typeface="프리텐다드 Bold"/>
                <a:ea typeface="프리텐다드 Bold"/>
                <a:cs typeface="프리텐다드 Bold"/>
                <a:sym typeface="프리텐다드 Bold"/>
              </a:rPr>
              <a:t>재현 가능한 궤적 생성기로 충분</a:t>
            </a:r>
          </a:p>
          <a:p>
            <a:pPr algn="just">
              <a:lnSpc>
                <a:spcPts val="3040"/>
              </a:lnSpc>
            </a:pPr>
            <a:r>
              <a:rPr lang="en-US" sz="2000">
                <a:solidFill>
                  <a:srgbClr val="262626"/>
                </a:solidFill>
                <a:latin typeface="프리텐다드"/>
                <a:ea typeface="프리텐다드"/>
                <a:cs typeface="프리텐다드"/>
                <a:sym typeface="프리텐다드"/>
              </a:rPr>
              <a:t>모델 단순화 · 가정값은 다음 장에서 정리</a:t>
            </a:r>
          </a:p>
        </p:txBody>
      </p:sp>
      <p:sp>
        <p:nvSpPr>
          <p:cNvPr name="AutoShape 18" id="18"/>
          <p:cNvSpPr/>
          <p:nvPr/>
        </p:nvSpPr>
        <p:spPr>
          <a:xfrm>
            <a:off x="4448166" y="8068447"/>
            <a:ext cx="0" cy="572567"/>
          </a:xfrm>
          <a:prstGeom prst="line">
            <a:avLst/>
          </a:prstGeom>
          <a:ln cap="flat" w="19050">
            <a:solidFill>
              <a:srgbClr val="262626"/>
            </a:solidFill>
            <a:prstDash val="solid"/>
            <a:headEnd type="none" len="sm" w="sm"/>
            <a:tailEnd type="none" len="sm" w="sm"/>
          </a:ln>
        </p:spPr>
      </p:sp>
      <p:sp>
        <p:nvSpPr>
          <p:cNvPr name="TextBox 19" id="19"/>
          <p:cNvSpPr txBox="true"/>
          <p:nvPr/>
        </p:nvSpPr>
        <p:spPr>
          <a:xfrm rot="0">
            <a:off x="2426785" y="4892040"/>
            <a:ext cx="6108108" cy="1650873"/>
          </a:xfrm>
          <a:prstGeom prst="rect">
            <a:avLst/>
          </a:prstGeom>
        </p:spPr>
        <p:txBody>
          <a:bodyPr anchor="t" rtlCol="false" tIns="0" lIns="0" bIns="0" rIns="0">
            <a:spAutoFit/>
          </a:bodyPr>
          <a:lstStyle/>
          <a:p>
            <a:pPr algn="l" marL="410211" indent="-205106" lvl="1">
              <a:lnSpc>
                <a:spcPts val="4079"/>
              </a:lnSpc>
              <a:buFont typeface="Arial"/>
              <a:buChar char="•"/>
            </a:pPr>
            <a:r>
              <a:rPr lang="en-US" sz="2400">
                <a:solidFill>
                  <a:srgbClr val="262626"/>
                </a:solidFill>
                <a:latin typeface="프리텐다드"/>
                <a:ea typeface="프리텐다드"/>
                <a:cs typeface="프리텐다드"/>
                <a:sym typeface="프리텐다드"/>
              </a:rPr>
              <a:t>모듈 분리 → 교체 · 확장 용이</a:t>
            </a:r>
          </a:p>
          <a:p>
            <a:pPr algn="l" marL="410211" indent="-205106" lvl="1">
              <a:lnSpc>
                <a:spcPts val="4079"/>
              </a:lnSpc>
              <a:buFont typeface="Arial"/>
              <a:buChar char="•"/>
            </a:pPr>
            <a:r>
              <a:rPr lang="en-US" sz="2400">
                <a:solidFill>
                  <a:srgbClr val="262626"/>
                </a:solidFill>
                <a:latin typeface="프리텐다드"/>
                <a:ea typeface="프리텐다드"/>
                <a:cs typeface="프리텐다드"/>
                <a:sym typeface="프리텐다드"/>
              </a:rPr>
              <a:t>결정론적 바람 → 재현성</a:t>
            </a:r>
          </a:p>
          <a:p>
            <a:pPr algn="l" marL="410211" indent="-205106" lvl="1">
              <a:lnSpc>
                <a:spcPts val="4079"/>
              </a:lnSpc>
              <a:buFont typeface="Arial"/>
              <a:buChar char="•"/>
            </a:pPr>
            <a:r>
              <a:rPr lang="en-US" sz="2400">
                <a:solidFill>
                  <a:srgbClr val="262626"/>
                </a:solidFill>
                <a:latin typeface="프리텐다드"/>
                <a:ea typeface="프리텐다드"/>
                <a:cs typeface="프리텐다드"/>
                <a:sym typeface="프리텐다드"/>
              </a:rPr>
              <a:t>interp1 → 시간축 비교 오류 해결</a:t>
            </a:r>
          </a:p>
        </p:txBody>
      </p:sp>
      <p:grpSp>
        <p:nvGrpSpPr>
          <p:cNvPr name="Group 20" id="20"/>
          <p:cNvGrpSpPr/>
          <p:nvPr/>
        </p:nvGrpSpPr>
        <p:grpSpPr>
          <a:xfrm rot="0">
            <a:off x="3814588" y="3954136"/>
            <a:ext cx="3332504" cy="607722"/>
            <a:chOff x="0" y="0"/>
            <a:chExt cx="4443338" cy="810296"/>
          </a:xfrm>
        </p:grpSpPr>
        <p:grpSp>
          <p:nvGrpSpPr>
            <p:cNvPr name="Group 21" id="21"/>
            <p:cNvGrpSpPr/>
            <p:nvPr/>
          </p:nvGrpSpPr>
          <p:grpSpPr>
            <a:xfrm rot="0">
              <a:off x="0" y="0"/>
              <a:ext cx="4443338" cy="810296"/>
              <a:chOff x="0" y="0"/>
              <a:chExt cx="4294480" cy="783150"/>
            </a:xfrm>
          </p:grpSpPr>
          <p:sp>
            <p:nvSpPr>
              <p:cNvPr name="Freeform 22" id="22"/>
              <p:cNvSpPr/>
              <p:nvPr/>
            </p:nvSpPr>
            <p:spPr>
              <a:xfrm flipH="false" flipV="false" rot="0">
                <a:off x="0" y="0"/>
                <a:ext cx="4294480" cy="783150"/>
              </a:xfrm>
              <a:custGeom>
                <a:avLst/>
                <a:gdLst/>
                <a:ahLst/>
                <a:cxnLst/>
                <a:rect r="r" b="b" t="t" l="l"/>
                <a:pathLst>
                  <a:path h="783150" w="4294480">
                    <a:moveTo>
                      <a:pt x="89652" y="0"/>
                    </a:moveTo>
                    <a:lnTo>
                      <a:pt x="4204827" y="0"/>
                    </a:lnTo>
                    <a:cubicBezTo>
                      <a:pt x="4254341" y="0"/>
                      <a:pt x="4294480" y="40139"/>
                      <a:pt x="4294480" y="89652"/>
                    </a:cubicBezTo>
                    <a:lnTo>
                      <a:pt x="4294480" y="693497"/>
                    </a:lnTo>
                    <a:cubicBezTo>
                      <a:pt x="4294480" y="743011"/>
                      <a:pt x="4254341" y="783150"/>
                      <a:pt x="4204827" y="783150"/>
                    </a:cubicBezTo>
                    <a:lnTo>
                      <a:pt x="89652" y="783150"/>
                    </a:lnTo>
                    <a:cubicBezTo>
                      <a:pt x="40139" y="783150"/>
                      <a:pt x="0" y="743011"/>
                      <a:pt x="0" y="693497"/>
                    </a:cubicBezTo>
                    <a:lnTo>
                      <a:pt x="0" y="89652"/>
                    </a:lnTo>
                    <a:cubicBezTo>
                      <a:pt x="0" y="40139"/>
                      <a:pt x="40139" y="0"/>
                      <a:pt x="89652" y="0"/>
                    </a:cubicBezTo>
                    <a:close/>
                  </a:path>
                </a:pathLst>
              </a:custGeom>
              <a:solidFill>
                <a:srgbClr val="262626"/>
              </a:solidFill>
              <a:ln cap="rnd">
                <a:noFill/>
                <a:prstDash val="solid"/>
                <a:round/>
              </a:ln>
            </p:spPr>
          </p:sp>
          <p:sp>
            <p:nvSpPr>
              <p:cNvPr name="TextBox 23" id="23"/>
              <p:cNvSpPr txBox="true"/>
              <p:nvPr/>
            </p:nvSpPr>
            <p:spPr>
              <a:xfrm>
                <a:off x="0" y="-38100"/>
                <a:ext cx="4294480" cy="821250"/>
              </a:xfrm>
              <a:prstGeom prst="rect">
                <a:avLst/>
              </a:prstGeom>
            </p:spPr>
            <p:txBody>
              <a:bodyPr anchor="ctr" rtlCol="false" tIns="50800" lIns="50800" bIns="50800" rIns="50800"/>
              <a:lstStyle/>
              <a:p>
                <a:pPr algn="ctr">
                  <a:lnSpc>
                    <a:spcPts val="2660"/>
                  </a:lnSpc>
                </a:pPr>
              </a:p>
            </p:txBody>
          </p:sp>
        </p:grpSp>
        <p:sp>
          <p:nvSpPr>
            <p:cNvPr name="TextBox 24" id="24"/>
            <p:cNvSpPr txBox="true"/>
            <p:nvPr/>
          </p:nvSpPr>
          <p:spPr>
            <a:xfrm rot="0">
              <a:off x="188193" y="149919"/>
              <a:ext cx="4066951" cy="460567"/>
            </a:xfrm>
            <a:prstGeom prst="rect">
              <a:avLst/>
            </a:prstGeom>
          </p:spPr>
          <p:txBody>
            <a:bodyPr anchor="t" rtlCol="false" tIns="0" lIns="0" bIns="0" rIns="0">
              <a:spAutoFit/>
            </a:bodyPr>
            <a:lstStyle/>
            <a:p>
              <a:pPr algn="ctr">
                <a:lnSpc>
                  <a:spcPts val="2879"/>
                </a:lnSpc>
              </a:pPr>
              <a:r>
                <a:rPr lang="en-US" sz="2056" b="true">
                  <a:solidFill>
                    <a:srgbClr val="FFFFFF"/>
                  </a:solidFill>
                  <a:latin typeface="프리텐다드 Medium"/>
                  <a:ea typeface="프리텐다드 Medium"/>
                  <a:cs typeface="프리텐다드 Medium"/>
                  <a:sym typeface="프리텐다드 Medium"/>
                </a:rPr>
                <a:t>구현 측면</a:t>
              </a:r>
            </a:p>
          </p:txBody>
        </p:sp>
      </p:grpSp>
      <p:grpSp>
        <p:nvGrpSpPr>
          <p:cNvPr name="Group 25" id="25"/>
          <p:cNvGrpSpPr/>
          <p:nvPr/>
        </p:nvGrpSpPr>
        <p:grpSpPr>
          <a:xfrm rot="0">
            <a:off x="11140909" y="3954136"/>
            <a:ext cx="3332504" cy="607722"/>
            <a:chOff x="0" y="0"/>
            <a:chExt cx="4443338" cy="810296"/>
          </a:xfrm>
        </p:grpSpPr>
        <p:grpSp>
          <p:nvGrpSpPr>
            <p:cNvPr name="Group 26" id="26"/>
            <p:cNvGrpSpPr/>
            <p:nvPr/>
          </p:nvGrpSpPr>
          <p:grpSpPr>
            <a:xfrm rot="0">
              <a:off x="0" y="0"/>
              <a:ext cx="4443338" cy="810296"/>
              <a:chOff x="0" y="0"/>
              <a:chExt cx="4294480" cy="783150"/>
            </a:xfrm>
          </p:grpSpPr>
          <p:sp>
            <p:nvSpPr>
              <p:cNvPr name="Freeform 27" id="27"/>
              <p:cNvSpPr/>
              <p:nvPr/>
            </p:nvSpPr>
            <p:spPr>
              <a:xfrm flipH="false" flipV="false" rot="0">
                <a:off x="0" y="0"/>
                <a:ext cx="4294480" cy="783150"/>
              </a:xfrm>
              <a:custGeom>
                <a:avLst/>
                <a:gdLst/>
                <a:ahLst/>
                <a:cxnLst/>
                <a:rect r="r" b="b" t="t" l="l"/>
                <a:pathLst>
                  <a:path h="783150" w="4294480">
                    <a:moveTo>
                      <a:pt x="89652" y="0"/>
                    </a:moveTo>
                    <a:lnTo>
                      <a:pt x="4204827" y="0"/>
                    </a:lnTo>
                    <a:cubicBezTo>
                      <a:pt x="4254341" y="0"/>
                      <a:pt x="4294480" y="40139"/>
                      <a:pt x="4294480" y="89652"/>
                    </a:cubicBezTo>
                    <a:lnTo>
                      <a:pt x="4294480" y="693497"/>
                    </a:lnTo>
                    <a:cubicBezTo>
                      <a:pt x="4294480" y="743011"/>
                      <a:pt x="4254341" y="783150"/>
                      <a:pt x="4204827" y="783150"/>
                    </a:cubicBezTo>
                    <a:lnTo>
                      <a:pt x="89652" y="783150"/>
                    </a:lnTo>
                    <a:cubicBezTo>
                      <a:pt x="40139" y="783150"/>
                      <a:pt x="0" y="743011"/>
                      <a:pt x="0" y="693497"/>
                    </a:cubicBezTo>
                    <a:lnTo>
                      <a:pt x="0" y="89652"/>
                    </a:lnTo>
                    <a:cubicBezTo>
                      <a:pt x="0" y="40139"/>
                      <a:pt x="40139" y="0"/>
                      <a:pt x="89652" y="0"/>
                    </a:cubicBezTo>
                    <a:close/>
                  </a:path>
                </a:pathLst>
              </a:custGeom>
              <a:solidFill>
                <a:srgbClr val="262626"/>
              </a:solidFill>
              <a:ln cap="rnd">
                <a:noFill/>
                <a:prstDash val="solid"/>
                <a:round/>
              </a:ln>
            </p:spPr>
          </p:sp>
          <p:sp>
            <p:nvSpPr>
              <p:cNvPr name="TextBox 28" id="28"/>
              <p:cNvSpPr txBox="true"/>
              <p:nvPr/>
            </p:nvSpPr>
            <p:spPr>
              <a:xfrm>
                <a:off x="0" y="-38100"/>
                <a:ext cx="4294480" cy="82125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188193" y="149919"/>
              <a:ext cx="4066951" cy="460567"/>
            </a:xfrm>
            <a:prstGeom prst="rect">
              <a:avLst/>
            </a:prstGeom>
          </p:spPr>
          <p:txBody>
            <a:bodyPr anchor="t" rtlCol="false" tIns="0" lIns="0" bIns="0" rIns="0">
              <a:spAutoFit/>
            </a:bodyPr>
            <a:lstStyle/>
            <a:p>
              <a:pPr algn="ctr">
                <a:lnSpc>
                  <a:spcPts val="2879"/>
                </a:lnSpc>
              </a:pPr>
              <a:r>
                <a:rPr lang="en-US" sz="2056" b="true">
                  <a:solidFill>
                    <a:srgbClr val="FFFFFF"/>
                  </a:solidFill>
                  <a:latin typeface="프리텐다드 Medium"/>
                  <a:ea typeface="프리텐다드 Medium"/>
                  <a:cs typeface="프리텐다드 Medium"/>
                  <a:sym typeface="프리텐다드 Medium"/>
                </a:rPr>
                <a:t>모델 측면</a:t>
              </a:r>
            </a:p>
          </p:txBody>
        </p:sp>
      </p:grpSp>
      <p:sp>
        <p:nvSpPr>
          <p:cNvPr name="TextBox 30" id="30"/>
          <p:cNvSpPr txBox="true"/>
          <p:nvPr/>
        </p:nvSpPr>
        <p:spPr>
          <a:xfrm rot="0">
            <a:off x="9753106" y="4892040"/>
            <a:ext cx="6108108" cy="1650873"/>
          </a:xfrm>
          <a:prstGeom prst="rect">
            <a:avLst/>
          </a:prstGeom>
        </p:spPr>
        <p:txBody>
          <a:bodyPr anchor="t" rtlCol="false" tIns="0" lIns="0" bIns="0" rIns="0">
            <a:spAutoFit/>
          </a:bodyPr>
          <a:lstStyle/>
          <a:p>
            <a:pPr algn="l" marL="410211" indent="-205106" lvl="1">
              <a:lnSpc>
                <a:spcPts val="4079"/>
              </a:lnSpc>
              <a:buFont typeface="Arial"/>
              <a:buChar char="•"/>
            </a:pPr>
            <a:r>
              <a:rPr lang="en-US" sz="2400">
                <a:solidFill>
                  <a:srgbClr val="262626"/>
                </a:solidFill>
                <a:latin typeface="프리텐다드"/>
                <a:ea typeface="프리텐다드"/>
                <a:cs typeface="프리텐다드"/>
                <a:sym typeface="프리텐다드"/>
              </a:rPr>
              <a:t>수평/수직 항력 분리</a:t>
            </a:r>
          </a:p>
          <a:p>
            <a:pPr algn="l" marL="410211" indent="-205106" lvl="1">
              <a:lnSpc>
                <a:spcPts val="4079"/>
              </a:lnSpc>
              <a:buFont typeface="Arial"/>
              <a:buChar char="•"/>
            </a:pPr>
            <a:r>
              <a:rPr lang="en-US" sz="2400">
                <a:solidFill>
                  <a:srgbClr val="262626"/>
                </a:solidFill>
                <a:latin typeface="프리텐다드"/>
                <a:ea typeface="프리텐다드"/>
                <a:cs typeface="프리텐다드"/>
                <a:sym typeface="프리텐다드"/>
              </a:rPr>
              <a:t>고도 PD → ±0.06 m 유지</a:t>
            </a:r>
          </a:p>
          <a:p>
            <a:pPr algn="l" marL="410211" indent="-205106" lvl="1">
              <a:lnSpc>
                <a:spcPts val="4079"/>
              </a:lnSpc>
              <a:buFont typeface="Arial"/>
              <a:buChar char="•"/>
            </a:pPr>
            <a:r>
              <a:rPr lang="en-US" sz="2400">
                <a:solidFill>
                  <a:srgbClr val="262626"/>
                </a:solidFill>
                <a:latin typeface="프리텐다드"/>
                <a:ea typeface="프리텐다드"/>
                <a:cs typeface="프리텐다드"/>
                <a:sym typeface="프리텐다드"/>
              </a:rPr>
              <a:t>고도별 풍속 보정 (멱함수)</a:t>
            </a:r>
          </a:p>
          <a:p>
            <a:pPr algn="l" marL="410211" indent="-205106" lvl="1">
              <a:lnSpc>
                <a:spcPts val="4079"/>
              </a:lnSpc>
              <a:buFont typeface="Arial"/>
              <a:buChar char="•"/>
            </a:pPr>
            <a:r>
              <a:rPr lang="en-US" sz="2400">
                <a:solidFill>
                  <a:srgbClr val="262626"/>
                </a:solidFill>
                <a:latin typeface="프리텐다드"/>
                <a:ea typeface="프리텐다드"/>
                <a:cs typeface="프리텐다드"/>
                <a:sym typeface="프리텐다드"/>
              </a:rPr>
              <a:t>대기속도 5~20 m/s 충족</a:t>
            </a:r>
          </a:p>
        </p:txBody>
      </p:sp>
    </p:spTree>
  </p:cSld>
  <p:clrMapOvr>
    <a:masterClrMapping/>
  </p:clrMapOvr>
</p:sld>
</file>

<file path=ppt/slides/slide1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9313" r="0" b="-9313"/>
            </a:stretch>
          </a:blipFill>
        </p:spPr>
      </p:sp>
      <p:sp>
        <p:nvSpPr>
          <p:cNvPr id="3" name="TextBox 3"/>
          <p:cNvSpPr txBox="1"/>
          <p:nvPr/>
        </p:nvSpPr>
        <p:spPr>
          <a:xfrm>
            <a:off x="5663438" y="1365003"/>
            <a:ext cx="6961121" cy="940046"/>
          </a:xfrm>
          <a:prstGeom prst="rect">
            <a:avLst/>
          </a:prstGeom>
        </p:spPr>
        <p:txBody>
          <a:bodyPr lIns="0" tIns="0" rIns="0" bIns="0" anchor="t">
            <a:spAutoFit/>
          </a:bodyPr>
          <a:lstStyle/>
          <a:p>
            <a:pPr lvl="0" algn="ctr">
              <a:lnSpc>
                <a:spcPts val="7419"/>
              </a:lnSpc>
              <a:spcBef>
                <a:spcPct val="0"/>
              </a:spcBef>
              <a:defRPr/>
            </a:pPr>
            <a:r>
              <a:rPr lang="ko-KR" altLang="en-US" sz="5299" b="1">
                <a:solidFill>
                  <a:srgbClr val="262626"/>
                </a:solidFill>
                <a:latin typeface="프리텐다드 Ultra-Bold"/>
                <a:ea typeface="프리텐다드 Ultra-Bold"/>
                <a:cs typeface="프리텐다드 Ultra-Bold"/>
                <a:sym typeface="프리텐다드 Ultra-Bold"/>
              </a:rPr>
              <a:t>개선 해야 할 점</a:t>
            </a:r>
            <a:endParaRPr lang="ko-KR" altLang="en-US" sz="5299" b="1">
              <a:solidFill>
                <a:srgbClr val="262626"/>
              </a:solidFill>
              <a:latin typeface="프리텐다드 Ultra-Bold"/>
              <a:ea typeface="프리텐다드 Ultra-Bold"/>
              <a:cs typeface="프리텐다드 Ultra-Bold"/>
              <a:sym typeface="프리텐다드 Ultra-Bold"/>
            </a:endParaRP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07</a:t>
            </a:r>
          </a:p>
        </p:txBody>
      </p:sp>
      <p:grpSp>
        <p:nvGrpSpPr>
          <p:cNvPr name="Group 6" id="6"/>
          <p:cNvGrpSpPr/>
          <p:nvPr/>
        </p:nvGrpSpPr>
        <p:grpSpPr>
          <a:xfrm rot="0">
            <a:off x="1399032" y="3416947"/>
            <a:ext cx="15489936" cy="5646811"/>
            <a:chOff x="0" y="0"/>
            <a:chExt cx="1501979" cy="1006718"/>
          </a:xfrm>
        </p:grpSpPr>
        <p:sp>
          <p:nvSpPr>
            <p:cNvPr name="Freeform 7" id="7"/>
            <p:cNvSpPr/>
            <p:nvPr/>
          </p:nvSpPr>
          <p:spPr>
            <a:xfrm flipH="false" flipV="false" rot="0">
              <a:off x="0" y="0"/>
              <a:ext cx="1501979" cy="1006718"/>
            </a:xfrm>
            <a:custGeom>
              <a:avLst/>
              <a:gdLst/>
              <a:ahLst/>
              <a:cxnLst/>
              <a:rect r="r" b="b" t="t" l="l"/>
              <a:pathLst>
                <a:path h="1006718" w="1501979">
                  <a:moveTo>
                    <a:pt x="24811" y="0"/>
                  </a:moveTo>
                  <a:lnTo>
                    <a:pt x="1477168" y="0"/>
                  </a:lnTo>
                  <a:cubicBezTo>
                    <a:pt x="1483748" y="0"/>
                    <a:pt x="1490059" y="2614"/>
                    <a:pt x="1494712" y="7267"/>
                  </a:cubicBezTo>
                  <a:cubicBezTo>
                    <a:pt x="1499365" y="11920"/>
                    <a:pt x="1501979" y="18231"/>
                    <a:pt x="1501979" y="24811"/>
                  </a:cubicBezTo>
                  <a:lnTo>
                    <a:pt x="1501979" y="981906"/>
                  </a:lnTo>
                  <a:cubicBezTo>
                    <a:pt x="1501979" y="988487"/>
                    <a:pt x="1499365" y="994797"/>
                    <a:pt x="1494712" y="999451"/>
                  </a:cubicBezTo>
                  <a:cubicBezTo>
                    <a:pt x="1490059" y="1004104"/>
                    <a:pt x="1483748" y="1006718"/>
                    <a:pt x="1477168" y="1006718"/>
                  </a:cubicBezTo>
                  <a:lnTo>
                    <a:pt x="24811" y="1006718"/>
                  </a:lnTo>
                  <a:cubicBezTo>
                    <a:pt x="18231" y="1006718"/>
                    <a:pt x="11920" y="1004104"/>
                    <a:pt x="7267" y="999451"/>
                  </a:cubicBezTo>
                  <a:cubicBezTo>
                    <a:pt x="2614" y="994797"/>
                    <a:pt x="0" y="988487"/>
                    <a:pt x="0" y="981906"/>
                  </a:cubicBezTo>
                  <a:lnTo>
                    <a:pt x="0" y="24811"/>
                  </a:lnTo>
                  <a:cubicBezTo>
                    <a:pt x="0" y="18231"/>
                    <a:pt x="2614" y="11920"/>
                    <a:pt x="7267" y="7267"/>
                  </a:cubicBezTo>
                  <a:cubicBezTo>
                    <a:pt x="11920" y="2614"/>
                    <a:pt x="18231" y="0"/>
                    <a:pt x="24811" y="0"/>
                  </a:cubicBezTo>
                  <a:close/>
                </a:path>
              </a:pathLst>
            </a:custGeom>
            <a:solidFill>
              <a:srgbClr val="FFFFFF"/>
            </a:solidFill>
            <a:ln cap="rnd">
              <a:noFill/>
              <a:prstDash val="solid"/>
              <a:round/>
            </a:ln>
          </p:spPr>
        </p:sp>
        <p:sp>
          <p:nvSpPr>
            <p:cNvPr name="TextBox 8" id="8"/>
            <p:cNvSpPr txBox="true"/>
            <p:nvPr/>
          </p:nvSpPr>
          <p:spPr>
            <a:xfrm>
              <a:off x="0" y="-38100"/>
              <a:ext cx="1501979" cy="104481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AutoShape 9" id="9"/>
          <p:cNvSpPr/>
          <p:nvPr/>
        </p:nvSpPr>
        <p:spPr>
          <a:xfrm>
            <a:off x="2194560" y="5415831"/>
            <a:ext cx="13898880" cy="0"/>
          </a:xfrm>
          <a:prstGeom prst="line">
            <a:avLst/>
          </a:prstGeom>
          <a:ln cap="flat" w="19050">
            <a:solidFill>
              <a:srgbClr val="DEDEDE"/>
            </a:solidFill>
            <a:prstDash val="solid"/>
            <a:headEnd type="none" len="sm" w="sm"/>
            <a:tailEnd type="none" len="sm" w="sm"/>
          </a:ln>
        </p:spPr>
      </p:sp>
      <p:sp>
        <p:nvSpPr>
          <p:cNvPr name="AutoShape 12" id="12"/>
          <p:cNvSpPr/>
          <p:nvPr/>
        </p:nvSpPr>
        <p:spPr>
          <a:xfrm>
            <a:off x="2194560" y="7098176"/>
            <a:ext cx="13898880" cy="0"/>
          </a:xfrm>
          <a:prstGeom prst="line">
            <a:avLst/>
          </a:prstGeom>
          <a:ln cap="flat" w="19050">
            <a:solidFill>
              <a:srgbClr val="DEDEDE"/>
            </a:solidFill>
            <a:prstDash val="solid"/>
            <a:headEnd type="none" len="sm" w="sm"/>
            <a:tailEnd type="none" len="sm" w="sm"/>
          </a:ln>
        </p:spPr>
      </p:sp>
      <p:sp>
        <p:nvSpPr>
          <p:cNvPr name="TextBox 13" id="13"/>
          <p:cNvSpPr txBox="true"/>
          <p:nvPr/>
        </p:nvSpPr>
        <p:spPr>
          <a:xfrm rot="0">
            <a:off x="4572000" y="4069080"/>
            <a:ext cx="11521440" cy="767829"/>
          </a:xfrm>
          <a:prstGeom prst="rect">
            <a:avLst/>
          </a:prstGeom>
        </p:spPr>
        <p:txBody>
          <a:bodyPr anchor="t" rtlCol="false" tIns="0" lIns="0" bIns="0" rIns="0">
            <a:spAutoFit/>
          </a:bodyPr>
          <a:lstStyle/>
          <a:p>
            <a:pPr algn="just">
              <a:lnSpc>
                <a:spcPts val="3000"/>
              </a:lnSpc>
            </a:pPr>
            <a:r>
              <a:rPr lang="en-US" sz="2200">
                <a:solidFill>
                  <a:srgbClr val="262626"/>
                </a:solidFill>
                <a:latin typeface="프리텐다드"/>
                <a:ea typeface="프리텐다드"/>
                <a:cs typeface="프리텐다드"/>
                <a:sym typeface="프리텐다드"/>
              </a:rPr>
              <a:t>자세(roll/pitch) · 난류 · 수직 돌풍 미반영</a:t>
            </a:r>
          </a:p>
          <a:p>
            <a:pPr algn="just">
              <a:lnSpc>
                <a:spcPts val="3000"/>
              </a:lnSpc>
            </a:pPr>
            <a:r>
              <a:rPr lang="en-US" sz="2200">
                <a:solidFill>
                  <a:srgbClr val="262626"/>
                </a:solidFill>
                <a:latin typeface="프리텐다드"/>
                <a:ea typeface="프리텐다드"/>
                <a:cs typeface="프리텐다드"/>
                <a:sym typeface="프리텐다드"/>
              </a:rPr>
              <a:t>질량 1.35 kg &gt; 논문 범위(≤ 1.07 kg)</a:t>
            </a:r>
          </a:p>
        </p:txBody>
      </p:sp>
      <p:sp>
        <p:nvSpPr>
          <p:cNvPr name="TextBox 14" id="14"/>
          <p:cNvSpPr txBox="true"/>
          <p:nvPr/>
        </p:nvSpPr>
        <p:spPr>
          <a:xfrm rot="0">
            <a:off x="4572000" y="5769864"/>
            <a:ext cx="11521440" cy="767829"/>
          </a:xfrm>
          <a:prstGeom prst="rect">
            <a:avLst/>
          </a:prstGeom>
        </p:spPr>
        <p:txBody>
          <a:bodyPr anchor="t" rtlCol="false" tIns="0" lIns="0" bIns="0" rIns="0">
            <a:spAutoFit/>
          </a:bodyPr>
          <a:lstStyle/>
          <a:p>
            <a:pPr algn="just">
              <a:lnSpc>
                <a:spcPts val="3000"/>
              </a:lnSpc>
            </a:pPr>
            <a:r>
              <a:rPr lang="en-US" sz="2200">
                <a:solidFill>
                  <a:srgbClr val="262626"/>
                </a:solidFill>
                <a:latin typeface="프리텐다드"/>
                <a:ea typeface="프리텐다드"/>
                <a:cs typeface="프리텐다드"/>
                <a:sym typeface="프리텐다드"/>
              </a:rPr>
              <a:t>순풍(+X) 조건만 존재</a:t>
            </a:r>
          </a:p>
          <a:p>
            <a:pPr algn="just">
              <a:lnSpc>
                <a:spcPts val="3000"/>
              </a:lnSpc>
            </a:pPr>
            <a:r>
              <a:rPr lang="en-US" sz="2200">
                <a:solidFill>
                  <a:srgbClr val="262626"/>
                </a:solidFill>
                <a:latin typeface="프리텐다드"/>
                <a:ea typeface="프리텐다드"/>
                <a:cs typeface="프리텐다드"/>
                <a:sym typeface="프리텐다드"/>
              </a:rPr>
              <a:t>역풍 · 측면 진입 시나리오 없음</a:t>
            </a:r>
          </a:p>
        </p:txBody>
      </p:sp>
      <p:sp>
        <p:nvSpPr>
          <p:cNvPr name="TextBox 15" id="15"/>
          <p:cNvSpPr txBox="true"/>
          <p:nvPr/>
        </p:nvSpPr>
        <p:spPr>
          <a:xfrm rot="0">
            <a:off x="4572000" y="7452360"/>
            <a:ext cx="11521440" cy="767829"/>
          </a:xfrm>
          <a:prstGeom prst="rect">
            <a:avLst/>
          </a:prstGeom>
        </p:spPr>
        <p:txBody>
          <a:bodyPr anchor="t" rtlCol="false" tIns="0" lIns="0" bIns="0" rIns="0">
            <a:spAutoFit/>
          </a:bodyPr>
          <a:lstStyle/>
          <a:p>
            <a:pPr algn="just">
              <a:lnSpc>
                <a:spcPts val="3000"/>
              </a:lnSpc>
            </a:pPr>
            <a:r>
              <a:rPr lang="en-US" sz="2200">
                <a:solidFill>
                  <a:srgbClr val="262626"/>
                </a:solidFill>
                <a:latin typeface="프리텐다드"/>
                <a:ea typeface="프리텐다드"/>
                <a:cs typeface="프리텐다드"/>
                <a:sym typeface="프리텐다드"/>
              </a:rPr>
              <a:t>C_d · A · 지수 0.14 = 가정값  ·  속도 기준(대기/대지) 정의 필요</a:t>
            </a:r>
          </a:p>
          <a:p>
            <a:pPr algn="just">
              <a:lnSpc>
                <a:spcPts val="3000"/>
              </a:lnSpc>
            </a:pPr>
            <a:r>
              <a:rPr lang="en-US" sz="2200">
                <a:solidFill>
                  <a:srgbClr val="262626"/>
                </a:solidFill>
                <a:latin typeface="프리텐다드"/>
                <a:ea typeface="프리텐다드"/>
                <a:cs typeface="프리텐다드"/>
                <a:sym typeface="프리텐다드"/>
              </a:rPr>
              <a:t>S1 고도 0 m = 외란 없음  ·  이탈 157 m = 순풍 가속</a:t>
            </a:r>
          </a:p>
        </p:txBody>
      </p:sp>
      <p:grpSp>
        <p:nvGrpSpPr>
          <p:cNvPr name="Group 16" id="16"/>
          <p:cNvGrpSpPr/>
          <p:nvPr/>
        </p:nvGrpSpPr>
        <p:grpSpPr>
          <a:xfrm rot="0">
            <a:off x="2194560" y="4024554"/>
            <a:ext cx="1831429" cy="1039281"/>
            <a:chOff x="0" y="0"/>
            <a:chExt cx="2441905" cy="1385708"/>
          </a:xfrm>
        </p:grpSpPr>
        <p:grpSp>
          <p:nvGrpSpPr>
            <p:cNvPr name="Group 17" id="17"/>
            <p:cNvGrpSpPr/>
            <p:nvPr/>
          </p:nvGrpSpPr>
          <p:grpSpPr>
            <a:xfrm rot="0">
              <a:off x="0" y="0"/>
              <a:ext cx="2441905" cy="1385708"/>
              <a:chOff x="0" y="0"/>
              <a:chExt cx="1957423" cy="1110779"/>
            </a:xfrm>
          </p:grpSpPr>
          <p:sp>
            <p:nvSpPr>
              <p:cNvPr name="Freeform 18" id="18"/>
              <p:cNvSpPr/>
              <p:nvPr/>
            </p:nvSpPr>
            <p:spPr>
              <a:xfrm flipH="false" flipV="false" rot="0">
                <a:off x="0" y="0"/>
                <a:ext cx="1957423" cy="1110779"/>
              </a:xfrm>
              <a:custGeom>
                <a:avLst/>
                <a:gdLst/>
                <a:ahLst/>
                <a:cxnLst/>
                <a:rect r="r" b="b" t="t" l="l"/>
                <a:pathLst>
                  <a:path h="1110779" w="1957423">
                    <a:moveTo>
                      <a:pt x="64039" y="0"/>
                    </a:moveTo>
                    <a:lnTo>
                      <a:pt x="1893384" y="0"/>
                    </a:lnTo>
                    <a:cubicBezTo>
                      <a:pt x="1928752" y="0"/>
                      <a:pt x="1957423" y="28671"/>
                      <a:pt x="1957423" y="64039"/>
                    </a:cubicBezTo>
                    <a:lnTo>
                      <a:pt x="1957423" y="1046740"/>
                    </a:lnTo>
                    <a:cubicBezTo>
                      <a:pt x="1957423" y="1082108"/>
                      <a:pt x="1928752" y="1110779"/>
                      <a:pt x="1893384" y="1110779"/>
                    </a:cubicBezTo>
                    <a:lnTo>
                      <a:pt x="64039" y="1110779"/>
                    </a:lnTo>
                    <a:cubicBezTo>
                      <a:pt x="28671" y="1110779"/>
                      <a:pt x="0" y="1082108"/>
                      <a:pt x="0" y="1046740"/>
                    </a:cubicBezTo>
                    <a:lnTo>
                      <a:pt x="0" y="64039"/>
                    </a:lnTo>
                    <a:cubicBezTo>
                      <a:pt x="0" y="28671"/>
                      <a:pt x="28671" y="0"/>
                      <a:pt x="64039" y="0"/>
                    </a:cubicBezTo>
                    <a:close/>
                  </a:path>
                </a:pathLst>
              </a:custGeom>
              <a:solidFill>
                <a:srgbClr val="262626"/>
              </a:solidFill>
            </p:spPr>
          </p:sp>
          <p:sp>
            <p:nvSpPr>
              <p:cNvPr name="TextBox 19" id="19"/>
              <p:cNvSpPr txBox="true"/>
              <p:nvPr/>
            </p:nvSpPr>
            <p:spPr>
              <a:xfrm>
                <a:off x="0" y="-47625"/>
                <a:ext cx="1957423" cy="1158404"/>
              </a:xfrm>
              <a:prstGeom prst="rect">
                <a:avLst/>
              </a:prstGeom>
            </p:spPr>
            <p:txBody>
              <a:bodyPr anchor="ctr" rtlCol="false" tIns="50800" lIns="50800" bIns="50800" rIns="50800"/>
              <a:lstStyle/>
              <a:p>
                <a:pPr algn="ctr">
                  <a:lnSpc>
                    <a:spcPts val="2939"/>
                  </a:lnSpc>
                </a:pPr>
              </a:p>
            </p:txBody>
          </p:sp>
        </p:grpSp>
        <p:sp>
          <p:nvSpPr>
            <p:cNvPr name="TextBox 20" id="20"/>
            <p:cNvSpPr txBox="true"/>
            <p:nvPr/>
          </p:nvSpPr>
          <p:spPr>
            <a:xfrm rot="0">
              <a:off x="274100" y="188218"/>
              <a:ext cx="1893705" cy="980696"/>
            </a:xfrm>
            <a:prstGeom prst="rect">
              <a:avLst/>
            </a:prstGeom>
          </p:spPr>
          <p:txBody>
            <a:bodyPr anchor="t" rtlCol="false" tIns="0" lIns="0" bIns="0" rIns="0">
              <a:spAutoFit/>
            </a:bodyPr>
            <a:lstStyle/>
            <a:p>
              <a:pPr algn="ctr" marL="0" indent="0" lvl="0">
                <a:lnSpc>
                  <a:spcPts val="2954"/>
                </a:lnSpc>
                <a:spcBef>
                  <a:spcPct val="0"/>
                </a:spcBef>
              </a:pPr>
              <a:r>
                <a:rPr lang="en-US" b="true" sz="2272" spc="165" strike="noStrike" u="none">
                  <a:solidFill>
                    <a:srgbClr val="FFFFFF"/>
                  </a:solidFill>
                  <a:latin typeface="프리텐다드 Medium"/>
                  <a:ea typeface="프리텐다드 Medium"/>
                  <a:cs typeface="프리텐다드 Medium"/>
                  <a:sym typeface="프리텐다드 Medium"/>
                </a:rPr>
                <a:t>모델</a:t>
              </a:r>
            </a:p>
            <a:p>
              <a:pPr algn="ctr" marL="0" indent="0" lvl="0">
                <a:lnSpc>
                  <a:spcPts val="2954"/>
                </a:lnSpc>
                <a:spcBef>
                  <a:spcPct val="0"/>
                </a:spcBef>
              </a:pPr>
              <a:r>
                <a:rPr lang="en-US" b="true" sz="2272" spc="165" strike="noStrike" u="none">
                  <a:solidFill>
                    <a:srgbClr val="FFFFFF"/>
                  </a:solidFill>
                  <a:latin typeface="프리텐다드 Medium"/>
                  <a:ea typeface="프리텐다드 Medium"/>
                  <a:cs typeface="프리텐다드 Medium"/>
                  <a:sym typeface="프리텐다드 Medium"/>
                </a:rPr>
                <a:t>단순화</a:t>
              </a:r>
            </a:p>
          </p:txBody>
        </p:sp>
      </p:grpSp>
      <p:grpSp>
        <p:nvGrpSpPr>
          <p:cNvPr name="Group 21" id="21"/>
          <p:cNvGrpSpPr/>
          <p:nvPr/>
        </p:nvGrpSpPr>
        <p:grpSpPr>
          <a:xfrm rot="0">
            <a:off x="2194560" y="5739252"/>
            <a:ext cx="1831429" cy="1039281"/>
            <a:chOff x="0" y="0"/>
            <a:chExt cx="2441905" cy="1385708"/>
          </a:xfrm>
        </p:grpSpPr>
        <p:grpSp>
          <p:nvGrpSpPr>
            <p:cNvPr name="Group 22" id="22"/>
            <p:cNvGrpSpPr/>
            <p:nvPr/>
          </p:nvGrpSpPr>
          <p:grpSpPr>
            <a:xfrm rot="0">
              <a:off x="0" y="0"/>
              <a:ext cx="2441905" cy="1385708"/>
              <a:chOff x="0" y="0"/>
              <a:chExt cx="1957423" cy="1110779"/>
            </a:xfrm>
          </p:grpSpPr>
          <p:sp>
            <p:nvSpPr>
              <p:cNvPr name="Freeform 23" id="23"/>
              <p:cNvSpPr/>
              <p:nvPr/>
            </p:nvSpPr>
            <p:spPr>
              <a:xfrm flipH="false" flipV="false" rot="0">
                <a:off x="0" y="0"/>
                <a:ext cx="1957423" cy="1110779"/>
              </a:xfrm>
              <a:custGeom>
                <a:avLst/>
                <a:gdLst/>
                <a:ahLst/>
                <a:cxnLst/>
                <a:rect r="r" b="b" t="t" l="l"/>
                <a:pathLst>
                  <a:path h="1110779" w="1957423">
                    <a:moveTo>
                      <a:pt x="64039" y="0"/>
                    </a:moveTo>
                    <a:lnTo>
                      <a:pt x="1893384" y="0"/>
                    </a:lnTo>
                    <a:cubicBezTo>
                      <a:pt x="1928752" y="0"/>
                      <a:pt x="1957423" y="28671"/>
                      <a:pt x="1957423" y="64039"/>
                    </a:cubicBezTo>
                    <a:lnTo>
                      <a:pt x="1957423" y="1046740"/>
                    </a:lnTo>
                    <a:cubicBezTo>
                      <a:pt x="1957423" y="1082108"/>
                      <a:pt x="1928752" y="1110779"/>
                      <a:pt x="1893384" y="1110779"/>
                    </a:cubicBezTo>
                    <a:lnTo>
                      <a:pt x="64039" y="1110779"/>
                    </a:lnTo>
                    <a:cubicBezTo>
                      <a:pt x="28671" y="1110779"/>
                      <a:pt x="0" y="1082108"/>
                      <a:pt x="0" y="1046740"/>
                    </a:cubicBezTo>
                    <a:lnTo>
                      <a:pt x="0" y="64039"/>
                    </a:lnTo>
                    <a:cubicBezTo>
                      <a:pt x="0" y="28671"/>
                      <a:pt x="28671" y="0"/>
                      <a:pt x="64039" y="0"/>
                    </a:cubicBezTo>
                    <a:close/>
                  </a:path>
                </a:pathLst>
              </a:custGeom>
              <a:solidFill>
                <a:srgbClr val="262626"/>
              </a:solidFill>
            </p:spPr>
          </p:sp>
          <p:sp>
            <p:nvSpPr>
              <p:cNvPr name="TextBox 24" id="24"/>
              <p:cNvSpPr txBox="true"/>
              <p:nvPr/>
            </p:nvSpPr>
            <p:spPr>
              <a:xfrm>
                <a:off x="0" y="-47625"/>
                <a:ext cx="1957423" cy="1158404"/>
              </a:xfrm>
              <a:prstGeom prst="rect">
                <a:avLst/>
              </a:prstGeom>
            </p:spPr>
            <p:txBody>
              <a:bodyPr anchor="ctr" rtlCol="false" tIns="50800" lIns="50800" bIns="50800" rIns="50800"/>
              <a:lstStyle/>
              <a:p>
                <a:pPr algn="ctr">
                  <a:lnSpc>
                    <a:spcPts val="2939"/>
                  </a:lnSpc>
                </a:pPr>
              </a:p>
            </p:txBody>
          </p:sp>
        </p:grpSp>
        <p:sp>
          <p:nvSpPr>
            <p:cNvPr name="TextBox 25" id="25"/>
            <p:cNvSpPr txBox="true"/>
            <p:nvPr/>
          </p:nvSpPr>
          <p:spPr>
            <a:xfrm rot="0">
              <a:off x="274100" y="151337"/>
              <a:ext cx="1893705" cy="980696"/>
            </a:xfrm>
            <a:prstGeom prst="rect">
              <a:avLst/>
            </a:prstGeom>
          </p:spPr>
          <p:txBody>
            <a:bodyPr anchor="t" rtlCol="false" tIns="0" lIns="0" bIns="0" rIns="0">
              <a:spAutoFit/>
            </a:bodyPr>
            <a:lstStyle/>
            <a:p>
              <a:pPr algn="ctr" marL="0" indent="0" lvl="0">
                <a:lnSpc>
                  <a:spcPts val="2954"/>
                </a:lnSpc>
                <a:spcBef>
                  <a:spcPct val="0"/>
                </a:spcBef>
              </a:pPr>
              <a:r>
                <a:rPr lang="en-US" b="true" sz="2272" spc="165" strike="noStrike" u="none">
                  <a:solidFill>
                    <a:srgbClr val="FFFFFF"/>
                  </a:solidFill>
                  <a:latin typeface="프리텐다드 Medium"/>
                  <a:ea typeface="프리텐다드 Medium"/>
                  <a:cs typeface="프리텐다드 Medium"/>
                  <a:sym typeface="프리텐다드 Medium"/>
                </a:rPr>
                <a:t>시나리오</a:t>
              </a:r>
            </a:p>
            <a:p>
              <a:pPr algn="ctr" marL="0" indent="0" lvl="0">
                <a:lnSpc>
                  <a:spcPts val="2954"/>
                </a:lnSpc>
                <a:spcBef>
                  <a:spcPct val="0"/>
                </a:spcBef>
              </a:pPr>
              <a:r>
                <a:rPr lang="en-US" b="true" sz="2272" spc="165" strike="noStrike" u="none">
                  <a:solidFill>
                    <a:srgbClr val="FFFFFF"/>
                  </a:solidFill>
                  <a:latin typeface="프리텐다드 Medium"/>
                  <a:ea typeface="프리텐다드 Medium"/>
                  <a:cs typeface="프리텐다드 Medium"/>
                  <a:sym typeface="프리텐다드 Medium"/>
                </a:rPr>
                <a:t>범위</a:t>
              </a:r>
            </a:p>
          </p:txBody>
        </p:sp>
      </p:grpSp>
      <p:grpSp>
        <p:nvGrpSpPr>
          <p:cNvPr name="Group 26" id="26"/>
          <p:cNvGrpSpPr/>
          <p:nvPr/>
        </p:nvGrpSpPr>
        <p:grpSpPr>
          <a:xfrm rot="0">
            <a:off x="2194560" y="7417818"/>
            <a:ext cx="1831429" cy="1039281"/>
            <a:chOff x="0" y="0"/>
            <a:chExt cx="2441905" cy="1385708"/>
          </a:xfrm>
        </p:grpSpPr>
        <p:grpSp>
          <p:nvGrpSpPr>
            <p:cNvPr name="Group 27" id="27"/>
            <p:cNvGrpSpPr/>
            <p:nvPr/>
          </p:nvGrpSpPr>
          <p:grpSpPr>
            <a:xfrm rot="0">
              <a:off x="0" y="0"/>
              <a:ext cx="2441905" cy="1385708"/>
              <a:chOff x="0" y="0"/>
              <a:chExt cx="1957423" cy="1110779"/>
            </a:xfrm>
          </p:grpSpPr>
          <p:sp>
            <p:nvSpPr>
              <p:cNvPr name="Freeform 28" id="28"/>
              <p:cNvSpPr/>
              <p:nvPr/>
            </p:nvSpPr>
            <p:spPr>
              <a:xfrm flipH="false" flipV="false" rot="0">
                <a:off x="0" y="0"/>
                <a:ext cx="1957423" cy="1110779"/>
              </a:xfrm>
              <a:custGeom>
                <a:avLst/>
                <a:gdLst/>
                <a:ahLst/>
                <a:cxnLst/>
                <a:rect r="r" b="b" t="t" l="l"/>
                <a:pathLst>
                  <a:path h="1110779" w="1957423">
                    <a:moveTo>
                      <a:pt x="64039" y="0"/>
                    </a:moveTo>
                    <a:lnTo>
                      <a:pt x="1893384" y="0"/>
                    </a:lnTo>
                    <a:cubicBezTo>
                      <a:pt x="1928752" y="0"/>
                      <a:pt x="1957423" y="28671"/>
                      <a:pt x="1957423" y="64039"/>
                    </a:cubicBezTo>
                    <a:lnTo>
                      <a:pt x="1957423" y="1046740"/>
                    </a:lnTo>
                    <a:cubicBezTo>
                      <a:pt x="1957423" y="1082108"/>
                      <a:pt x="1928752" y="1110779"/>
                      <a:pt x="1893384" y="1110779"/>
                    </a:cubicBezTo>
                    <a:lnTo>
                      <a:pt x="64039" y="1110779"/>
                    </a:lnTo>
                    <a:cubicBezTo>
                      <a:pt x="28671" y="1110779"/>
                      <a:pt x="0" y="1082108"/>
                      <a:pt x="0" y="1046740"/>
                    </a:cubicBezTo>
                    <a:lnTo>
                      <a:pt x="0" y="64039"/>
                    </a:lnTo>
                    <a:cubicBezTo>
                      <a:pt x="0" y="28671"/>
                      <a:pt x="28671" y="0"/>
                      <a:pt x="64039" y="0"/>
                    </a:cubicBezTo>
                    <a:close/>
                  </a:path>
                </a:pathLst>
              </a:custGeom>
              <a:solidFill>
                <a:srgbClr val="262626"/>
              </a:solidFill>
            </p:spPr>
          </p:sp>
          <p:sp>
            <p:nvSpPr>
              <p:cNvPr name="TextBox 29" id="29"/>
              <p:cNvSpPr txBox="true"/>
              <p:nvPr/>
            </p:nvSpPr>
            <p:spPr>
              <a:xfrm>
                <a:off x="0" y="-47625"/>
                <a:ext cx="1957423" cy="1158404"/>
              </a:xfrm>
              <a:prstGeom prst="rect">
                <a:avLst/>
              </a:prstGeom>
            </p:spPr>
            <p:txBody>
              <a:bodyPr anchor="ctr" rtlCol="false" tIns="50800" lIns="50800" bIns="50800" rIns="50800"/>
              <a:lstStyle/>
              <a:p>
                <a:pPr algn="ctr">
                  <a:lnSpc>
                    <a:spcPts val="2939"/>
                  </a:lnSpc>
                </a:pPr>
              </a:p>
            </p:txBody>
          </p:sp>
        </p:grpSp>
        <p:sp>
          <p:nvSpPr>
            <p:cNvPr name="TextBox 30" id="30"/>
            <p:cNvSpPr txBox="true"/>
            <p:nvPr/>
          </p:nvSpPr>
          <p:spPr>
            <a:xfrm rot="0">
              <a:off x="274100" y="188218"/>
              <a:ext cx="1893705" cy="980696"/>
            </a:xfrm>
            <a:prstGeom prst="rect">
              <a:avLst/>
            </a:prstGeom>
          </p:spPr>
          <p:txBody>
            <a:bodyPr anchor="t" rtlCol="false" tIns="0" lIns="0" bIns="0" rIns="0">
              <a:spAutoFit/>
            </a:bodyPr>
            <a:lstStyle/>
            <a:p>
              <a:pPr algn="ctr">
                <a:lnSpc>
                  <a:spcPts val="2954"/>
                </a:lnSpc>
              </a:pPr>
              <a:r>
                <a:rPr lang="en-US" b="true" sz="2272" spc="165">
                  <a:solidFill>
                    <a:srgbClr val="FFFFFF"/>
                  </a:solidFill>
                  <a:latin typeface="프리텐다드 Medium"/>
                  <a:ea typeface="프리텐다드 Medium"/>
                  <a:cs typeface="프리텐다드 Medium"/>
                  <a:sym typeface="프리텐다드 Medium"/>
                </a:rPr>
                <a:t>검증</a:t>
              </a:r>
            </a:p>
            <a:p>
              <a:pPr algn="ctr">
                <a:lnSpc>
                  <a:spcPts val="2954"/>
                </a:lnSpc>
              </a:pPr>
              <a:r>
                <a:rPr lang="en-US" b="true" sz="2272" spc="165">
                  <a:solidFill>
                    <a:srgbClr val="FFFFFF"/>
                  </a:solidFill>
                  <a:latin typeface="프리텐다드 Medium"/>
                  <a:ea typeface="프리텐다드 Medium"/>
                  <a:cs typeface="프리텐다드 Medium"/>
                  <a:sym typeface="프리텐다드 Medium"/>
                </a:rPr>
                <a:t>해석</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결론 및 향후 계획</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08</a:t>
            </a:r>
          </a:p>
        </p:txBody>
      </p:sp>
      <p:grpSp>
        <p:nvGrpSpPr>
          <p:cNvPr name="Group 6" id="6"/>
          <p:cNvGrpSpPr/>
          <p:nvPr/>
        </p:nvGrpSpPr>
        <p:grpSpPr>
          <a:xfrm rot="0">
            <a:off x="1999431" y="3312248"/>
            <a:ext cx="6962817" cy="4065124"/>
            <a:chOff x="0" y="0"/>
            <a:chExt cx="1343229" cy="784222"/>
          </a:xfrm>
        </p:grpSpPr>
        <p:sp>
          <p:nvSpPr>
            <p:cNvPr name="Freeform 7" id="7"/>
            <p:cNvSpPr/>
            <p:nvPr/>
          </p:nvSpPr>
          <p:spPr>
            <a:xfrm flipH="false" flipV="false" rot="0">
              <a:off x="0" y="0"/>
              <a:ext cx="1343229" cy="784222"/>
            </a:xfrm>
            <a:custGeom>
              <a:avLst/>
              <a:gdLst/>
              <a:ahLst/>
              <a:cxnLst/>
              <a:rect r="r" b="b" t="t" l="l"/>
              <a:pathLst>
                <a:path h="784222" w="1343229">
                  <a:moveTo>
                    <a:pt x="30021" y="0"/>
                  </a:moveTo>
                  <a:lnTo>
                    <a:pt x="1313208" y="0"/>
                  </a:lnTo>
                  <a:cubicBezTo>
                    <a:pt x="1321170" y="0"/>
                    <a:pt x="1328806" y="3163"/>
                    <a:pt x="1334436" y="8793"/>
                  </a:cubicBezTo>
                  <a:cubicBezTo>
                    <a:pt x="1340066" y="14423"/>
                    <a:pt x="1343229" y="22059"/>
                    <a:pt x="1343229" y="30021"/>
                  </a:cubicBezTo>
                  <a:lnTo>
                    <a:pt x="1343229" y="754200"/>
                  </a:lnTo>
                  <a:cubicBezTo>
                    <a:pt x="1343229" y="762163"/>
                    <a:pt x="1340066" y="769799"/>
                    <a:pt x="1334436" y="775429"/>
                  </a:cubicBezTo>
                  <a:cubicBezTo>
                    <a:pt x="1328806" y="781059"/>
                    <a:pt x="1321170" y="784222"/>
                    <a:pt x="1313208" y="784222"/>
                  </a:cubicBezTo>
                  <a:lnTo>
                    <a:pt x="30021" y="784222"/>
                  </a:lnTo>
                  <a:cubicBezTo>
                    <a:pt x="22059" y="784222"/>
                    <a:pt x="14423" y="781059"/>
                    <a:pt x="8793" y="775429"/>
                  </a:cubicBezTo>
                  <a:cubicBezTo>
                    <a:pt x="3163" y="769799"/>
                    <a:pt x="0" y="762163"/>
                    <a:pt x="0" y="754200"/>
                  </a:cubicBezTo>
                  <a:lnTo>
                    <a:pt x="0" y="30021"/>
                  </a:lnTo>
                  <a:cubicBezTo>
                    <a:pt x="0" y="22059"/>
                    <a:pt x="3163" y="14423"/>
                    <a:pt x="8793" y="8793"/>
                  </a:cubicBezTo>
                  <a:cubicBezTo>
                    <a:pt x="14423" y="3163"/>
                    <a:pt x="22059" y="0"/>
                    <a:pt x="30021" y="0"/>
                  </a:cubicBezTo>
                  <a:close/>
                </a:path>
              </a:pathLst>
            </a:custGeom>
            <a:solidFill>
              <a:srgbClr val="FFFFFF"/>
            </a:solidFill>
            <a:ln cap="rnd">
              <a:noFill/>
              <a:prstDash val="solid"/>
              <a:round/>
            </a:ln>
          </p:spPr>
        </p:sp>
        <p:sp>
          <p:nvSpPr>
            <p:cNvPr name="TextBox 8" id="8"/>
            <p:cNvSpPr txBox="true"/>
            <p:nvPr/>
          </p:nvSpPr>
          <p:spPr>
            <a:xfrm>
              <a:off x="0" y="-38100"/>
              <a:ext cx="1343229" cy="82232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9" id="9"/>
          <p:cNvGrpSpPr/>
          <p:nvPr/>
        </p:nvGrpSpPr>
        <p:grpSpPr>
          <a:xfrm rot="0">
            <a:off x="9325752" y="3312248"/>
            <a:ext cx="6962817" cy="4065124"/>
            <a:chOff x="0" y="0"/>
            <a:chExt cx="1343229" cy="784222"/>
          </a:xfrm>
        </p:grpSpPr>
        <p:sp>
          <p:nvSpPr>
            <p:cNvPr name="Freeform 10" id="10"/>
            <p:cNvSpPr/>
            <p:nvPr/>
          </p:nvSpPr>
          <p:spPr>
            <a:xfrm flipH="false" flipV="false" rot="0">
              <a:off x="0" y="0"/>
              <a:ext cx="1343229" cy="784222"/>
            </a:xfrm>
            <a:custGeom>
              <a:avLst/>
              <a:gdLst/>
              <a:ahLst/>
              <a:cxnLst/>
              <a:rect r="r" b="b" t="t" l="l"/>
              <a:pathLst>
                <a:path h="784222" w="1343229">
                  <a:moveTo>
                    <a:pt x="30021" y="0"/>
                  </a:moveTo>
                  <a:lnTo>
                    <a:pt x="1313208" y="0"/>
                  </a:lnTo>
                  <a:cubicBezTo>
                    <a:pt x="1321170" y="0"/>
                    <a:pt x="1328806" y="3163"/>
                    <a:pt x="1334436" y="8793"/>
                  </a:cubicBezTo>
                  <a:cubicBezTo>
                    <a:pt x="1340066" y="14423"/>
                    <a:pt x="1343229" y="22059"/>
                    <a:pt x="1343229" y="30021"/>
                  </a:cubicBezTo>
                  <a:lnTo>
                    <a:pt x="1343229" y="754200"/>
                  </a:lnTo>
                  <a:cubicBezTo>
                    <a:pt x="1343229" y="762163"/>
                    <a:pt x="1340066" y="769799"/>
                    <a:pt x="1334436" y="775429"/>
                  </a:cubicBezTo>
                  <a:cubicBezTo>
                    <a:pt x="1328806" y="781059"/>
                    <a:pt x="1321170" y="784222"/>
                    <a:pt x="1313208" y="784222"/>
                  </a:cubicBezTo>
                  <a:lnTo>
                    <a:pt x="30021" y="784222"/>
                  </a:lnTo>
                  <a:cubicBezTo>
                    <a:pt x="22059" y="784222"/>
                    <a:pt x="14423" y="781059"/>
                    <a:pt x="8793" y="775429"/>
                  </a:cubicBezTo>
                  <a:cubicBezTo>
                    <a:pt x="3163" y="769799"/>
                    <a:pt x="0" y="762163"/>
                    <a:pt x="0" y="754200"/>
                  </a:cubicBezTo>
                  <a:lnTo>
                    <a:pt x="0" y="30021"/>
                  </a:lnTo>
                  <a:cubicBezTo>
                    <a:pt x="0" y="22059"/>
                    <a:pt x="3163" y="14423"/>
                    <a:pt x="8793" y="8793"/>
                  </a:cubicBezTo>
                  <a:cubicBezTo>
                    <a:pt x="14423" y="3163"/>
                    <a:pt x="22059" y="0"/>
                    <a:pt x="30021" y="0"/>
                  </a:cubicBezTo>
                  <a:close/>
                </a:path>
              </a:pathLst>
            </a:custGeom>
            <a:solidFill>
              <a:srgbClr val="FFFFFF"/>
            </a:solidFill>
            <a:ln cap="rnd">
              <a:noFill/>
              <a:prstDash val="solid"/>
              <a:round/>
            </a:ln>
          </p:spPr>
        </p:sp>
        <p:sp>
          <p:nvSpPr>
            <p:cNvPr name="TextBox 11" id="11"/>
            <p:cNvSpPr txBox="true"/>
            <p:nvPr/>
          </p:nvSpPr>
          <p:spPr>
            <a:xfrm>
              <a:off x="0" y="-38100"/>
              <a:ext cx="1343229" cy="822322"/>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2" id="12"/>
          <p:cNvGrpSpPr/>
          <p:nvPr/>
        </p:nvGrpSpPr>
        <p:grpSpPr>
          <a:xfrm rot="0">
            <a:off x="1999431" y="7655413"/>
            <a:ext cx="14289138" cy="1398636"/>
            <a:chOff x="0" y="0"/>
            <a:chExt cx="16525756" cy="1617558"/>
          </a:xfrm>
        </p:grpSpPr>
        <p:sp>
          <p:nvSpPr>
            <p:cNvPr name="Freeform 13" id="13"/>
            <p:cNvSpPr/>
            <p:nvPr/>
          </p:nvSpPr>
          <p:spPr>
            <a:xfrm flipH="false" flipV="false" rot="0">
              <a:off x="0" y="0"/>
              <a:ext cx="16525756" cy="1617558"/>
            </a:xfrm>
            <a:custGeom>
              <a:avLst/>
              <a:gdLst/>
              <a:ahLst/>
              <a:cxnLst/>
              <a:rect r="r" b="b" t="t" l="l"/>
              <a:pathLst>
                <a:path h="1617558" w="16525756">
                  <a:moveTo>
                    <a:pt x="14629" y="0"/>
                  </a:moveTo>
                  <a:lnTo>
                    <a:pt x="16511127" y="0"/>
                  </a:lnTo>
                  <a:cubicBezTo>
                    <a:pt x="16519206" y="0"/>
                    <a:pt x="16525756" y="6550"/>
                    <a:pt x="16525756" y="14629"/>
                  </a:cubicBezTo>
                  <a:lnTo>
                    <a:pt x="16525756" y="1602930"/>
                  </a:lnTo>
                  <a:cubicBezTo>
                    <a:pt x="16525756" y="1611009"/>
                    <a:pt x="16519206" y="1617558"/>
                    <a:pt x="16511127" y="1617558"/>
                  </a:cubicBezTo>
                  <a:lnTo>
                    <a:pt x="14629" y="1617558"/>
                  </a:lnTo>
                  <a:cubicBezTo>
                    <a:pt x="6550" y="1617558"/>
                    <a:pt x="0" y="1611009"/>
                    <a:pt x="0" y="1602930"/>
                  </a:cubicBezTo>
                  <a:lnTo>
                    <a:pt x="0" y="14629"/>
                  </a:lnTo>
                  <a:cubicBezTo>
                    <a:pt x="0" y="6550"/>
                    <a:pt x="6550" y="0"/>
                    <a:pt x="14629" y="0"/>
                  </a:cubicBezTo>
                  <a:close/>
                </a:path>
              </a:pathLst>
            </a:custGeom>
            <a:solidFill>
              <a:srgbClr val="FFFFFF"/>
            </a:solidFill>
            <a:ln cap="rnd">
              <a:noFill/>
              <a:prstDash val="solid"/>
              <a:round/>
            </a:ln>
          </p:spPr>
        </p:sp>
        <p:sp>
          <p:nvSpPr>
            <p:cNvPr name="TextBox 14" id="14"/>
            <p:cNvSpPr txBox="true"/>
            <p:nvPr/>
          </p:nvSpPr>
          <p:spPr>
            <a:xfrm>
              <a:off x="0" y="-38100"/>
              <a:ext cx="16525756" cy="1655658"/>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5" id="15"/>
          <p:cNvSpPr/>
          <p:nvPr/>
        </p:nvSpPr>
        <p:spPr>
          <a:xfrm flipH="false" flipV="false" rot="0">
            <a:off x="2810214" y="8186229"/>
            <a:ext cx="303917" cy="337004"/>
          </a:xfrm>
          <a:custGeom>
            <a:avLst/>
            <a:gdLst/>
            <a:ahLst/>
            <a:cxnLst/>
            <a:rect r="r" b="b" t="t" l="l"/>
            <a:pathLst>
              <a:path h="337004" w="303917">
                <a:moveTo>
                  <a:pt x="0" y="0"/>
                </a:moveTo>
                <a:lnTo>
                  <a:pt x="303917" y="0"/>
                </a:lnTo>
                <a:lnTo>
                  <a:pt x="303917" y="337004"/>
                </a:lnTo>
                <a:lnTo>
                  <a:pt x="0" y="33700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3375013" y="8093787"/>
            <a:ext cx="932350" cy="464737"/>
          </a:xfrm>
          <a:prstGeom prst="rect">
            <a:avLst/>
          </a:prstGeom>
        </p:spPr>
        <p:txBody>
          <a:bodyPr anchor="t" rtlCol="false" tIns="0" lIns="0" bIns="0" rIns="0">
            <a:spAutoFit/>
          </a:bodyPr>
          <a:lstStyle/>
          <a:p>
            <a:pPr algn="l">
              <a:lnSpc>
                <a:spcPts val="3784"/>
              </a:lnSpc>
            </a:pPr>
            <a:r>
              <a:rPr lang="en-US" b="true" sz="2703" spc="494">
                <a:solidFill>
                  <a:srgbClr val="262626"/>
                </a:solidFill>
                <a:latin typeface="프리텐다드 Bold"/>
                <a:ea typeface="프리텐다드 Bold"/>
                <a:cs typeface="프리텐다드 Bold"/>
                <a:sym typeface="프리텐다드 Bold"/>
              </a:rPr>
              <a:t>요약</a:t>
            </a:r>
          </a:p>
        </p:txBody>
      </p:sp>
      <p:sp>
        <p:nvSpPr>
          <p:cNvPr name="TextBox 17" id="17"/>
          <p:cNvSpPr txBox="true"/>
          <p:nvPr/>
        </p:nvSpPr>
        <p:spPr>
          <a:xfrm rot="0">
            <a:off x="4968630" y="7945791"/>
            <a:ext cx="10496202" cy="741680"/>
          </a:xfrm>
          <a:prstGeom prst="rect">
            <a:avLst/>
          </a:prstGeom>
        </p:spPr>
        <p:txBody>
          <a:bodyPr anchor="t" rtlCol="false" tIns="0" lIns="0" bIns="0" rIns="0">
            <a:spAutoFit/>
          </a:bodyPr>
          <a:lstStyle/>
          <a:p>
            <a:pPr algn="just">
              <a:lnSpc>
                <a:spcPts val="3040"/>
              </a:lnSpc>
            </a:pPr>
            <a:r>
              <a:rPr lang="en-US" b="true" sz="2000">
                <a:solidFill>
                  <a:srgbClr val="262626"/>
                </a:solidFill>
                <a:latin typeface="프리텐다드 Bold"/>
                <a:ea typeface="프리텐다드 Bold"/>
                <a:cs typeface="프리텐다드 Bold"/>
                <a:sym typeface="프리텐다드 Bold"/>
              </a:rPr>
              <a:t>Step 1 = 전체 파이프라인의 입력 궤적 모듈</a:t>
            </a:r>
          </a:p>
          <a:p>
            <a:pPr algn="just">
              <a:lnSpc>
                <a:spcPts val="3040"/>
              </a:lnSpc>
            </a:pPr>
            <a:r>
              <a:rPr lang="en-US" sz="2000">
                <a:solidFill>
                  <a:srgbClr val="262626"/>
                </a:solidFill>
                <a:latin typeface="프리텐다드"/>
                <a:ea typeface="프리텐다드"/>
                <a:cs typeface="프리텐다드"/>
                <a:sym typeface="프리텐다드"/>
              </a:rPr>
              <a:t>파라미터 보완 후 Step 2 학습 데이터로 활용</a:t>
            </a:r>
          </a:p>
        </p:txBody>
      </p:sp>
      <p:sp>
        <p:nvSpPr>
          <p:cNvPr name="AutoShape 18" id="18"/>
          <p:cNvSpPr/>
          <p:nvPr/>
        </p:nvSpPr>
        <p:spPr>
          <a:xfrm>
            <a:off x="4448166" y="8068447"/>
            <a:ext cx="0" cy="572567"/>
          </a:xfrm>
          <a:prstGeom prst="line">
            <a:avLst/>
          </a:prstGeom>
          <a:ln cap="flat" w="19050">
            <a:solidFill>
              <a:srgbClr val="262626"/>
            </a:solidFill>
            <a:prstDash val="solid"/>
            <a:headEnd type="none" len="sm" w="sm"/>
            <a:tailEnd type="none" len="sm" w="sm"/>
          </a:ln>
        </p:spPr>
      </p:sp>
      <p:sp>
        <p:nvSpPr>
          <p:cNvPr name="TextBox 19" id="19"/>
          <p:cNvSpPr txBox="true"/>
          <p:nvPr/>
        </p:nvSpPr>
        <p:spPr>
          <a:xfrm rot="0">
            <a:off x="2426785" y="4892040"/>
            <a:ext cx="6108108" cy="1650873"/>
          </a:xfrm>
          <a:prstGeom prst="rect">
            <a:avLst/>
          </a:prstGeom>
        </p:spPr>
        <p:txBody>
          <a:bodyPr anchor="t" rtlCol="false" tIns="0" lIns="0" bIns="0" rIns="0">
            <a:spAutoFit/>
          </a:bodyPr>
          <a:lstStyle/>
          <a:p>
            <a:pPr algn="l" marL="410211" indent="-205106" lvl="1">
              <a:lnSpc>
                <a:spcPts val="3740"/>
              </a:lnSpc>
              <a:buFont typeface="Arial"/>
              <a:buChar char="•"/>
            </a:pPr>
            <a:r>
              <a:rPr lang="en-US" sz="2200">
                <a:solidFill>
                  <a:srgbClr val="262626"/>
                </a:solidFill>
                <a:latin typeface="프리텐다드"/>
                <a:ea typeface="프리텐다드"/>
                <a:cs typeface="프리텐다드"/>
                <a:sym typeface="프리텐다드"/>
              </a:rPr>
              <a:t>항력 · 바람 · 고도 PD 궤적 생성기</a:t>
            </a:r>
          </a:p>
          <a:p>
            <a:pPr algn="l" marL="410211" indent="-205106" lvl="1">
              <a:lnSpc>
                <a:spcPts val="3740"/>
              </a:lnSpc>
              <a:buFont typeface="Arial"/>
              <a:buChar char="•"/>
            </a:pPr>
            <a:r>
              <a:rPr lang="en-US" sz="2200">
                <a:solidFill>
                  <a:srgbClr val="262626"/>
                </a:solidFill>
                <a:latin typeface="프리텐다드"/>
                <a:ea typeface="프리텐다드"/>
                <a:cs typeface="프리텐다드"/>
                <a:sym typeface="프리텐다드"/>
              </a:rPr>
              <a:t>고도 ±0.06 m 유지 (기준 ±2 m)</a:t>
            </a:r>
          </a:p>
          <a:p>
            <a:pPr algn="l" marL="410211" indent="-205106" lvl="1">
              <a:lnSpc>
                <a:spcPts val="3740"/>
              </a:lnSpc>
              <a:buFont typeface="Arial"/>
              <a:buChar char="•"/>
            </a:pPr>
            <a:r>
              <a:rPr lang="en-US" sz="2200">
                <a:solidFill>
                  <a:srgbClr val="262626"/>
                </a:solidFill>
                <a:latin typeface="프리텐다드"/>
                <a:ea typeface="프리텐다드"/>
                <a:cs typeface="프리텐다드"/>
                <a:sym typeface="프리텐다드"/>
              </a:rPr>
              <a:t>α 3.34° vs 0° → 궤적 구분 가능</a:t>
            </a:r>
          </a:p>
          <a:p>
            <a:pPr algn="l" marL="410211" indent="-205106" lvl="1">
              <a:lnSpc>
                <a:spcPts val="3740"/>
              </a:lnSpc>
              <a:buFont typeface="Arial"/>
              <a:buChar char="•"/>
            </a:pPr>
            <a:r>
              <a:rPr lang="en-US" sz="2200">
                <a:solidFill>
                  <a:srgbClr val="262626"/>
                </a:solidFill>
                <a:latin typeface="프리텐다드"/>
                <a:ea typeface="프리텐다드"/>
                <a:cs typeface="프리텐다드"/>
                <a:sym typeface="프리텐다드"/>
              </a:rPr>
              <a:t>풍속별 궤적 차이 정량 확인</a:t>
            </a:r>
          </a:p>
        </p:txBody>
      </p:sp>
      <p:grpSp>
        <p:nvGrpSpPr>
          <p:cNvPr name="Group 20" id="20"/>
          <p:cNvGrpSpPr/>
          <p:nvPr/>
        </p:nvGrpSpPr>
        <p:grpSpPr>
          <a:xfrm rot="0">
            <a:off x="3814588" y="3954136"/>
            <a:ext cx="3332504" cy="607722"/>
            <a:chOff x="0" y="0"/>
            <a:chExt cx="4443338" cy="810296"/>
          </a:xfrm>
        </p:grpSpPr>
        <p:grpSp>
          <p:nvGrpSpPr>
            <p:cNvPr name="Group 21" id="21"/>
            <p:cNvGrpSpPr/>
            <p:nvPr/>
          </p:nvGrpSpPr>
          <p:grpSpPr>
            <a:xfrm rot="0">
              <a:off x="0" y="0"/>
              <a:ext cx="4443338" cy="810296"/>
              <a:chOff x="0" y="0"/>
              <a:chExt cx="4294480" cy="783150"/>
            </a:xfrm>
          </p:grpSpPr>
          <p:sp>
            <p:nvSpPr>
              <p:cNvPr name="Freeform 22" id="22"/>
              <p:cNvSpPr/>
              <p:nvPr/>
            </p:nvSpPr>
            <p:spPr>
              <a:xfrm flipH="false" flipV="false" rot="0">
                <a:off x="0" y="0"/>
                <a:ext cx="4294480" cy="783150"/>
              </a:xfrm>
              <a:custGeom>
                <a:avLst/>
                <a:gdLst/>
                <a:ahLst/>
                <a:cxnLst/>
                <a:rect r="r" b="b" t="t" l="l"/>
                <a:pathLst>
                  <a:path h="783150" w="4294480">
                    <a:moveTo>
                      <a:pt x="89652" y="0"/>
                    </a:moveTo>
                    <a:lnTo>
                      <a:pt x="4204827" y="0"/>
                    </a:lnTo>
                    <a:cubicBezTo>
                      <a:pt x="4254341" y="0"/>
                      <a:pt x="4294480" y="40139"/>
                      <a:pt x="4294480" y="89652"/>
                    </a:cubicBezTo>
                    <a:lnTo>
                      <a:pt x="4294480" y="693497"/>
                    </a:lnTo>
                    <a:cubicBezTo>
                      <a:pt x="4294480" y="743011"/>
                      <a:pt x="4254341" y="783150"/>
                      <a:pt x="4204827" y="783150"/>
                    </a:cubicBezTo>
                    <a:lnTo>
                      <a:pt x="89652" y="783150"/>
                    </a:lnTo>
                    <a:cubicBezTo>
                      <a:pt x="40139" y="783150"/>
                      <a:pt x="0" y="743011"/>
                      <a:pt x="0" y="693497"/>
                    </a:cubicBezTo>
                    <a:lnTo>
                      <a:pt x="0" y="89652"/>
                    </a:lnTo>
                    <a:cubicBezTo>
                      <a:pt x="0" y="40139"/>
                      <a:pt x="40139" y="0"/>
                      <a:pt x="89652" y="0"/>
                    </a:cubicBezTo>
                    <a:close/>
                  </a:path>
                </a:pathLst>
              </a:custGeom>
              <a:solidFill>
                <a:srgbClr val="262626"/>
              </a:solidFill>
              <a:ln cap="rnd">
                <a:noFill/>
                <a:prstDash val="solid"/>
                <a:round/>
              </a:ln>
            </p:spPr>
          </p:sp>
          <p:sp>
            <p:nvSpPr>
              <p:cNvPr name="TextBox 23" id="23"/>
              <p:cNvSpPr txBox="true"/>
              <p:nvPr/>
            </p:nvSpPr>
            <p:spPr>
              <a:xfrm>
                <a:off x="0" y="-38100"/>
                <a:ext cx="4294480" cy="821250"/>
              </a:xfrm>
              <a:prstGeom prst="rect">
                <a:avLst/>
              </a:prstGeom>
            </p:spPr>
            <p:txBody>
              <a:bodyPr anchor="ctr" rtlCol="false" tIns="50800" lIns="50800" bIns="50800" rIns="50800"/>
              <a:lstStyle/>
              <a:p>
                <a:pPr algn="ctr">
                  <a:lnSpc>
                    <a:spcPts val="2660"/>
                  </a:lnSpc>
                </a:pPr>
              </a:p>
            </p:txBody>
          </p:sp>
        </p:grpSp>
        <p:sp>
          <p:nvSpPr>
            <p:cNvPr name="TextBox 24" id="24"/>
            <p:cNvSpPr txBox="true"/>
            <p:nvPr/>
          </p:nvSpPr>
          <p:spPr>
            <a:xfrm rot="0">
              <a:off x="188193" y="149919"/>
              <a:ext cx="4066951" cy="460567"/>
            </a:xfrm>
            <a:prstGeom prst="rect">
              <a:avLst/>
            </a:prstGeom>
          </p:spPr>
          <p:txBody>
            <a:bodyPr anchor="t" rtlCol="false" tIns="0" lIns="0" bIns="0" rIns="0">
              <a:spAutoFit/>
            </a:bodyPr>
            <a:lstStyle/>
            <a:p>
              <a:pPr algn="ctr">
                <a:lnSpc>
                  <a:spcPts val="2879"/>
                </a:lnSpc>
              </a:pPr>
              <a:r>
                <a:rPr lang="en-US" sz="2056" b="true">
                  <a:solidFill>
                    <a:srgbClr val="FFFFFF"/>
                  </a:solidFill>
                  <a:latin typeface="프리텐다드 Medium"/>
                  <a:ea typeface="프리텐다드 Medium"/>
                  <a:cs typeface="프리텐다드 Medium"/>
                  <a:sym typeface="프리텐다드 Medium"/>
                </a:rPr>
                <a:t>결론</a:t>
              </a:r>
            </a:p>
          </p:txBody>
        </p:sp>
      </p:grpSp>
      <p:grpSp>
        <p:nvGrpSpPr>
          <p:cNvPr name="Group 25" id="25"/>
          <p:cNvGrpSpPr/>
          <p:nvPr/>
        </p:nvGrpSpPr>
        <p:grpSpPr>
          <a:xfrm rot="0">
            <a:off x="11140909" y="3954136"/>
            <a:ext cx="3332504" cy="607722"/>
            <a:chOff x="0" y="0"/>
            <a:chExt cx="4443338" cy="810296"/>
          </a:xfrm>
        </p:grpSpPr>
        <p:grpSp>
          <p:nvGrpSpPr>
            <p:cNvPr name="Group 26" id="26"/>
            <p:cNvGrpSpPr/>
            <p:nvPr/>
          </p:nvGrpSpPr>
          <p:grpSpPr>
            <a:xfrm rot="0">
              <a:off x="0" y="0"/>
              <a:ext cx="4443338" cy="810296"/>
              <a:chOff x="0" y="0"/>
              <a:chExt cx="4294480" cy="783150"/>
            </a:xfrm>
          </p:grpSpPr>
          <p:sp>
            <p:nvSpPr>
              <p:cNvPr name="Freeform 27" id="27"/>
              <p:cNvSpPr/>
              <p:nvPr/>
            </p:nvSpPr>
            <p:spPr>
              <a:xfrm flipH="false" flipV="false" rot="0">
                <a:off x="0" y="0"/>
                <a:ext cx="4294480" cy="783150"/>
              </a:xfrm>
              <a:custGeom>
                <a:avLst/>
                <a:gdLst/>
                <a:ahLst/>
                <a:cxnLst/>
                <a:rect r="r" b="b" t="t" l="l"/>
                <a:pathLst>
                  <a:path h="783150" w="4294480">
                    <a:moveTo>
                      <a:pt x="89652" y="0"/>
                    </a:moveTo>
                    <a:lnTo>
                      <a:pt x="4204827" y="0"/>
                    </a:lnTo>
                    <a:cubicBezTo>
                      <a:pt x="4254341" y="0"/>
                      <a:pt x="4294480" y="40139"/>
                      <a:pt x="4294480" y="89652"/>
                    </a:cubicBezTo>
                    <a:lnTo>
                      <a:pt x="4294480" y="693497"/>
                    </a:lnTo>
                    <a:cubicBezTo>
                      <a:pt x="4294480" y="743011"/>
                      <a:pt x="4254341" y="783150"/>
                      <a:pt x="4204827" y="783150"/>
                    </a:cubicBezTo>
                    <a:lnTo>
                      <a:pt x="89652" y="783150"/>
                    </a:lnTo>
                    <a:cubicBezTo>
                      <a:pt x="40139" y="783150"/>
                      <a:pt x="0" y="743011"/>
                      <a:pt x="0" y="693497"/>
                    </a:cubicBezTo>
                    <a:lnTo>
                      <a:pt x="0" y="89652"/>
                    </a:lnTo>
                    <a:cubicBezTo>
                      <a:pt x="0" y="40139"/>
                      <a:pt x="40139" y="0"/>
                      <a:pt x="89652" y="0"/>
                    </a:cubicBezTo>
                    <a:close/>
                  </a:path>
                </a:pathLst>
              </a:custGeom>
              <a:solidFill>
                <a:srgbClr val="262626"/>
              </a:solidFill>
              <a:ln cap="rnd">
                <a:noFill/>
                <a:prstDash val="solid"/>
                <a:round/>
              </a:ln>
            </p:spPr>
          </p:sp>
          <p:sp>
            <p:nvSpPr>
              <p:cNvPr name="TextBox 28" id="28"/>
              <p:cNvSpPr txBox="true"/>
              <p:nvPr/>
            </p:nvSpPr>
            <p:spPr>
              <a:xfrm>
                <a:off x="0" y="-38100"/>
                <a:ext cx="4294480" cy="821250"/>
              </a:xfrm>
              <a:prstGeom prst="rect">
                <a:avLst/>
              </a:prstGeom>
            </p:spPr>
            <p:txBody>
              <a:bodyPr anchor="ctr" rtlCol="false" tIns="50800" lIns="50800" bIns="50800" rIns="50800"/>
              <a:lstStyle/>
              <a:p>
                <a:pPr algn="ctr">
                  <a:lnSpc>
                    <a:spcPts val="2659"/>
                  </a:lnSpc>
                </a:pPr>
              </a:p>
            </p:txBody>
          </p:sp>
        </p:grpSp>
        <p:sp>
          <p:nvSpPr>
            <p:cNvPr name="TextBox 29" id="29"/>
            <p:cNvSpPr txBox="true"/>
            <p:nvPr/>
          </p:nvSpPr>
          <p:spPr>
            <a:xfrm rot="0">
              <a:off x="188193" y="149919"/>
              <a:ext cx="4066951" cy="460567"/>
            </a:xfrm>
            <a:prstGeom prst="rect">
              <a:avLst/>
            </a:prstGeom>
          </p:spPr>
          <p:txBody>
            <a:bodyPr anchor="t" rtlCol="false" tIns="0" lIns="0" bIns="0" rIns="0">
              <a:spAutoFit/>
            </a:bodyPr>
            <a:lstStyle/>
            <a:p>
              <a:pPr algn="ctr">
                <a:lnSpc>
                  <a:spcPts val="2879"/>
                </a:lnSpc>
              </a:pPr>
              <a:r>
                <a:rPr lang="en-US" sz="2056" b="true">
                  <a:solidFill>
                    <a:srgbClr val="FFFFFF"/>
                  </a:solidFill>
                  <a:latin typeface="프리텐다드 Medium"/>
                  <a:ea typeface="프리텐다드 Medium"/>
                  <a:cs typeface="프리텐다드 Medium"/>
                  <a:sym typeface="프리텐다드 Medium"/>
                </a:rPr>
                <a:t>향후 계획</a:t>
              </a:r>
            </a:p>
          </p:txBody>
        </p:sp>
      </p:grpSp>
      <p:sp>
        <p:nvSpPr>
          <p:cNvPr name="TextBox 30" id="30"/>
          <p:cNvSpPr txBox="true"/>
          <p:nvPr/>
        </p:nvSpPr>
        <p:spPr>
          <a:xfrm rot="0">
            <a:off x="9753106" y="4892040"/>
            <a:ext cx="6108108" cy="1650873"/>
          </a:xfrm>
          <a:prstGeom prst="rect">
            <a:avLst/>
          </a:prstGeom>
        </p:spPr>
        <p:txBody>
          <a:bodyPr anchor="t" rtlCol="false" tIns="0" lIns="0" bIns="0" rIns="0">
            <a:spAutoFit/>
          </a:bodyPr>
          <a:lstStyle/>
          <a:p>
            <a:pPr algn="l" marL="410211" indent="-205106" lvl="1">
              <a:lnSpc>
                <a:spcPts val="3740"/>
              </a:lnSpc>
              <a:buFont typeface="Arial"/>
              <a:buChar char="•"/>
            </a:pPr>
            <a:r>
              <a:rPr lang="en-US" sz="2200">
                <a:solidFill>
                  <a:srgbClr val="262626"/>
                </a:solidFill>
                <a:latin typeface="프리텐다드"/>
                <a:ea typeface="프리텐다드"/>
                <a:cs typeface="프리텐다드"/>
                <a:sym typeface="프리텐다드"/>
              </a:rPr>
              <a:t>역풍 · 측면 진입 · 무작위 회피</a:t>
            </a:r>
          </a:p>
          <a:p>
            <a:pPr algn="l" marL="410211" indent="-205106" lvl="1">
              <a:lnSpc>
                <a:spcPts val="3740"/>
              </a:lnSpc>
              <a:buFont typeface="Arial"/>
              <a:buChar char="•"/>
            </a:pPr>
            <a:r>
              <a:rPr lang="en-US" sz="2200">
                <a:solidFill>
                  <a:srgbClr val="262626"/>
                </a:solidFill>
                <a:latin typeface="프리텐다드"/>
                <a:ea typeface="프리텐다드"/>
                <a:cs typeface="프리텐다드"/>
                <a:sym typeface="프리텐다드"/>
              </a:rPr>
              <a:t>파라미터 근거 보완 · Dryden 난류</a:t>
            </a:r>
          </a:p>
          <a:p>
            <a:pPr algn="l" marL="410211" indent="-205106" lvl="1">
              <a:lnSpc>
                <a:spcPts val="3740"/>
              </a:lnSpc>
              <a:buFont typeface="Arial"/>
              <a:buChar char="•"/>
            </a:pPr>
            <a:r>
              <a:rPr lang="en-US" sz="2200">
                <a:solidFill>
                  <a:srgbClr val="262626"/>
                </a:solidFill>
                <a:latin typeface="프리텐다드"/>
                <a:ea typeface="프리텐다드"/>
                <a:cs typeface="프리텐다드"/>
                <a:sym typeface="프리텐다드"/>
              </a:rPr>
              <a:t>Step 2: 궤적 특징 기반 분류기</a:t>
            </a:r>
          </a:p>
          <a:p>
            <a:pPr algn="l" marL="410211" indent="-205106" lvl="1">
              <a:lnSpc>
                <a:spcPts val="3740"/>
              </a:lnSpc>
              <a:buFont typeface="Arial"/>
              <a:buChar char="•"/>
            </a:pPr>
            <a:r>
              <a:rPr lang="en-US" sz="2200">
                <a:solidFill>
                  <a:srgbClr val="262626"/>
                </a:solidFill>
                <a:latin typeface="프리텐다드"/>
                <a:ea typeface="프리텐다드"/>
                <a:cs typeface="프리텐다드"/>
                <a:sym typeface="프리텐다드"/>
              </a:rPr>
              <a:t>Step 3: 칼만 필터 추적 연결</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sp>
        <p:nvSpPr>
          <p:cNvPr name="TextBox 3" id="3"/>
          <p:cNvSpPr txBox="true"/>
          <p:nvPr/>
        </p:nvSpPr>
        <p:spPr>
          <a:xfrm rot="0">
            <a:off x="5663439" y="1365003"/>
            <a:ext cx="6961121" cy="913130"/>
          </a:xfrm>
          <a:prstGeom prst="rect">
            <a:avLst/>
          </a:prstGeom>
        </p:spPr>
        <p:txBody>
          <a:bodyPr anchor="t" rtlCol="false" tIns="0" lIns="0" bIns="0" rIns="0">
            <a:spAutoFit/>
          </a:bodyPr>
          <a:lstStyle/>
          <a:p>
            <a:pPr algn="ctr">
              <a:lnSpc>
                <a:spcPts val="7419"/>
              </a:lnSpc>
              <a:spcBef>
                <a:spcPct val="0"/>
              </a:spcBef>
            </a:pPr>
            <a:r>
              <a:rPr lang="en-US" b="true" sz="5299">
                <a:solidFill>
                  <a:srgbClr val="262626"/>
                </a:solidFill>
                <a:latin typeface="프리텐다드 Ultra-Bold"/>
                <a:ea typeface="프리텐다드 Ultra-Bold"/>
                <a:cs typeface="프리텐다드 Ultra-Bold"/>
                <a:sym typeface="프리텐다드 Ultra-Bold"/>
              </a:rPr>
              <a:t>참고문헌</a:t>
            </a:r>
          </a:p>
        </p:txBody>
      </p:sp>
      <p:sp>
        <p:nvSpPr>
          <p:cNvPr name="AutoShape 4" id="4"/>
          <p:cNvSpPr/>
          <p:nvPr/>
        </p:nvSpPr>
        <p:spPr>
          <a:xfrm>
            <a:off x="1401645" y="2610044"/>
            <a:ext cx="15484709" cy="0"/>
          </a:xfrm>
          <a:prstGeom prst="line">
            <a:avLst/>
          </a:prstGeom>
          <a:ln cap="flat" w="19050">
            <a:solidFill>
              <a:srgbClr val="FFFFFF"/>
            </a:solidFill>
            <a:prstDash val="solid"/>
            <a:headEnd type="none" len="sm" w="sm"/>
            <a:tailEnd type="none" len="sm" w="sm"/>
          </a:ln>
        </p:spPr>
      </p:sp>
      <p:sp>
        <p:nvSpPr>
          <p:cNvPr name="TextBox 5" id="5"/>
          <p:cNvSpPr txBox="true"/>
          <p:nvPr/>
        </p:nvSpPr>
        <p:spPr>
          <a:xfrm rot="0">
            <a:off x="8037007" y="1057275"/>
            <a:ext cx="2213985" cy="339769"/>
          </a:xfrm>
          <a:prstGeom prst="rect">
            <a:avLst/>
          </a:prstGeom>
        </p:spPr>
        <p:txBody>
          <a:bodyPr anchor="t" rtlCol="false" tIns="0" lIns="0" bIns="0" rIns="0">
            <a:spAutoFit/>
          </a:bodyPr>
          <a:lstStyle/>
          <a:p>
            <a:pPr algn="ctr" marL="0" indent="0" lvl="0">
              <a:lnSpc>
                <a:spcPts val="2797"/>
              </a:lnSpc>
            </a:pPr>
            <a:r>
              <a:rPr lang="en-US" sz="1998">
                <a:solidFill>
                  <a:srgbClr val="6994D4"/>
                </a:solidFill>
                <a:latin typeface="프리텐다드"/>
                <a:ea typeface="프리텐다드"/>
                <a:cs typeface="프리텐다드"/>
                <a:sym typeface="프리텐다드"/>
              </a:rPr>
              <a:t>CONTENT 09</a:t>
            </a:r>
          </a:p>
        </p:txBody>
      </p:sp>
      <p:grpSp>
        <p:nvGrpSpPr>
          <p:cNvPr name="Group 6" id="6"/>
          <p:cNvGrpSpPr/>
          <p:nvPr/>
        </p:nvGrpSpPr>
        <p:grpSpPr>
          <a:xfrm rot="0">
            <a:off x="1401645" y="3226470"/>
            <a:ext cx="15484709" cy="5992228"/>
            <a:chOff x="0" y="0"/>
            <a:chExt cx="2755267" cy="1066226"/>
          </a:xfrm>
        </p:grpSpPr>
        <p:sp>
          <p:nvSpPr>
            <p:cNvPr name="Freeform 7" id="7"/>
            <p:cNvSpPr/>
            <p:nvPr/>
          </p:nvSpPr>
          <p:spPr>
            <a:xfrm flipH="false" flipV="false" rot="0">
              <a:off x="0" y="0"/>
              <a:ext cx="2755267" cy="1066226"/>
            </a:xfrm>
            <a:custGeom>
              <a:avLst/>
              <a:gdLst/>
              <a:ahLst/>
              <a:cxnLst/>
              <a:rect r="r" b="b" t="t" l="l"/>
              <a:pathLst>
                <a:path h="1066226" w="2755267">
                  <a:moveTo>
                    <a:pt x="13499" y="0"/>
                  </a:moveTo>
                  <a:lnTo>
                    <a:pt x="2741768" y="0"/>
                  </a:lnTo>
                  <a:cubicBezTo>
                    <a:pt x="2749224" y="0"/>
                    <a:pt x="2755267" y="6044"/>
                    <a:pt x="2755267" y="13499"/>
                  </a:cubicBezTo>
                  <a:lnTo>
                    <a:pt x="2755267" y="1052726"/>
                  </a:lnTo>
                  <a:cubicBezTo>
                    <a:pt x="2755267" y="1056306"/>
                    <a:pt x="2753845" y="1059740"/>
                    <a:pt x="2751314" y="1062272"/>
                  </a:cubicBezTo>
                  <a:cubicBezTo>
                    <a:pt x="2748782" y="1064803"/>
                    <a:pt x="2745349" y="1066226"/>
                    <a:pt x="2741768" y="1066226"/>
                  </a:cubicBezTo>
                  <a:lnTo>
                    <a:pt x="13499" y="1066226"/>
                  </a:lnTo>
                  <a:cubicBezTo>
                    <a:pt x="6044" y="1066226"/>
                    <a:pt x="0" y="1060182"/>
                    <a:pt x="0" y="1052726"/>
                  </a:cubicBezTo>
                  <a:lnTo>
                    <a:pt x="0" y="13499"/>
                  </a:lnTo>
                  <a:cubicBezTo>
                    <a:pt x="0" y="6044"/>
                    <a:pt x="6044" y="0"/>
                    <a:pt x="13499" y="0"/>
                  </a:cubicBezTo>
                  <a:close/>
                </a:path>
              </a:pathLst>
            </a:custGeom>
            <a:solidFill>
              <a:srgbClr val="FFFFFF"/>
            </a:solidFill>
            <a:ln cap="rnd">
              <a:noFill/>
              <a:prstDash val="solid"/>
              <a:round/>
            </a:ln>
          </p:spPr>
        </p:sp>
        <p:sp>
          <p:nvSpPr>
            <p:cNvPr name="TextBox 8" id="8"/>
            <p:cNvSpPr txBox="true"/>
            <p:nvPr/>
          </p:nvSpPr>
          <p:spPr>
            <a:xfrm>
              <a:off x="0" y="-38100"/>
              <a:ext cx="2755267" cy="1104326"/>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9" id="9"/>
          <p:cNvSpPr txBox="true"/>
          <p:nvPr/>
        </p:nvSpPr>
        <p:spPr>
          <a:xfrm rot="0">
            <a:off x="3657600" y="4065039"/>
            <a:ext cx="11887200" cy="373334"/>
          </a:xfrm>
          <a:prstGeom prst="rect">
            <a:avLst/>
          </a:prstGeom>
        </p:spPr>
        <p:txBody>
          <a:bodyPr anchor="t" rtlCol="false" tIns="0" lIns="0" bIns="0" rIns="0">
            <a:spAutoFit/>
          </a:bodyPr>
          <a:lstStyle/>
          <a:p>
            <a:pPr algn="just">
              <a:lnSpc>
                <a:spcPts val="2320"/>
              </a:lnSpc>
            </a:pPr>
            <a:r>
              <a:rPr lang="en-US" sz="1600">
                <a:solidFill>
                  <a:srgbClr val="262626"/>
                </a:solidFill>
                <a:latin typeface="프리텐다드"/>
                <a:ea typeface="프리텐다드"/>
                <a:cs typeface="프리텐다드"/>
                <a:sym typeface="프리텐다드"/>
              </a:rPr>
              <a:t>G. Hattenberger, M. Bronz, J.-P. Condomines, “Evaluation of drag coefficient for a quadrotor model,” Int. J. Micro Air Vehicles, vol. 15, 2023.</a:t>
            </a:r>
          </a:p>
        </p:txBody>
      </p:sp>
      <p:sp>
        <p:nvSpPr>
          <p:cNvPr name="Freeform 10" id="10"/>
          <p:cNvSpPr/>
          <p:nvPr/>
        </p:nvSpPr>
        <p:spPr>
          <a:xfrm flipH="false" flipV="false" rot="0">
            <a:off x="2295386" y="4090115"/>
            <a:ext cx="415775" cy="415775"/>
          </a:xfrm>
          <a:custGeom>
            <a:avLst/>
            <a:gdLst/>
            <a:ahLst/>
            <a:cxnLst/>
            <a:rect r="r" b="b" t="t" l="l"/>
            <a:pathLst>
              <a:path h="415775" w="415775">
                <a:moveTo>
                  <a:pt x="0" y="0"/>
                </a:moveTo>
                <a:lnTo>
                  <a:pt x="415775" y="0"/>
                </a:lnTo>
                <a:lnTo>
                  <a:pt x="415775" y="415775"/>
                </a:lnTo>
                <a:lnTo>
                  <a:pt x="0" y="415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1" id="11"/>
          <p:cNvSpPr txBox="true"/>
          <p:nvPr/>
        </p:nvSpPr>
        <p:spPr>
          <a:xfrm rot="0">
            <a:off x="2895233" y="4046752"/>
            <a:ext cx="2904894" cy="448168"/>
          </a:xfrm>
          <a:prstGeom prst="rect">
            <a:avLst/>
          </a:prstGeom>
        </p:spPr>
        <p:txBody>
          <a:bodyPr anchor="t" rtlCol="false" tIns="0" lIns="0" bIns="0" rIns="0">
            <a:spAutoFit/>
          </a:bodyPr>
          <a:lstStyle/>
          <a:p>
            <a:pPr algn="l">
              <a:lnSpc>
                <a:spcPts val="3647"/>
              </a:lnSpc>
            </a:pPr>
            <a:r>
              <a:rPr lang="en-US" sz="2605" b="true">
                <a:solidFill>
                  <a:srgbClr val="262626"/>
                </a:solidFill>
                <a:latin typeface="프리텐다드 Semi-Bold"/>
                <a:ea typeface="프리텐다드 Semi-Bold"/>
                <a:cs typeface="프리텐다드 Semi-Bold"/>
                <a:sym typeface="프리텐다드 Semi-Bold"/>
              </a:rPr>
              <a:t>[1]</a:t>
            </a:r>
          </a:p>
        </p:txBody>
      </p:sp>
      <p:sp>
        <p:nvSpPr>
          <p:cNvPr name="AutoShape 12" id="12"/>
          <p:cNvSpPr/>
          <p:nvPr/>
        </p:nvSpPr>
        <p:spPr>
          <a:xfrm>
            <a:off x="2295386" y="4936245"/>
            <a:ext cx="13697227" cy="0"/>
          </a:xfrm>
          <a:prstGeom prst="line">
            <a:avLst/>
          </a:prstGeom>
          <a:ln cap="flat" w="19050">
            <a:solidFill>
              <a:srgbClr val="DEDEDE"/>
            </a:solidFill>
            <a:prstDash val="solid"/>
            <a:headEnd type="none" len="sm" w="sm"/>
            <a:tailEnd type="none" len="sm" w="sm"/>
          </a:ln>
        </p:spPr>
      </p:sp>
      <p:sp>
        <p:nvSpPr>
          <p:cNvPr name="TextBox 13" id="13"/>
          <p:cNvSpPr txBox="true"/>
          <p:nvPr/>
        </p:nvSpPr>
        <p:spPr>
          <a:xfrm rot="0">
            <a:off x="3657600" y="5344898"/>
            <a:ext cx="11887200" cy="373334"/>
          </a:xfrm>
          <a:prstGeom prst="rect">
            <a:avLst/>
          </a:prstGeom>
        </p:spPr>
        <p:txBody>
          <a:bodyPr anchor="t" rtlCol="false" tIns="0" lIns="0" bIns="0" rIns="0">
            <a:spAutoFit/>
          </a:bodyPr>
          <a:lstStyle/>
          <a:p>
            <a:pPr algn="just">
              <a:lnSpc>
                <a:spcPts val="2320"/>
              </a:lnSpc>
            </a:pPr>
            <a:r>
              <a:rPr lang="en-US" sz="1600">
                <a:solidFill>
                  <a:srgbClr val="262626"/>
                </a:solidFill>
                <a:latin typeface="프리텐다드"/>
                <a:ea typeface="프리텐다드"/>
                <a:cs typeface="프리텐다드"/>
                <a:sym typeface="프리텐다드"/>
              </a:rPr>
              <a:t>J. C. D. C. Siqueira, “Modeling of Wind Phenomena and Analysis of Their Effects on UAV Trajectory Tracking Performance,” M.S. thesis, West Virginia Univ., 2017.</a:t>
            </a:r>
          </a:p>
        </p:txBody>
      </p:sp>
      <p:sp>
        <p:nvSpPr>
          <p:cNvPr name="Freeform 14" id="14"/>
          <p:cNvSpPr/>
          <p:nvPr/>
        </p:nvSpPr>
        <p:spPr>
          <a:xfrm flipH="false" flipV="false" rot="0">
            <a:off x="2295386" y="5369974"/>
            <a:ext cx="415775" cy="415775"/>
          </a:xfrm>
          <a:custGeom>
            <a:avLst/>
            <a:gdLst/>
            <a:ahLst/>
            <a:cxnLst/>
            <a:rect r="r" b="b" t="t" l="l"/>
            <a:pathLst>
              <a:path h="415775" w="415775">
                <a:moveTo>
                  <a:pt x="0" y="0"/>
                </a:moveTo>
                <a:lnTo>
                  <a:pt x="415775" y="0"/>
                </a:lnTo>
                <a:lnTo>
                  <a:pt x="415775" y="415775"/>
                </a:lnTo>
                <a:lnTo>
                  <a:pt x="0" y="415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5" id="15"/>
          <p:cNvSpPr txBox="true"/>
          <p:nvPr/>
        </p:nvSpPr>
        <p:spPr>
          <a:xfrm rot="0">
            <a:off x="2895233" y="5326611"/>
            <a:ext cx="2904894" cy="448168"/>
          </a:xfrm>
          <a:prstGeom prst="rect">
            <a:avLst/>
          </a:prstGeom>
        </p:spPr>
        <p:txBody>
          <a:bodyPr anchor="t" rtlCol="false" tIns="0" lIns="0" bIns="0" rIns="0">
            <a:spAutoFit/>
          </a:bodyPr>
          <a:lstStyle/>
          <a:p>
            <a:pPr algn="l">
              <a:lnSpc>
                <a:spcPts val="3647"/>
              </a:lnSpc>
            </a:pPr>
            <a:r>
              <a:rPr lang="en-US" sz="2605" b="true">
                <a:solidFill>
                  <a:srgbClr val="262626"/>
                </a:solidFill>
                <a:latin typeface="프리텐다드 Semi-Bold"/>
                <a:ea typeface="프리텐다드 Semi-Bold"/>
                <a:cs typeface="프리텐다드 Semi-Bold"/>
                <a:sym typeface="프리텐다드 Semi-Bold"/>
              </a:rPr>
              <a:t>[2]</a:t>
            </a:r>
          </a:p>
        </p:txBody>
      </p:sp>
      <p:sp>
        <p:nvSpPr>
          <p:cNvPr name="AutoShape 16" id="16"/>
          <p:cNvSpPr/>
          <p:nvPr/>
        </p:nvSpPr>
        <p:spPr>
          <a:xfrm>
            <a:off x="2295386" y="6216105"/>
            <a:ext cx="13697227" cy="0"/>
          </a:xfrm>
          <a:prstGeom prst="line">
            <a:avLst/>
          </a:prstGeom>
          <a:ln cap="flat" w="19050">
            <a:solidFill>
              <a:srgbClr val="DEDEDE"/>
            </a:solidFill>
            <a:prstDash val="solid"/>
            <a:headEnd type="none" len="sm" w="sm"/>
            <a:tailEnd type="none" len="sm" w="sm"/>
          </a:ln>
        </p:spPr>
      </p:sp>
      <p:sp>
        <p:nvSpPr>
          <p:cNvPr name="TextBox 17" id="17"/>
          <p:cNvSpPr txBox="true"/>
          <p:nvPr/>
        </p:nvSpPr>
        <p:spPr>
          <a:xfrm rot="0">
            <a:off x="3657600" y="6624759"/>
            <a:ext cx="11887200" cy="373334"/>
          </a:xfrm>
          <a:prstGeom prst="rect">
            <a:avLst/>
          </a:prstGeom>
        </p:spPr>
        <p:txBody>
          <a:bodyPr anchor="t" rtlCol="false" tIns="0" lIns="0" bIns="0" rIns="0">
            <a:spAutoFit/>
          </a:bodyPr>
          <a:lstStyle/>
          <a:p>
            <a:pPr algn="just">
              <a:lnSpc>
                <a:spcPts val="2320"/>
              </a:lnSpc>
            </a:pPr>
            <a:r>
              <a:rPr lang="en-US" sz="1600">
                <a:solidFill>
                  <a:srgbClr val="262626"/>
                </a:solidFill>
                <a:latin typeface="프리텐다드"/>
                <a:ea typeface="프리텐다드"/>
                <a:cs typeface="프리텐다드"/>
                <a:sym typeface="프리텐다드"/>
              </a:rPr>
              <a:t>S. Luesutthiviboon, G. de Croon, A. Altena, M. Snellen, M. Voskuijl, “Improving visual differentiation of drones and birds in aerial surveillance using trajectory features,” Neural Computing and Applications, 2026.</a:t>
            </a:r>
          </a:p>
        </p:txBody>
      </p:sp>
      <p:sp>
        <p:nvSpPr>
          <p:cNvPr name="Freeform 18" id="18"/>
          <p:cNvSpPr/>
          <p:nvPr/>
        </p:nvSpPr>
        <p:spPr>
          <a:xfrm flipH="false" flipV="false" rot="0">
            <a:off x="2295386" y="6649834"/>
            <a:ext cx="415775" cy="415775"/>
          </a:xfrm>
          <a:custGeom>
            <a:avLst/>
            <a:gdLst/>
            <a:ahLst/>
            <a:cxnLst/>
            <a:rect r="r" b="b" t="t" l="l"/>
            <a:pathLst>
              <a:path h="415775" w="415775">
                <a:moveTo>
                  <a:pt x="0" y="0"/>
                </a:moveTo>
                <a:lnTo>
                  <a:pt x="415775" y="0"/>
                </a:lnTo>
                <a:lnTo>
                  <a:pt x="415775" y="415775"/>
                </a:lnTo>
                <a:lnTo>
                  <a:pt x="0" y="415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2895233" y="6606471"/>
            <a:ext cx="2904894" cy="448168"/>
          </a:xfrm>
          <a:prstGeom prst="rect">
            <a:avLst/>
          </a:prstGeom>
        </p:spPr>
        <p:txBody>
          <a:bodyPr anchor="t" rtlCol="false" tIns="0" lIns="0" bIns="0" rIns="0">
            <a:spAutoFit/>
          </a:bodyPr>
          <a:lstStyle/>
          <a:p>
            <a:pPr algn="l">
              <a:lnSpc>
                <a:spcPts val="3647"/>
              </a:lnSpc>
            </a:pPr>
            <a:r>
              <a:rPr lang="en-US" sz="2605" b="true">
                <a:solidFill>
                  <a:srgbClr val="262626"/>
                </a:solidFill>
                <a:latin typeface="프리텐다드 Semi-Bold"/>
                <a:ea typeface="프리텐다드 Semi-Bold"/>
                <a:cs typeface="프리텐다드 Semi-Bold"/>
                <a:sym typeface="프리텐다드 Semi-Bold"/>
              </a:rPr>
              <a:t>[3]</a:t>
            </a:r>
          </a:p>
        </p:txBody>
      </p:sp>
      <p:sp>
        <p:nvSpPr>
          <p:cNvPr name="AutoShape 20" id="20"/>
          <p:cNvSpPr/>
          <p:nvPr/>
        </p:nvSpPr>
        <p:spPr>
          <a:xfrm>
            <a:off x="2295386" y="7495964"/>
            <a:ext cx="13697227" cy="0"/>
          </a:xfrm>
          <a:prstGeom prst="line">
            <a:avLst/>
          </a:prstGeom>
          <a:ln cap="flat" w="19050">
            <a:solidFill>
              <a:srgbClr val="DEDEDE"/>
            </a:solidFill>
            <a:prstDash val="solid"/>
            <a:headEnd type="none" len="sm" w="sm"/>
            <a:tailEnd type="none" len="sm" w="sm"/>
          </a:ln>
        </p:spPr>
      </p:sp>
      <p:sp>
        <p:nvSpPr>
          <p:cNvPr name="TextBox 21" id="21"/>
          <p:cNvSpPr txBox="true"/>
          <p:nvPr/>
        </p:nvSpPr>
        <p:spPr>
          <a:xfrm rot="0">
            <a:off x="3657600" y="7904618"/>
            <a:ext cx="11887200" cy="373334"/>
          </a:xfrm>
          <a:prstGeom prst="rect">
            <a:avLst/>
          </a:prstGeom>
        </p:spPr>
        <p:txBody>
          <a:bodyPr anchor="t" rtlCol="false" tIns="0" lIns="0" bIns="0" rIns="0">
            <a:spAutoFit/>
          </a:bodyPr>
          <a:lstStyle/>
          <a:p>
            <a:pPr algn="just">
              <a:lnSpc>
                <a:spcPts val="2320"/>
              </a:lnSpc>
            </a:pPr>
            <a:r>
              <a:rPr lang="en-US" sz="1600">
                <a:solidFill>
                  <a:srgbClr val="262626"/>
                </a:solidFill>
                <a:latin typeface="프리텐다드"/>
                <a:ea typeface="프리텐다드"/>
                <a:cs typeface="프리텐다드"/>
                <a:sym typeface="프리텐다드"/>
              </a:rPr>
              <a:t>K. Cole, A. M. Wickenheiser, “Trajectory Generation for UAVs in Unknown Environments with Extreme Wind Disturbances,” arXiv:1906.09508, 2019.</a:t>
            </a:r>
          </a:p>
        </p:txBody>
      </p:sp>
      <p:sp>
        <p:nvSpPr>
          <p:cNvPr name="Freeform 22" id="22"/>
          <p:cNvSpPr/>
          <p:nvPr/>
        </p:nvSpPr>
        <p:spPr>
          <a:xfrm flipH="false" flipV="false" rot="0">
            <a:off x="2295386" y="7929693"/>
            <a:ext cx="415775" cy="415775"/>
          </a:xfrm>
          <a:custGeom>
            <a:avLst/>
            <a:gdLst/>
            <a:ahLst/>
            <a:cxnLst/>
            <a:rect r="r" b="b" t="t" l="l"/>
            <a:pathLst>
              <a:path h="415775" w="415775">
                <a:moveTo>
                  <a:pt x="0" y="0"/>
                </a:moveTo>
                <a:lnTo>
                  <a:pt x="415775" y="0"/>
                </a:lnTo>
                <a:lnTo>
                  <a:pt x="415775" y="415775"/>
                </a:lnTo>
                <a:lnTo>
                  <a:pt x="0" y="41577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23" id="23"/>
          <p:cNvSpPr txBox="true"/>
          <p:nvPr/>
        </p:nvSpPr>
        <p:spPr>
          <a:xfrm rot="0">
            <a:off x="2895233" y="7886330"/>
            <a:ext cx="2904894" cy="448168"/>
          </a:xfrm>
          <a:prstGeom prst="rect">
            <a:avLst/>
          </a:prstGeom>
        </p:spPr>
        <p:txBody>
          <a:bodyPr anchor="t" rtlCol="false" tIns="0" lIns="0" bIns="0" rIns="0">
            <a:spAutoFit/>
          </a:bodyPr>
          <a:lstStyle/>
          <a:p>
            <a:pPr algn="l">
              <a:lnSpc>
                <a:spcPts val="3647"/>
              </a:lnSpc>
            </a:pPr>
            <a:r>
              <a:rPr lang="en-US" sz="2605" b="true">
                <a:solidFill>
                  <a:srgbClr val="262626"/>
                </a:solidFill>
                <a:latin typeface="프리텐다드 Semi-Bold"/>
                <a:ea typeface="프리텐다드 Semi-Bold"/>
                <a:cs typeface="프리텐다드 Semi-Bold"/>
                <a:sym typeface="프리텐다드 Semi-Bold"/>
              </a:rPr>
              <a:t>[4]</a:t>
            </a:r>
          </a:p>
        </p:txBody>
      </p:sp>
      <p:sp>
        <p:nvSpPr>
          <p:cNvPr name="Freeform 24" id="24"/>
          <p:cNvSpPr/>
          <p:nvPr/>
        </p:nvSpPr>
        <p:spPr>
          <a:xfrm flipH="true" flipV="false" rot="0">
            <a:off x="15812799" y="4148779"/>
            <a:ext cx="179815" cy="298447"/>
          </a:xfrm>
          <a:custGeom>
            <a:avLst/>
            <a:gdLst/>
            <a:ahLst/>
            <a:cxnLst/>
            <a:rect r="r" b="b" t="t" l="l"/>
            <a:pathLst>
              <a:path h="298447" w="179815">
                <a:moveTo>
                  <a:pt x="179815" y="0"/>
                </a:moveTo>
                <a:lnTo>
                  <a:pt x="0" y="0"/>
                </a:lnTo>
                <a:lnTo>
                  <a:pt x="0" y="298447"/>
                </a:lnTo>
                <a:lnTo>
                  <a:pt x="179815" y="298447"/>
                </a:lnTo>
                <a:lnTo>
                  <a:pt x="17981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5" id="25"/>
          <p:cNvSpPr/>
          <p:nvPr/>
        </p:nvSpPr>
        <p:spPr>
          <a:xfrm flipH="true" flipV="false" rot="0">
            <a:off x="15812799" y="5428638"/>
            <a:ext cx="179815" cy="298447"/>
          </a:xfrm>
          <a:custGeom>
            <a:avLst/>
            <a:gdLst/>
            <a:ahLst/>
            <a:cxnLst/>
            <a:rect r="r" b="b" t="t" l="l"/>
            <a:pathLst>
              <a:path h="298447" w="179815">
                <a:moveTo>
                  <a:pt x="179815" y="0"/>
                </a:moveTo>
                <a:lnTo>
                  <a:pt x="0" y="0"/>
                </a:lnTo>
                <a:lnTo>
                  <a:pt x="0" y="298448"/>
                </a:lnTo>
                <a:lnTo>
                  <a:pt x="179815" y="298448"/>
                </a:lnTo>
                <a:lnTo>
                  <a:pt x="17981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6" id="26"/>
          <p:cNvSpPr/>
          <p:nvPr/>
        </p:nvSpPr>
        <p:spPr>
          <a:xfrm flipH="true" flipV="false" rot="0">
            <a:off x="15812799" y="6708497"/>
            <a:ext cx="179815" cy="298447"/>
          </a:xfrm>
          <a:custGeom>
            <a:avLst/>
            <a:gdLst/>
            <a:ahLst/>
            <a:cxnLst/>
            <a:rect r="r" b="b" t="t" l="l"/>
            <a:pathLst>
              <a:path h="298447" w="179815">
                <a:moveTo>
                  <a:pt x="179815" y="0"/>
                </a:moveTo>
                <a:lnTo>
                  <a:pt x="0" y="0"/>
                </a:lnTo>
                <a:lnTo>
                  <a:pt x="0" y="298448"/>
                </a:lnTo>
                <a:lnTo>
                  <a:pt x="179815" y="298448"/>
                </a:lnTo>
                <a:lnTo>
                  <a:pt x="17981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27" id="27"/>
          <p:cNvSpPr/>
          <p:nvPr/>
        </p:nvSpPr>
        <p:spPr>
          <a:xfrm flipH="true" flipV="false" rot="0">
            <a:off x="15812799" y="7988357"/>
            <a:ext cx="179815" cy="298447"/>
          </a:xfrm>
          <a:custGeom>
            <a:avLst/>
            <a:gdLst/>
            <a:ahLst/>
            <a:cxnLst/>
            <a:rect r="r" b="b" t="t" l="l"/>
            <a:pathLst>
              <a:path h="298447" w="179815">
                <a:moveTo>
                  <a:pt x="179815" y="0"/>
                </a:moveTo>
                <a:lnTo>
                  <a:pt x="0" y="0"/>
                </a:lnTo>
                <a:lnTo>
                  <a:pt x="0" y="298447"/>
                </a:lnTo>
                <a:lnTo>
                  <a:pt x="179815" y="298447"/>
                </a:lnTo>
                <a:lnTo>
                  <a:pt x="179815"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13" r="0" b="-9313"/>
            </a:stretch>
          </a:blipFill>
        </p:spPr>
      </p:sp>
      <p:grpSp>
        <p:nvGrpSpPr>
          <p:cNvPr name="Group 3" id="3"/>
          <p:cNvGrpSpPr/>
          <p:nvPr/>
        </p:nvGrpSpPr>
        <p:grpSpPr>
          <a:xfrm rot="0">
            <a:off x="1401645" y="8203294"/>
            <a:ext cx="15484709" cy="892357"/>
            <a:chOff x="0" y="0"/>
            <a:chExt cx="4078277" cy="235024"/>
          </a:xfrm>
        </p:grpSpPr>
        <p:sp>
          <p:nvSpPr>
            <p:cNvPr name="Freeform 4" id="4"/>
            <p:cNvSpPr/>
            <p:nvPr/>
          </p:nvSpPr>
          <p:spPr>
            <a:xfrm flipH="false" flipV="false" rot="0">
              <a:off x="0" y="0"/>
              <a:ext cx="4078277" cy="235024"/>
            </a:xfrm>
            <a:custGeom>
              <a:avLst/>
              <a:gdLst/>
              <a:ahLst/>
              <a:cxnLst/>
              <a:rect r="r" b="b" t="t" l="l"/>
              <a:pathLst>
                <a:path h="235024" w="4078277">
                  <a:moveTo>
                    <a:pt x="13499" y="0"/>
                  </a:moveTo>
                  <a:lnTo>
                    <a:pt x="4064778" y="0"/>
                  </a:lnTo>
                  <a:cubicBezTo>
                    <a:pt x="4072234" y="0"/>
                    <a:pt x="4078277" y="6044"/>
                    <a:pt x="4078277" y="13499"/>
                  </a:cubicBezTo>
                  <a:lnTo>
                    <a:pt x="4078277" y="221525"/>
                  </a:lnTo>
                  <a:cubicBezTo>
                    <a:pt x="4078277" y="228980"/>
                    <a:pt x="4072234" y="235024"/>
                    <a:pt x="4064778" y="235024"/>
                  </a:cubicBezTo>
                  <a:lnTo>
                    <a:pt x="13499" y="235024"/>
                  </a:lnTo>
                  <a:cubicBezTo>
                    <a:pt x="9919" y="235024"/>
                    <a:pt x="6485" y="233602"/>
                    <a:pt x="3954" y="231070"/>
                  </a:cubicBezTo>
                  <a:cubicBezTo>
                    <a:pt x="1422" y="228539"/>
                    <a:pt x="0" y="225105"/>
                    <a:pt x="0" y="221525"/>
                  </a:cubicBezTo>
                  <a:lnTo>
                    <a:pt x="0" y="13499"/>
                  </a:lnTo>
                  <a:cubicBezTo>
                    <a:pt x="0" y="6044"/>
                    <a:pt x="6044" y="0"/>
                    <a:pt x="13499" y="0"/>
                  </a:cubicBezTo>
                  <a:close/>
                </a:path>
              </a:pathLst>
            </a:custGeom>
            <a:solidFill>
              <a:srgbClr val="FFFFFF"/>
            </a:solidFill>
            <a:ln cap="rnd">
              <a:noFill/>
              <a:prstDash val="solid"/>
              <a:round/>
            </a:ln>
          </p:spPr>
        </p:sp>
        <p:sp>
          <p:nvSpPr>
            <p:cNvPr name="TextBox 5" id="5"/>
            <p:cNvSpPr txBox="true"/>
            <p:nvPr/>
          </p:nvSpPr>
          <p:spPr>
            <a:xfrm>
              <a:off x="0" y="-38100"/>
              <a:ext cx="4078277" cy="273124"/>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TextBox 6" id="6"/>
          <p:cNvSpPr txBox="true"/>
          <p:nvPr/>
        </p:nvSpPr>
        <p:spPr>
          <a:xfrm rot="0">
            <a:off x="4751400" y="3223963"/>
            <a:ext cx="8785201" cy="1498697"/>
          </a:xfrm>
          <a:prstGeom prst="rect">
            <a:avLst/>
          </a:prstGeom>
        </p:spPr>
        <p:txBody>
          <a:bodyPr anchor="t" rtlCol="false" tIns="0" lIns="0" bIns="0" rIns="0">
            <a:spAutoFit/>
          </a:bodyPr>
          <a:lstStyle/>
          <a:p>
            <a:pPr algn="ctr">
              <a:lnSpc>
                <a:spcPts val="12116"/>
              </a:lnSpc>
              <a:spcBef>
                <a:spcPct val="0"/>
              </a:spcBef>
            </a:pPr>
            <a:r>
              <a:rPr lang="en-US" sz="8654">
                <a:solidFill>
                  <a:srgbClr val="262626"/>
                </a:solidFill>
                <a:latin typeface="프리텐다드"/>
                <a:ea typeface="프리텐다드"/>
                <a:cs typeface="프리텐다드"/>
                <a:sym typeface="프리텐다드"/>
              </a:rPr>
              <a:t>Thank</a:t>
            </a:r>
            <a:r>
              <a:rPr lang="en-US" sz="8654">
                <a:solidFill>
                  <a:srgbClr val="262626"/>
                </a:solidFill>
                <a:latin typeface="프리텐다드"/>
                <a:ea typeface="프리텐다드"/>
                <a:cs typeface="프리텐다드"/>
                <a:sym typeface="프리텐다드"/>
              </a:rPr>
              <a:t> You</a:t>
            </a:r>
          </a:p>
        </p:txBody>
      </p:sp>
      <p:sp>
        <p:nvSpPr>
          <p:cNvPr name="TextBox 7" id="7"/>
          <p:cNvSpPr txBox="true"/>
          <p:nvPr/>
        </p:nvSpPr>
        <p:spPr>
          <a:xfrm rot="0">
            <a:off x="4409117" y="4580639"/>
            <a:ext cx="9469765" cy="1610902"/>
          </a:xfrm>
          <a:prstGeom prst="rect">
            <a:avLst/>
          </a:prstGeom>
        </p:spPr>
        <p:txBody>
          <a:bodyPr anchor="t" rtlCol="false" tIns="0" lIns="0" bIns="0" rIns="0">
            <a:spAutoFit/>
          </a:bodyPr>
          <a:lstStyle/>
          <a:p>
            <a:pPr algn="ctr">
              <a:lnSpc>
                <a:spcPts val="13060"/>
              </a:lnSpc>
              <a:spcBef>
                <a:spcPct val="0"/>
              </a:spcBef>
            </a:pPr>
            <a:r>
              <a:rPr lang="en-US" b="true" sz="9328">
                <a:solidFill>
                  <a:srgbClr val="262626"/>
                </a:solidFill>
                <a:latin typeface="프리텐다드 Ultra-Bold"/>
                <a:ea typeface="프리텐다드 Ultra-Bold"/>
                <a:cs typeface="프리텐다드 Ultra-Bold"/>
                <a:sym typeface="프리텐다드 Ultra-Bold"/>
              </a:rPr>
              <a:t>감사합니다!</a:t>
            </a:r>
          </a:p>
        </p:txBody>
      </p:sp>
      <p:sp>
        <p:nvSpPr>
          <p:cNvPr name="TextBox 8" id="8"/>
          <p:cNvSpPr txBox="true"/>
          <p:nvPr/>
        </p:nvSpPr>
        <p:spPr>
          <a:xfrm rot="0">
            <a:off x="4409117" y="2152860"/>
            <a:ext cx="9469765" cy="430768"/>
          </a:xfrm>
          <a:prstGeom prst="rect">
            <a:avLst/>
          </a:prstGeom>
        </p:spPr>
        <p:txBody>
          <a:bodyPr anchor="t" rtlCol="false" tIns="0" lIns="0" bIns="0" rIns="0">
            <a:spAutoFit/>
          </a:bodyPr>
          <a:lstStyle/>
          <a:p>
            <a:pPr algn="ctr">
              <a:lnSpc>
                <a:spcPts val="3556"/>
              </a:lnSpc>
              <a:spcBef>
                <a:spcPct val="0"/>
              </a:spcBef>
            </a:pPr>
            <a:r>
              <a:rPr lang="en-US" sz="2540" spc="177">
                <a:solidFill>
                  <a:srgbClr val="262626"/>
                </a:solidFill>
                <a:latin typeface="프리텐다드 Light"/>
                <a:ea typeface="프리텐다드 Light"/>
                <a:cs typeface="프리텐다드 Light"/>
                <a:sym typeface="프리텐다드 Light"/>
              </a:rPr>
              <a:t>발표를</a:t>
            </a:r>
            <a:r>
              <a:rPr lang="en-US" sz="2540" spc="177">
                <a:solidFill>
                  <a:srgbClr val="262626"/>
                </a:solidFill>
                <a:latin typeface="프리텐다드 Light"/>
                <a:ea typeface="프리텐다드 Light"/>
                <a:cs typeface="프리텐다드 Light"/>
                <a:sym typeface="프리텐다드 Light"/>
              </a:rPr>
              <a:t> 마치겠습니다</a:t>
            </a:r>
          </a:p>
        </p:txBody>
      </p:sp>
      <p:sp>
        <p:nvSpPr>
          <p:cNvPr name="TextBox 9" id="9"/>
          <p:cNvSpPr txBox="true"/>
          <p:nvPr/>
        </p:nvSpPr>
        <p:spPr>
          <a:xfrm rot="0">
            <a:off x="10927080" y="8456997"/>
            <a:ext cx="2011680" cy="337326"/>
          </a:xfrm>
          <a:prstGeom prst="rect">
            <a:avLst/>
          </a:prstGeom>
        </p:spPr>
        <p:txBody>
          <a:bodyPr anchor="t" rtlCol="false" tIns="0" lIns="0" bIns="0" rIns="0">
            <a:spAutoFit/>
          </a:bodyPr>
          <a:lstStyle/>
          <a:p>
            <a:pPr algn="just">
              <a:lnSpc>
                <a:spcPts val="2717"/>
              </a:lnSpc>
            </a:pPr>
            <a:r>
              <a:rPr lang="en-US" sz="1941" spc="141">
                <a:solidFill>
                  <a:srgbClr val="262626"/>
                </a:solidFill>
                <a:latin typeface="프리텐다드"/>
                <a:ea typeface="프리텐다드"/>
                <a:cs typeface="프리텐다드"/>
                <a:sym typeface="프리텐다드"/>
              </a:rPr>
              <a:t>2001205</a:t>
            </a:r>
          </a:p>
        </p:txBody>
      </p:sp>
      <p:sp>
        <p:nvSpPr>
          <p:cNvPr name="TextBox 12" id="12"/>
          <p:cNvSpPr txBox="true"/>
          <p:nvPr/>
        </p:nvSpPr>
        <p:spPr>
          <a:xfrm rot="0">
            <a:off x="5852160" y="8456997"/>
            <a:ext cx="1188720" cy="337326"/>
          </a:xfrm>
          <a:prstGeom prst="rect">
            <a:avLst/>
          </a:prstGeom>
        </p:spPr>
        <p:txBody>
          <a:bodyPr anchor="t" rtlCol="false" tIns="0" lIns="0" bIns="0" rIns="0">
            <a:spAutoFit/>
          </a:bodyPr>
          <a:lstStyle/>
          <a:p>
            <a:pPr algn="just">
              <a:lnSpc>
                <a:spcPts val="2717"/>
              </a:lnSpc>
            </a:pPr>
            <a:r>
              <a:rPr lang="en-US" sz="1941" spc="141">
                <a:solidFill>
                  <a:srgbClr val="262626"/>
                </a:solidFill>
                <a:latin typeface="프리텐다드"/>
                <a:ea typeface="프리텐다드"/>
                <a:cs typeface="프리텐다드"/>
                <a:sym typeface="프리텐다드"/>
              </a:rPr>
              <a:t>발표자</a:t>
            </a:r>
          </a:p>
        </p:txBody>
      </p:sp>
      <p:sp>
        <p:nvSpPr>
          <p:cNvPr name="TextBox 13" id="13"/>
          <p:cNvSpPr txBox="true"/>
          <p:nvPr/>
        </p:nvSpPr>
        <p:spPr>
          <a:xfrm rot="0">
            <a:off x="10058400" y="8456997"/>
            <a:ext cx="822960" cy="337326"/>
          </a:xfrm>
          <a:prstGeom prst="rect">
            <a:avLst/>
          </a:prstGeom>
        </p:spPr>
        <p:txBody>
          <a:bodyPr anchor="t" rtlCol="false" tIns="0" lIns="0" bIns="0" rIns="0">
            <a:spAutoFit/>
          </a:bodyPr>
          <a:lstStyle/>
          <a:p>
            <a:pPr algn="just">
              <a:lnSpc>
                <a:spcPts val="2717"/>
              </a:lnSpc>
            </a:pPr>
            <a:r>
              <a:rPr lang="en-US" sz="1941" spc="141">
                <a:solidFill>
                  <a:srgbClr val="262626"/>
                </a:solidFill>
                <a:latin typeface="프리텐다드"/>
                <a:ea typeface="프리텐다드"/>
                <a:cs typeface="프리텐다드"/>
                <a:sym typeface="프리텐다드"/>
              </a:rPr>
              <a:t>학번</a:t>
            </a:r>
          </a:p>
        </p:txBody>
      </p:sp>
      <p:sp>
        <p:nvSpPr>
          <p:cNvPr name="TextBox 14" id="14"/>
          <p:cNvSpPr txBox="true"/>
          <p:nvPr/>
        </p:nvSpPr>
        <p:spPr>
          <a:xfrm rot="0">
            <a:off x="7086600" y="8456997"/>
            <a:ext cx="1828800" cy="337326"/>
          </a:xfrm>
          <a:prstGeom prst="rect">
            <a:avLst/>
          </a:prstGeom>
        </p:spPr>
        <p:txBody>
          <a:bodyPr anchor="t" rtlCol="false" tIns="0" lIns="0" bIns="0" rIns="0">
            <a:spAutoFit/>
          </a:bodyPr>
          <a:lstStyle/>
          <a:p>
            <a:pPr algn="just">
              <a:lnSpc>
                <a:spcPts val="2717"/>
              </a:lnSpc>
            </a:pPr>
            <a:r>
              <a:rPr lang="en-US" sz="1941" spc="141">
                <a:solidFill>
                  <a:srgbClr val="262626"/>
                </a:solidFill>
                <a:latin typeface="프리텐다드"/>
                <a:ea typeface="프리텐다드"/>
                <a:cs typeface="프리텐다드"/>
                <a:sym typeface="프리텐다드"/>
              </a:rPr>
              <a:t>유민형</a:t>
            </a:r>
          </a:p>
        </p:txBody>
      </p:sp>
      <p:sp>
        <p:nvSpPr>
          <p:cNvPr name="AutoShape 15" id="15"/>
          <p:cNvSpPr/>
          <p:nvPr/>
        </p:nvSpPr>
        <p:spPr>
          <a:xfrm>
            <a:off x="1401645" y="1038225"/>
            <a:ext cx="15484709" cy="0"/>
          </a:xfrm>
          <a:prstGeom prst="line">
            <a:avLst/>
          </a:prstGeom>
          <a:ln cap="flat" w="19050">
            <a:solidFill>
              <a:srgbClr val="FFFFFF"/>
            </a:solidFill>
            <a:prstDash val="solid"/>
            <a:headEnd type="none" len="sm" w="sm"/>
            <a:tailEnd type="none" len="sm" w="sm"/>
          </a:ln>
        </p:spPr>
      </p:sp>
    </p:spTree>
  </p:cSld>
  <p:clrMapOvr>
    <a:masterClrMapping/>
  </p:clrMapOvr>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MS PGothic"/>
        <a:font script="Hang" typeface="맑은 고딕"/>
        <a:font script="Hans" typeface="SimSun"/>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MS PGothic"/>
        <a:font script="Hang" typeface="맑은 고딕"/>
        <a:font script="Hans" typeface="SimSu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873</ep:Words>
  <ep:PresentationFormat>On-screen Show (4:3)</ep:PresentationFormat>
  <ep:Paragraphs>207</ep:Paragraphs>
  <ep:Slides>16</ep:Slides>
  <ep:Notes>16</ep:Notes>
  <ep:TotalTime>0</ep:TotalTime>
  <ep:HiddenSlides>0</ep:HiddenSlides>
  <ep:MMClips>0</ep:MMClips>
  <ep:HeadingPairs>
    <vt:vector size="4" baseType="variant">
      <vt:variant>
        <vt:lpstr>테마</vt:lpstr>
      </vt:variant>
      <vt:variant>
        <vt:i4>1</vt:i4>
      </vt:variant>
      <vt:variant>
        <vt:lpstr>슬라이드 제목</vt:lpstr>
      </vt:variant>
      <vt:variant>
        <vt:i4>16</vt:i4>
      </vt:variant>
    </vt:vector>
  </ep:HeadingPairs>
  <ep:TitlesOfParts>
    <vt:vector size="17" baseType="lpstr">
      <vt:lpstr>Office Theme</vt:lpstr>
      <vt:lpstr>슬라이드 1</vt:lpstr>
      <vt:lpstr>슬라이드 2</vt:lpstr>
      <vt:lpstr>슬라이드 3</vt:lpstr>
      <vt:lpstr>슬라이드 4</vt:lpstr>
      <vt:lpstr>슬라이드 5</vt:lpstr>
      <vt:lpstr>슬라이드 6</vt:lpstr>
      <vt:lpstr>슬라이드 7</vt:lpstr>
      <vt:lpstr>슬라이드 8</vt:lpstr>
      <vt:lpstr>슬라이드 9</vt:lpstr>
      <vt:lpstr>슬라이드 10</vt:lpstr>
      <vt:lpstr>슬라이드 11</vt:lpstr>
      <vt:lpstr>슬라이드 12</vt:lpstr>
      <vt:lpstr>슬라이드 13</vt:lpstr>
      <vt:lpstr>슬라이드 14</vt:lpstr>
      <vt:lpstr>슬라이드 15</vt:lpstr>
      <vt:lpstr>슬라이드 16</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2006-08-16T00:00:00.000</dcterms:created>
  <cp:lastModifiedBy>akfrd</cp:lastModifiedBy>
  <dcterms:modified xsi:type="dcterms:W3CDTF">2026-09-28T06:13:38.949</dcterms:modified>
  <cp:revision>6</cp:revision>
  <dc:title>파란색 흰색 심플한 그라데이션 비즈니스 발표 프레젠테이션</dc:title>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